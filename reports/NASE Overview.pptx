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NASE – North America Submission Extraction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3794760" cy="347472"/>
          </a:xfrm>
          <a:prstGeom prst="roundRect">
            <a:avLst>
              <a:gd name="adj" fmla="val 21053"/>
            </a:avLst>
          </a:prstGeom>
          <a:solidFill>
            <a:srgbClr val="D9A521"/>
          </a:solidFill>
          <a:ln/>
        </p:spPr>
      </p:sp>
      <p:sp>
        <p:nvSpPr>
          <p:cNvPr id="4" name="Shape 2"/>
          <p:cNvSpPr/>
          <p:nvPr/>
        </p:nvSpPr>
        <p:spPr>
          <a:xfrm>
            <a:off x="438912" y="914400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8860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" y="960120"/>
            <a:ext cx="155448" cy="1554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86868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65760" y="1298448"/>
            <a:ext cx="3794760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  <a:prstDash val="dash"/>
          </a:ln>
        </p:spPr>
      </p:sp>
      <p:sp>
        <p:nvSpPr>
          <p:cNvPr id="8" name="Text 5"/>
          <p:cNvSpPr/>
          <p:nvPr/>
        </p:nvSpPr>
        <p:spPr>
          <a:xfrm>
            <a:off x="475488" y="1371600"/>
            <a:ext cx="357530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intake today is slow and manual, multiple teams re-key data from each submission, and SIC classification is only ~73–80% accurate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Costly re-routing and cycle times 2–3 weeks slower than competitors.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65760" y="2999232"/>
            <a:ext cx="3794760" cy="347472"/>
          </a:xfrm>
          <a:prstGeom prst="roundRect">
            <a:avLst>
              <a:gd name="adj" fmla="val 21053"/>
            </a:avLst>
          </a:prstGeom>
          <a:solidFill>
            <a:srgbClr val="D9A521"/>
          </a:solidFill>
          <a:ln/>
        </p:spPr>
      </p:sp>
      <p:sp>
        <p:nvSpPr>
          <p:cNvPr id="10" name="Shape 7"/>
          <p:cNvSpPr/>
          <p:nvPr/>
        </p:nvSpPr>
        <p:spPr>
          <a:xfrm>
            <a:off x="438912" y="3044952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8860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" y="3090672"/>
            <a:ext cx="155448" cy="1554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22960" y="299923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65760" y="3429000"/>
            <a:ext cx="379476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  <a:prstDash val="dash"/>
          </a:ln>
        </p:spPr>
      </p:sp>
      <p:sp>
        <p:nvSpPr>
          <p:cNvPr id="14" name="Text 10"/>
          <p:cNvSpPr/>
          <p:nvPr/>
        </p:nvSpPr>
        <p:spPr>
          <a:xfrm>
            <a:off x="475488" y="3502152"/>
            <a:ext cx="3575304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data extraction: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GenAI to pull key fields from submissions, eliminating manual re-keying.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risk classification: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correct SIC code more accurately than today's ~73–80%.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 intake: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cycle times to quote faster and win more business.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434840" y="868680"/>
            <a:ext cx="7360920" cy="347472"/>
          </a:xfrm>
          <a:prstGeom prst="roundRect">
            <a:avLst>
              <a:gd name="adj" fmla="val 21053"/>
            </a:avLst>
          </a:prstGeom>
          <a:solidFill>
            <a:srgbClr val="D9A521"/>
          </a:solidFill>
          <a:ln/>
        </p:spPr>
      </p:sp>
      <p:sp>
        <p:nvSpPr>
          <p:cNvPr id="16" name="Shape 12"/>
          <p:cNvSpPr/>
          <p:nvPr/>
        </p:nvSpPr>
        <p:spPr>
          <a:xfrm>
            <a:off x="4507992" y="914400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8860B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8284" y="960120"/>
            <a:ext cx="155448" cy="1554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892040" y="868680"/>
            <a:ext cx="6812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Level Workflow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4434840" y="1298448"/>
            <a:ext cx="736092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903720" y="1444752"/>
            <a:ext cx="2331720" cy="2697480"/>
          </a:xfrm>
          <a:prstGeom prst="rect">
            <a:avLst/>
          </a:prstGeom>
          <a:solidFill>
            <a:srgbClr val="F3F0D8"/>
          </a:solidFill>
          <a:ln w="9525">
            <a:solidFill>
              <a:srgbClr val="C9C48A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903720" y="14630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A7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LibertySEA Extraction Tasks</a:t>
            </a:r>
            <a:endParaRPr lang="en-US" sz="800" dirty="0"/>
          </a:p>
        </p:txBody>
      </p:sp>
      <p:sp>
        <p:nvSpPr>
          <p:cNvPr id="22" name="Shape 17"/>
          <p:cNvSpPr/>
          <p:nvPr/>
        </p:nvSpPr>
        <p:spPr>
          <a:xfrm>
            <a:off x="9372600" y="1444752"/>
            <a:ext cx="868680" cy="2697480"/>
          </a:xfrm>
          <a:prstGeom prst="rect">
            <a:avLst/>
          </a:prstGeom>
          <a:solidFill>
            <a:srgbClr val="FBEFE3"/>
          </a:solidFill>
          <a:ln w="9525">
            <a:solidFill>
              <a:srgbClr val="E0B98A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9372600" y="146304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8A5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 Filter &amp;</a:t>
            </a:r>
            <a:endParaRPr lang="en-US" sz="700" dirty="0"/>
          </a:p>
          <a:p>
            <a:pPr algn="ctr" indent="0" marL="0">
              <a:buNone/>
            </a:pPr>
            <a:r>
              <a:rPr lang="en-US" sz="700" i="1" dirty="0">
                <a:solidFill>
                  <a:srgbClr val="8A5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700" dirty="0"/>
          </a:p>
        </p:txBody>
      </p:sp>
      <p:sp>
        <p:nvSpPr>
          <p:cNvPr id="24" name="Shape 19"/>
          <p:cNvSpPr/>
          <p:nvPr/>
        </p:nvSpPr>
        <p:spPr>
          <a:xfrm>
            <a:off x="10378440" y="1444752"/>
            <a:ext cx="1325880" cy="2697480"/>
          </a:xfrm>
          <a:prstGeom prst="rect">
            <a:avLst/>
          </a:prstGeom>
          <a:solidFill>
            <a:srgbClr val="E6EEF7"/>
          </a:solidFill>
          <a:ln w="9525">
            <a:solidFill>
              <a:srgbClr val="9FBEDD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10378440" y="146304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3A5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PostProcessing</a:t>
            </a:r>
            <a:endParaRPr lang="en-US" sz="700" dirty="0"/>
          </a:p>
        </p:txBody>
      </p:sp>
      <p:sp>
        <p:nvSpPr>
          <p:cNvPr id="26" name="Shape 21"/>
          <p:cNvSpPr/>
          <p:nvPr/>
        </p:nvSpPr>
        <p:spPr>
          <a:xfrm>
            <a:off x="4572000" y="2468880"/>
            <a:ext cx="1234440" cy="777240"/>
          </a:xfrm>
          <a:prstGeom prst="roundRect">
            <a:avLst>
              <a:gd name="adj" fmla="val 4706"/>
            </a:avLst>
          </a:prstGeom>
          <a:solidFill>
            <a:srgbClr val="1B2A4A"/>
          </a:solidFill>
          <a:ln/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5152" y="2523744"/>
            <a:ext cx="128016" cy="12801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4809744" y="2505456"/>
            <a:ext cx="923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Inputs Documents</a:t>
            </a:r>
            <a:endParaRPr lang="en-US" sz="800" dirty="0"/>
          </a:p>
        </p:txBody>
      </p:sp>
      <p:sp>
        <p:nvSpPr>
          <p:cNvPr id="29" name="Text 23"/>
          <p:cNvSpPr/>
          <p:nvPr/>
        </p:nvSpPr>
        <p:spPr>
          <a:xfrm>
            <a:off x="4645152" y="2816352"/>
            <a:ext cx="10881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new submission documents for processing</a:t>
            </a:r>
            <a:endParaRPr lang="en-US" sz="650" dirty="0"/>
          </a:p>
        </p:txBody>
      </p:sp>
      <p:sp>
        <p:nvSpPr>
          <p:cNvPr id="30" name="Shape 24"/>
          <p:cNvSpPr/>
          <p:nvPr/>
        </p:nvSpPr>
        <p:spPr>
          <a:xfrm>
            <a:off x="5943600" y="2468880"/>
            <a:ext cx="822960" cy="777240"/>
          </a:xfrm>
          <a:prstGeom prst="roundRect">
            <a:avLst>
              <a:gd name="adj" fmla="val 4706"/>
            </a:avLst>
          </a:prstGeom>
          <a:solidFill>
            <a:srgbClr val="5B4B8A"/>
          </a:solidFill>
          <a:ln/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31" name="Text 25"/>
          <p:cNvSpPr/>
          <p:nvPr/>
        </p:nvSpPr>
        <p:spPr>
          <a:xfrm>
            <a:off x="6016752" y="2505456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</a:t>
            </a:r>
            <a:endParaRPr lang="en-US" sz="800" dirty="0"/>
          </a:p>
        </p:txBody>
      </p:sp>
      <p:sp>
        <p:nvSpPr>
          <p:cNvPr id="32" name="Text 26"/>
          <p:cNvSpPr/>
          <p:nvPr/>
        </p:nvSpPr>
        <p:spPr>
          <a:xfrm>
            <a:off x="6016752" y="2816352"/>
            <a:ext cx="6766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scanned/image documents into machine-readable text</a:t>
            </a:r>
            <a:endParaRPr lang="en-US" sz="650" dirty="0"/>
          </a:p>
        </p:txBody>
      </p:sp>
      <p:sp>
        <p:nvSpPr>
          <p:cNvPr id="33" name="Shape 27"/>
          <p:cNvSpPr/>
          <p:nvPr/>
        </p:nvSpPr>
        <p:spPr>
          <a:xfrm>
            <a:off x="6995160" y="2468880"/>
            <a:ext cx="1417320" cy="777240"/>
          </a:xfrm>
          <a:prstGeom prst="roundRect">
            <a:avLst>
              <a:gd name="adj" fmla="val 4706"/>
            </a:avLst>
          </a:prstGeom>
          <a:solidFill>
            <a:srgbClr val="2C8C87"/>
          </a:solidFill>
          <a:ln/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34" name="Text 28"/>
          <p:cNvSpPr/>
          <p:nvPr/>
        </p:nvSpPr>
        <p:spPr>
          <a:xfrm>
            <a:off x="7068312" y="2505456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Broker/Account Level Extraction</a:t>
            </a:r>
            <a:endParaRPr lang="en-US" sz="800" dirty="0"/>
          </a:p>
        </p:txBody>
      </p:sp>
      <p:sp>
        <p:nvSpPr>
          <p:cNvPr id="35" name="Text 29"/>
          <p:cNvSpPr/>
          <p:nvPr/>
        </p:nvSpPr>
        <p:spPr>
          <a:xfrm>
            <a:off x="7068312" y="2816352"/>
            <a:ext cx="12710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broker details, account info &amp; metadata</a:t>
            </a:r>
            <a:endParaRPr lang="en-US" sz="650" dirty="0"/>
          </a:p>
        </p:txBody>
      </p:sp>
      <p:sp>
        <p:nvSpPr>
          <p:cNvPr id="36" name="Shape 30"/>
          <p:cNvSpPr/>
          <p:nvPr/>
        </p:nvSpPr>
        <p:spPr>
          <a:xfrm>
            <a:off x="8549640" y="2468880"/>
            <a:ext cx="1234440" cy="777240"/>
          </a:xfrm>
          <a:prstGeom prst="roundRect">
            <a:avLst>
              <a:gd name="adj" fmla="val 4706"/>
            </a:avLst>
          </a:prstGeom>
          <a:solidFill>
            <a:srgbClr val="2C8C87"/>
          </a:solidFill>
          <a:ln/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37" name="Text 31"/>
          <p:cNvSpPr/>
          <p:nvPr/>
        </p:nvSpPr>
        <p:spPr>
          <a:xfrm>
            <a:off x="8622792" y="2505456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 Identification</a:t>
            </a:r>
            <a:endParaRPr lang="en-US" sz="800" dirty="0"/>
          </a:p>
        </p:txBody>
      </p:sp>
      <p:sp>
        <p:nvSpPr>
          <p:cNvPr id="38" name="Text 32"/>
          <p:cNvSpPr/>
          <p:nvPr/>
        </p:nvSpPr>
        <p:spPr>
          <a:xfrm>
            <a:off x="8622792" y="2816352"/>
            <a:ext cx="10881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Lines of Business from extracted content</a:t>
            </a:r>
            <a:endParaRPr lang="en-US" sz="650" dirty="0"/>
          </a:p>
        </p:txBody>
      </p:sp>
      <p:sp>
        <p:nvSpPr>
          <p:cNvPr id="39" name="Shape 33"/>
          <p:cNvSpPr/>
          <p:nvPr/>
        </p:nvSpPr>
        <p:spPr>
          <a:xfrm>
            <a:off x="5806440" y="2857500"/>
            <a:ext cx="137160" cy="0"/>
          </a:xfrm>
          <a:prstGeom prst="line">
            <a:avLst/>
          </a:prstGeom>
          <a:noFill/>
          <a:ln w="15875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40" name="Shape 34"/>
          <p:cNvSpPr/>
          <p:nvPr/>
        </p:nvSpPr>
        <p:spPr>
          <a:xfrm>
            <a:off x="6766560" y="2857500"/>
            <a:ext cx="228600" cy="0"/>
          </a:xfrm>
          <a:prstGeom prst="line">
            <a:avLst/>
          </a:prstGeom>
          <a:noFill/>
          <a:ln w="15875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41" name="Shape 35"/>
          <p:cNvSpPr/>
          <p:nvPr/>
        </p:nvSpPr>
        <p:spPr>
          <a:xfrm>
            <a:off x="8412480" y="2857500"/>
            <a:ext cx="137160" cy="0"/>
          </a:xfrm>
          <a:prstGeom prst="line">
            <a:avLst/>
          </a:prstGeom>
          <a:noFill/>
          <a:ln w="15875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42" name="Shape 36"/>
          <p:cNvSpPr/>
          <p:nvPr/>
        </p:nvSpPr>
        <p:spPr>
          <a:xfrm>
            <a:off x="9464040" y="1783080"/>
            <a:ext cx="685800" cy="530352"/>
          </a:xfrm>
          <a:prstGeom prst="roundRect">
            <a:avLst>
              <a:gd name="adj" fmla="val 6897"/>
            </a:avLst>
          </a:prstGeom>
          <a:solidFill>
            <a:srgbClr val="D9722C"/>
          </a:solidFill>
          <a:ln/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43" name="Text 37"/>
          <p:cNvSpPr/>
          <p:nvPr/>
        </p:nvSpPr>
        <p:spPr>
          <a:xfrm>
            <a:off x="9464040" y="1783080"/>
            <a:ext cx="685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</a:t>
            </a:r>
            <a:endParaRPr lang="en-US" sz="800" dirty="0"/>
          </a:p>
        </p:txBody>
      </p:sp>
      <p:sp>
        <p:nvSpPr>
          <p:cNvPr id="44" name="Shape 38"/>
          <p:cNvSpPr/>
          <p:nvPr/>
        </p:nvSpPr>
        <p:spPr>
          <a:xfrm>
            <a:off x="10469880" y="1783080"/>
            <a:ext cx="1143000" cy="530352"/>
          </a:xfrm>
          <a:prstGeom prst="roundRect">
            <a:avLst>
              <a:gd name="adj" fmla="val 6897"/>
            </a:avLst>
          </a:prstGeom>
          <a:solidFill>
            <a:srgbClr val="3A6EA5"/>
          </a:solidFill>
          <a:ln/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45" name="Text 39"/>
          <p:cNvSpPr/>
          <p:nvPr/>
        </p:nvSpPr>
        <p:spPr>
          <a:xfrm>
            <a:off x="10515600" y="1783080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 Post-Processing</a:t>
            </a:r>
            <a:endParaRPr lang="en-US" sz="750" dirty="0"/>
          </a:p>
        </p:txBody>
      </p:sp>
      <p:sp>
        <p:nvSpPr>
          <p:cNvPr id="46" name="Shape 40"/>
          <p:cNvSpPr/>
          <p:nvPr/>
        </p:nvSpPr>
        <p:spPr>
          <a:xfrm>
            <a:off x="9235440" y="2048256"/>
            <a:ext cx="228600" cy="0"/>
          </a:xfrm>
          <a:prstGeom prst="line">
            <a:avLst/>
          </a:prstGeom>
          <a:noFill/>
          <a:ln w="15875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47" name="Shape 41"/>
          <p:cNvSpPr/>
          <p:nvPr/>
        </p:nvSpPr>
        <p:spPr>
          <a:xfrm>
            <a:off x="10149840" y="2048256"/>
            <a:ext cx="320040" cy="0"/>
          </a:xfrm>
          <a:prstGeom prst="line">
            <a:avLst/>
          </a:prstGeom>
          <a:noFill/>
          <a:ln w="15875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48" name="Shape 42"/>
          <p:cNvSpPr/>
          <p:nvPr/>
        </p:nvSpPr>
        <p:spPr>
          <a:xfrm>
            <a:off x="9464040" y="2441448"/>
            <a:ext cx="685800" cy="530352"/>
          </a:xfrm>
          <a:prstGeom prst="roundRect">
            <a:avLst>
              <a:gd name="adj" fmla="val 6897"/>
            </a:avLst>
          </a:prstGeom>
          <a:solidFill>
            <a:srgbClr val="D9722C"/>
          </a:solidFill>
          <a:ln/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49" name="Text 43"/>
          <p:cNvSpPr/>
          <p:nvPr/>
        </p:nvSpPr>
        <p:spPr>
          <a:xfrm>
            <a:off x="9464040" y="2441448"/>
            <a:ext cx="685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</a:t>
            </a:r>
            <a:endParaRPr lang="en-US" sz="800" dirty="0"/>
          </a:p>
        </p:txBody>
      </p:sp>
      <p:sp>
        <p:nvSpPr>
          <p:cNvPr id="50" name="Shape 44"/>
          <p:cNvSpPr/>
          <p:nvPr/>
        </p:nvSpPr>
        <p:spPr>
          <a:xfrm>
            <a:off x="10469880" y="2441448"/>
            <a:ext cx="1143000" cy="530352"/>
          </a:xfrm>
          <a:prstGeom prst="roundRect">
            <a:avLst>
              <a:gd name="adj" fmla="val 6897"/>
            </a:avLst>
          </a:prstGeom>
          <a:solidFill>
            <a:srgbClr val="3A6EA5"/>
          </a:solidFill>
          <a:ln/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51" name="Text 45"/>
          <p:cNvSpPr/>
          <p:nvPr/>
        </p:nvSpPr>
        <p:spPr>
          <a:xfrm>
            <a:off x="10515600" y="2441448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Post-Processing</a:t>
            </a:r>
            <a:endParaRPr lang="en-US" sz="750" dirty="0"/>
          </a:p>
        </p:txBody>
      </p:sp>
      <p:sp>
        <p:nvSpPr>
          <p:cNvPr id="52" name="Shape 46"/>
          <p:cNvSpPr/>
          <p:nvPr/>
        </p:nvSpPr>
        <p:spPr>
          <a:xfrm>
            <a:off x="9235440" y="2706624"/>
            <a:ext cx="228600" cy="0"/>
          </a:xfrm>
          <a:prstGeom prst="line">
            <a:avLst/>
          </a:prstGeom>
          <a:noFill/>
          <a:ln w="15875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53" name="Shape 47"/>
          <p:cNvSpPr/>
          <p:nvPr/>
        </p:nvSpPr>
        <p:spPr>
          <a:xfrm>
            <a:off x="10149840" y="2706624"/>
            <a:ext cx="320040" cy="0"/>
          </a:xfrm>
          <a:prstGeom prst="line">
            <a:avLst/>
          </a:prstGeom>
          <a:noFill/>
          <a:ln w="15875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54" name="Shape 48"/>
          <p:cNvSpPr/>
          <p:nvPr/>
        </p:nvSpPr>
        <p:spPr>
          <a:xfrm>
            <a:off x="9464040" y="3099816"/>
            <a:ext cx="685800" cy="530352"/>
          </a:xfrm>
          <a:prstGeom prst="roundRect">
            <a:avLst>
              <a:gd name="adj" fmla="val 6897"/>
            </a:avLst>
          </a:prstGeom>
          <a:solidFill>
            <a:srgbClr val="D9722C"/>
          </a:solidFill>
          <a:ln/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55" name="Text 49"/>
          <p:cNvSpPr/>
          <p:nvPr/>
        </p:nvSpPr>
        <p:spPr>
          <a:xfrm>
            <a:off x="9464040" y="3099816"/>
            <a:ext cx="685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800" dirty="0"/>
          </a:p>
        </p:txBody>
      </p:sp>
      <p:sp>
        <p:nvSpPr>
          <p:cNvPr id="56" name="Shape 50"/>
          <p:cNvSpPr/>
          <p:nvPr/>
        </p:nvSpPr>
        <p:spPr>
          <a:xfrm>
            <a:off x="10469880" y="3099816"/>
            <a:ext cx="1143000" cy="530352"/>
          </a:xfrm>
          <a:prstGeom prst="roundRect">
            <a:avLst>
              <a:gd name="adj" fmla="val 6897"/>
            </a:avLst>
          </a:prstGeom>
          <a:solidFill>
            <a:srgbClr val="3A6EA5"/>
          </a:solidFill>
          <a:ln/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57" name="Text 51"/>
          <p:cNvSpPr/>
          <p:nvPr/>
        </p:nvSpPr>
        <p:spPr>
          <a:xfrm>
            <a:off x="10515600" y="3099816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Post-Processing</a:t>
            </a:r>
            <a:endParaRPr lang="en-US" sz="750" dirty="0"/>
          </a:p>
        </p:txBody>
      </p:sp>
      <p:sp>
        <p:nvSpPr>
          <p:cNvPr id="58" name="Shape 52"/>
          <p:cNvSpPr/>
          <p:nvPr/>
        </p:nvSpPr>
        <p:spPr>
          <a:xfrm>
            <a:off x="9235440" y="3364992"/>
            <a:ext cx="228600" cy="0"/>
          </a:xfrm>
          <a:prstGeom prst="line">
            <a:avLst/>
          </a:prstGeom>
          <a:noFill/>
          <a:ln w="15875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59" name="Shape 53"/>
          <p:cNvSpPr/>
          <p:nvPr/>
        </p:nvSpPr>
        <p:spPr>
          <a:xfrm>
            <a:off x="10149840" y="3364992"/>
            <a:ext cx="320040" cy="0"/>
          </a:xfrm>
          <a:prstGeom prst="line">
            <a:avLst/>
          </a:prstGeom>
          <a:noFill/>
          <a:ln w="15875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60" name="Shape 54"/>
          <p:cNvSpPr/>
          <p:nvPr/>
        </p:nvSpPr>
        <p:spPr>
          <a:xfrm>
            <a:off x="9464040" y="3758184"/>
            <a:ext cx="685800" cy="530352"/>
          </a:xfrm>
          <a:prstGeom prst="roundRect">
            <a:avLst>
              <a:gd name="adj" fmla="val 6897"/>
            </a:avLst>
          </a:prstGeom>
          <a:solidFill>
            <a:srgbClr val="D9722C"/>
          </a:solidFill>
          <a:ln/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61" name="Text 55"/>
          <p:cNvSpPr/>
          <p:nvPr/>
        </p:nvSpPr>
        <p:spPr>
          <a:xfrm>
            <a:off x="9464040" y="3758184"/>
            <a:ext cx="685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</a:t>
            </a:r>
            <a:endParaRPr lang="en-US" sz="800" dirty="0"/>
          </a:p>
        </p:txBody>
      </p:sp>
      <p:sp>
        <p:nvSpPr>
          <p:cNvPr id="62" name="Shape 56"/>
          <p:cNvSpPr/>
          <p:nvPr/>
        </p:nvSpPr>
        <p:spPr>
          <a:xfrm>
            <a:off x="10469880" y="3758184"/>
            <a:ext cx="1143000" cy="530352"/>
          </a:xfrm>
          <a:prstGeom prst="roundRect">
            <a:avLst>
              <a:gd name="adj" fmla="val 6897"/>
            </a:avLst>
          </a:prstGeom>
          <a:solidFill>
            <a:srgbClr val="3A6EA5"/>
          </a:solidFill>
          <a:ln/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63" name="Text 57"/>
          <p:cNvSpPr/>
          <p:nvPr/>
        </p:nvSpPr>
        <p:spPr>
          <a:xfrm>
            <a:off x="10515600" y="3758184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 Post-Processing</a:t>
            </a:r>
            <a:endParaRPr lang="en-US" sz="750" dirty="0"/>
          </a:p>
        </p:txBody>
      </p:sp>
      <p:sp>
        <p:nvSpPr>
          <p:cNvPr id="64" name="Shape 58"/>
          <p:cNvSpPr/>
          <p:nvPr/>
        </p:nvSpPr>
        <p:spPr>
          <a:xfrm>
            <a:off x="9235440" y="4023360"/>
            <a:ext cx="228600" cy="0"/>
          </a:xfrm>
          <a:prstGeom prst="line">
            <a:avLst/>
          </a:prstGeom>
          <a:noFill/>
          <a:ln w="15875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65" name="Shape 59"/>
          <p:cNvSpPr/>
          <p:nvPr/>
        </p:nvSpPr>
        <p:spPr>
          <a:xfrm>
            <a:off x="10149840" y="4023360"/>
            <a:ext cx="320040" cy="0"/>
          </a:xfrm>
          <a:prstGeom prst="line">
            <a:avLst/>
          </a:prstGeom>
          <a:noFill/>
          <a:ln w="15875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66" name="Shape 60"/>
          <p:cNvSpPr/>
          <p:nvPr/>
        </p:nvSpPr>
        <p:spPr>
          <a:xfrm>
            <a:off x="9052560" y="2857500"/>
            <a:ext cx="137160" cy="-544068"/>
          </a:xfrm>
          <a:prstGeom prst="line">
            <a:avLst/>
          </a:prstGeom>
          <a:noFill/>
          <a:ln w="15875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67" name="Shape 61"/>
          <p:cNvSpPr/>
          <p:nvPr/>
        </p:nvSpPr>
        <p:spPr>
          <a:xfrm>
            <a:off x="4434840" y="4498848"/>
            <a:ext cx="7360920" cy="329184"/>
          </a:xfrm>
          <a:prstGeom prst="roundRect">
            <a:avLst>
              <a:gd name="adj" fmla="val 22222"/>
            </a:avLst>
          </a:prstGeom>
          <a:solidFill>
            <a:srgbClr val="D9A521"/>
          </a:solidFill>
          <a:ln/>
        </p:spPr>
      </p:sp>
      <p:sp>
        <p:nvSpPr>
          <p:cNvPr id="68" name="Shape 62"/>
          <p:cNvSpPr/>
          <p:nvPr/>
        </p:nvSpPr>
        <p:spPr>
          <a:xfrm>
            <a:off x="4507992" y="4535424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8860B"/>
            </a:solidFill>
            <a:prstDash val="solid"/>
          </a:ln>
        </p:spPr>
      </p:sp>
      <p:pic>
        <p:nvPicPr>
          <p:cNvPr id="6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8284" y="4581144"/>
            <a:ext cx="155448" cy="155448"/>
          </a:xfrm>
          <a:prstGeom prst="rect">
            <a:avLst/>
          </a:prstGeom>
        </p:spPr>
      </p:pic>
      <p:sp>
        <p:nvSpPr>
          <p:cNvPr id="70" name="Text 63"/>
          <p:cNvSpPr/>
          <p:nvPr/>
        </p:nvSpPr>
        <p:spPr>
          <a:xfrm>
            <a:off x="4892040" y="4498848"/>
            <a:ext cx="6812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500" dirty="0"/>
          </a:p>
        </p:txBody>
      </p:sp>
      <p:sp>
        <p:nvSpPr>
          <p:cNvPr id="71" name="Shape 64"/>
          <p:cNvSpPr/>
          <p:nvPr/>
        </p:nvSpPr>
        <p:spPr>
          <a:xfrm>
            <a:off x="4434840" y="4919472"/>
            <a:ext cx="1737360" cy="566928"/>
          </a:xfrm>
          <a:prstGeom prst="roundRect">
            <a:avLst>
              <a:gd name="adj" fmla="val 9677"/>
            </a:avLst>
          </a:prstGeom>
          <a:solidFill>
            <a:srgbClr val="6FC3BD"/>
          </a:solidFill>
          <a:ln/>
        </p:spPr>
      </p:sp>
      <p:sp>
        <p:nvSpPr>
          <p:cNvPr id="72" name="Shape 65"/>
          <p:cNvSpPr/>
          <p:nvPr/>
        </p:nvSpPr>
        <p:spPr>
          <a:xfrm>
            <a:off x="4526280" y="5074920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C8C87"/>
            </a:solidFill>
            <a:prstDash val="solid"/>
          </a:ln>
        </p:spPr>
      </p:sp>
      <p:pic>
        <p:nvPicPr>
          <p:cNvPr id="7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6572" y="5120640"/>
            <a:ext cx="155448" cy="155448"/>
          </a:xfrm>
          <a:prstGeom prst="rect">
            <a:avLst/>
          </a:prstGeom>
        </p:spPr>
      </p:pic>
      <p:sp>
        <p:nvSpPr>
          <p:cNvPr id="74" name="Text 66"/>
          <p:cNvSpPr/>
          <p:nvPr/>
        </p:nvSpPr>
        <p:spPr>
          <a:xfrm>
            <a:off x="4873752" y="4919472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Email-native intake</a:t>
            </a:r>
            <a:endParaRPr lang="en-US" sz="950" dirty="0"/>
          </a:p>
        </p:txBody>
      </p:sp>
      <p:sp>
        <p:nvSpPr>
          <p:cNvPr id="75" name="Shape 67"/>
          <p:cNvSpPr/>
          <p:nvPr/>
        </p:nvSpPr>
        <p:spPr>
          <a:xfrm>
            <a:off x="6309360" y="4919472"/>
            <a:ext cx="1737360" cy="566928"/>
          </a:xfrm>
          <a:prstGeom prst="roundRect">
            <a:avLst>
              <a:gd name="adj" fmla="val 9677"/>
            </a:avLst>
          </a:prstGeom>
          <a:solidFill>
            <a:srgbClr val="6FC3BD"/>
          </a:solidFill>
          <a:ln/>
        </p:spPr>
      </p:sp>
      <p:sp>
        <p:nvSpPr>
          <p:cNvPr id="76" name="Shape 68"/>
          <p:cNvSpPr/>
          <p:nvPr/>
        </p:nvSpPr>
        <p:spPr>
          <a:xfrm>
            <a:off x="6400800" y="5074920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C8C87"/>
            </a:solidFill>
            <a:prstDash val="solid"/>
          </a:ln>
        </p:spPr>
      </p:sp>
      <p:pic>
        <p:nvPicPr>
          <p:cNvPr id="7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1092" y="5120640"/>
            <a:ext cx="155448" cy="155448"/>
          </a:xfrm>
          <a:prstGeom prst="rect">
            <a:avLst/>
          </a:prstGeom>
        </p:spPr>
      </p:pic>
      <p:sp>
        <p:nvSpPr>
          <p:cNvPr id="78" name="Text 69"/>
          <p:cNvSpPr/>
          <p:nvPr/>
        </p:nvSpPr>
        <p:spPr>
          <a:xfrm>
            <a:off x="6748272" y="4919472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Long-document handling</a:t>
            </a:r>
            <a:endParaRPr lang="en-US" sz="950" dirty="0"/>
          </a:p>
        </p:txBody>
      </p:sp>
      <p:sp>
        <p:nvSpPr>
          <p:cNvPr id="79" name="Shape 70"/>
          <p:cNvSpPr/>
          <p:nvPr/>
        </p:nvSpPr>
        <p:spPr>
          <a:xfrm>
            <a:off x="8183880" y="4919472"/>
            <a:ext cx="1737360" cy="566928"/>
          </a:xfrm>
          <a:prstGeom prst="roundRect">
            <a:avLst>
              <a:gd name="adj" fmla="val 9677"/>
            </a:avLst>
          </a:prstGeom>
          <a:solidFill>
            <a:srgbClr val="6FC3BD"/>
          </a:solidFill>
          <a:ln/>
        </p:spPr>
      </p:sp>
      <p:sp>
        <p:nvSpPr>
          <p:cNvPr id="80" name="Shape 71"/>
          <p:cNvSpPr/>
          <p:nvPr/>
        </p:nvSpPr>
        <p:spPr>
          <a:xfrm>
            <a:off x="8275320" y="5074920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C8C87"/>
            </a:solidFill>
            <a:prstDash val="solid"/>
          </a:ln>
        </p:spPr>
      </p:sp>
      <p:pic>
        <p:nvPicPr>
          <p:cNvPr id="8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5612" y="5120640"/>
            <a:ext cx="155448" cy="155448"/>
          </a:xfrm>
          <a:prstGeom prst="rect">
            <a:avLst/>
          </a:prstGeom>
        </p:spPr>
      </p:pic>
      <p:sp>
        <p:nvSpPr>
          <p:cNvPr id="82" name="Text 72"/>
          <p:cNvSpPr/>
          <p:nvPr/>
        </p:nvSpPr>
        <p:spPr>
          <a:xfrm>
            <a:off x="8622792" y="4919472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Schema-controlled output</a:t>
            </a:r>
            <a:endParaRPr lang="en-US" sz="950" dirty="0"/>
          </a:p>
        </p:txBody>
      </p:sp>
      <p:sp>
        <p:nvSpPr>
          <p:cNvPr id="83" name="Shape 73"/>
          <p:cNvSpPr/>
          <p:nvPr/>
        </p:nvSpPr>
        <p:spPr>
          <a:xfrm>
            <a:off x="10058400" y="4919472"/>
            <a:ext cx="1737360" cy="566928"/>
          </a:xfrm>
          <a:prstGeom prst="roundRect">
            <a:avLst>
              <a:gd name="adj" fmla="val 9677"/>
            </a:avLst>
          </a:prstGeom>
          <a:solidFill>
            <a:srgbClr val="6FC3BD"/>
          </a:solidFill>
          <a:ln/>
        </p:spPr>
      </p:sp>
      <p:sp>
        <p:nvSpPr>
          <p:cNvPr id="84" name="Shape 74"/>
          <p:cNvSpPr/>
          <p:nvPr/>
        </p:nvSpPr>
        <p:spPr>
          <a:xfrm>
            <a:off x="10149840" y="5074920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C8C87"/>
            </a:solidFill>
            <a:prstDash val="solid"/>
          </a:ln>
        </p:spPr>
      </p:sp>
      <p:pic>
        <p:nvPicPr>
          <p:cNvPr id="8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00132" y="5120640"/>
            <a:ext cx="155448" cy="155448"/>
          </a:xfrm>
          <a:prstGeom prst="rect">
            <a:avLst/>
          </a:prstGeom>
        </p:spPr>
      </p:pic>
      <p:sp>
        <p:nvSpPr>
          <p:cNvPr id="86" name="Text 75"/>
          <p:cNvSpPr/>
          <p:nvPr/>
        </p:nvSpPr>
        <p:spPr>
          <a:xfrm>
            <a:off x="10497312" y="4919472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LoB-specific post-processing</a:t>
            </a:r>
            <a:endParaRPr lang="en-US" sz="950" dirty="0"/>
          </a:p>
        </p:txBody>
      </p:sp>
      <p:sp>
        <p:nvSpPr>
          <p:cNvPr id="87" name="Shape 76"/>
          <p:cNvSpPr/>
          <p:nvPr/>
        </p:nvSpPr>
        <p:spPr>
          <a:xfrm>
            <a:off x="365760" y="5687568"/>
            <a:ext cx="8138160" cy="777240"/>
          </a:xfrm>
          <a:prstGeom prst="roundRect">
            <a:avLst>
              <a:gd name="adj" fmla="val 7059"/>
            </a:avLst>
          </a:prstGeom>
          <a:solidFill>
            <a:srgbClr val="D9A521"/>
          </a:solidFill>
          <a:ln/>
        </p:spPr>
      </p:sp>
      <p:sp>
        <p:nvSpPr>
          <p:cNvPr id="88" name="Shape 77"/>
          <p:cNvSpPr/>
          <p:nvPr/>
        </p:nvSpPr>
        <p:spPr>
          <a:xfrm>
            <a:off x="365760" y="5687568"/>
            <a:ext cx="384048" cy="77724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89" name="Text 78"/>
          <p:cNvSpPr/>
          <p:nvPr/>
        </p:nvSpPr>
        <p:spPr>
          <a:xfrm rot="16200000">
            <a:off x="365760" y="568756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000" dirty="0"/>
          </a:p>
        </p:txBody>
      </p:sp>
      <p:sp>
        <p:nvSpPr>
          <p:cNvPr id="90" name="Shape 79"/>
          <p:cNvSpPr/>
          <p:nvPr/>
        </p:nvSpPr>
        <p:spPr>
          <a:xfrm>
            <a:off x="877824" y="5902452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0976" y="5975604"/>
            <a:ext cx="201168" cy="201168"/>
          </a:xfrm>
          <a:prstGeom prst="rect">
            <a:avLst/>
          </a:prstGeom>
        </p:spPr>
      </p:pic>
      <p:sp>
        <p:nvSpPr>
          <p:cNvPr id="92" name="Text 80"/>
          <p:cNvSpPr/>
          <p:nvPr/>
        </p:nvSpPr>
        <p:spPr>
          <a:xfrm>
            <a:off x="1280160" y="5687568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Quotes</a:t>
            </a:r>
            <a:endParaRPr lang="en-US" sz="1000" dirty="0"/>
          </a:p>
        </p:txBody>
      </p:sp>
      <p:sp>
        <p:nvSpPr>
          <p:cNvPr id="93" name="Shape 81"/>
          <p:cNvSpPr/>
          <p:nvPr/>
        </p:nvSpPr>
        <p:spPr>
          <a:xfrm>
            <a:off x="2816352" y="5902452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89504" y="5975604"/>
            <a:ext cx="201168" cy="201168"/>
          </a:xfrm>
          <a:prstGeom prst="rect">
            <a:avLst/>
          </a:prstGeom>
        </p:spPr>
      </p:pic>
      <p:sp>
        <p:nvSpPr>
          <p:cNvPr id="95" name="Text 82"/>
          <p:cNvSpPr/>
          <p:nvPr/>
        </p:nvSpPr>
        <p:spPr>
          <a:xfrm>
            <a:off x="3218688" y="5687568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UW Capacity</a:t>
            </a:r>
            <a:endParaRPr lang="en-US" sz="1000" dirty="0"/>
          </a:p>
        </p:txBody>
      </p:sp>
      <p:sp>
        <p:nvSpPr>
          <p:cNvPr id="96" name="Shape 83"/>
          <p:cNvSpPr/>
          <p:nvPr/>
        </p:nvSpPr>
        <p:spPr>
          <a:xfrm>
            <a:off x="4754880" y="5902452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28032" y="5975604"/>
            <a:ext cx="201168" cy="201168"/>
          </a:xfrm>
          <a:prstGeom prst="rect">
            <a:avLst/>
          </a:prstGeom>
        </p:spPr>
      </p:pic>
      <p:sp>
        <p:nvSpPr>
          <p:cNvPr id="98" name="Text 84"/>
          <p:cNvSpPr/>
          <p:nvPr/>
        </p:nvSpPr>
        <p:spPr>
          <a:xfrm>
            <a:off x="5157216" y="5687568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&amp; Auditable</a:t>
            </a:r>
            <a:endParaRPr lang="en-US" sz="1000" dirty="0"/>
          </a:p>
        </p:txBody>
      </p:sp>
      <p:sp>
        <p:nvSpPr>
          <p:cNvPr id="99" name="Shape 85"/>
          <p:cNvSpPr/>
          <p:nvPr/>
        </p:nvSpPr>
        <p:spPr>
          <a:xfrm>
            <a:off x="6693408" y="5902452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66560" y="5975604"/>
            <a:ext cx="201168" cy="201168"/>
          </a:xfrm>
          <a:prstGeom prst="rect">
            <a:avLst/>
          </a:prstGeom>
        </p:spPr>
      </p:pic>
      <p:sp>
        <p:nvSpPr>
          <p:cNvPr id="101" name="Text 86"/>
          <p:cNvSpPr/>
          <p:nvPr/>
        </p:nvSpPr>
        <p:spPr>
          <a:xfrm>
            <a:off x="7095744" y="5687568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SIC Routing</a:t>
            </a:r>
            <a:endParaRPr lang="en-US" sz="1000" dirty="0"/>
          </a:p>
        </p:txBody>
      </p:sp>
      <p:sp>
        <p:nvSpPr>
          <p:cNvPr id="102" name="Shape 87"/>
          <p:cNvSpPr/>
          <p:nvPr/>
        </p:nvSpPr>
        <p:spPr>
          <a:xfrm>
            <a:off x="8641080" y="5687568"/>
            <a:ext cx="3154680" cy="777240"/>
          </a:xfrm>
          <a:prstGeom prst="roundRect">
            <a:avLst>
              <a:gd name="adj" fmla="val 7059"/>
            </a:avLst>
          </a:prstGeom>
          <a:solidFill>
            <a:srgbClr val="D9A521"/>
          </a:solidFill>
          <a:ln/>
        </p:spPr>
      </p:sp>
      <p:sp>
        <p:nvSpPr>
          <p:cNvPr id="103" name="Shape 88"/>
          <p:cNvSpPr/>
          <p:nvPr/>
        </p:nvSpPr>
        <p:spPr>
          <a:xfrm>
            <a:off x="8750808" y="5929884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8860B"/>
            </a:solidFill>
            <a:prstDash val="solid"/>
          </a:ln>
        </p:spPr>
      </p:sp>
      <p:pic>
        <p:nvPicPr>
          <p:cNvPr id="104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801100" y="5975604"/>
            <a:ext cx="173736" cy="173736"/>
          </a:xfrm>
          <a:prstGeom prst="rect">
            <a:avLst/>
          </a:prstGeom>
        </p:spPr>
      </p:pic>
      <p:sp>
        <p:nvSpPr>
          <p:cNvPr id="105" name="Text 89"/>
          <p:cNvSpPr/>
          <p:nvPr/>
        </p:nvSpPr>
        <p:spPr>
          <a:xfrm>
            <a:off x="9098280" y="574243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1000" dirty="0"/>
          </a:p>
        </p:txBody>
      </p:sp>
      <p:sp>
        <p:nvSpPr>
          <p:cNvPr id="106" name="Text 90"/>
          <p:cNvSpPr/>
          <p:nvPr/>
        </p:nvSpPr>
        <p:spPr>
          <a:xfrm>
            <a:off x="8778240" y="6071616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  ·   LibertySEA 1.0   ·   mlflow</a:t>
            </a:r>
            <a:endParaRPr lang="en-US" sz="1050" dirty="0"/>
          </a:p>
        </p:txBody>
      </p:sp>
      <p:sp>
        <p:nvSpPr>
          <p:cNvPr id="107" name="Shape 91"/>
          <p:cNvSpPr/>
          <p:nvPr/>
        </p:nvSpPr>
        <p:spPr>
          <a:xfrm>
            <a:off x="365760" y="6583680"/>
            <a:ext cx="114300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108" name="Text 92"/>
          <p:cNvSpPr/>
          <p:nvPr/>
        </p:nvSpPr>
        <p:spPr>
          <a:xfrm>
            <a:off x="365760" y="66294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GRS MAP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NASE - North America Submission Extraction</dc:title>
  <dc:subject>PptxGenJS Presentation</dc:subject>
  <dc:creator>Shivam</dc:creator>
  <cp:lastModifiedBy>Shivam</cp:lastModifiedBy>
  <cp:revision>1</cp:revision>
  <dcterms:created xsi:type="dcterms:W3CDTF">2026-07-09T11:20:08Z</dcterms:created>
  <dcterms:modified xsi:type="dcterms:W3CDTF">2026-07-09T11:20:08Z</dcterms:modified>
</cp:coreProperties>
</file>