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4C88D-6BB0-2759-0390-525DA5E28970}" v="2" dt="2026-06-02T09:31:09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201E-5EA6-4547-BF3E-AAE0EAF6451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0A876-4D0F-4D03-AEDA-1B7834966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02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1ADC-3EDA-3A63-4BF5-A63E5633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0C16C-C11E-4677-4B23-74F059D4A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67E78-92D1-F5A8-8E60-4D32A3039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D19C-4A01-CDEB-A5D9-CB006DBE5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910589-B2B2-440E-9897-C691C2E962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287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4A26-3AED-C95B-9B3C-A4CB747C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69D90-65A0-C3EB-24A0-601C89E24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A590B-ABE6-8BFA-1129-036D2651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EC77-207C-7C89-DA03-8B0056BCA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918A97-07F9-4205-AA35-7614B30982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03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10.emf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10.emf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0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35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9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14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C8204-E1B9-D292-AF9D-142335AE3A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E87EA-8BC8-72A0-A153-6D18088D2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3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193E6-A394-EF7B-792D-F23A3D07C3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9574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1006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3466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2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070A9-C7B4-3DB3-26B1-F92ED006F3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22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9E329-296D-6A99-3F8C-2FDE508E47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43C2FB-5EEE-2240-8A26-C5ABDD84143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A23FA-EF35-B9B5-3AF9-35073817093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6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CCE2B-1CD6-065C-8905-E7F5262314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57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8396-C5CA-4CF3-B203-038270288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67C03A-E5CD-66A0-6941-527E6D1EEA0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96C14-6F5A-6B6A-378A-C4721111497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909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1CE9-BC68-A3C9-4D5F-8671F9DCD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8DA53-E35D-6131-235E-0F5E0393B97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4F559-0B4B-54B1-E1DB-B32C06831E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034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84C886-D755-9DB4-0360-BAED5CE72C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2BC001-2D7C-3E53-A83F-0722A47032A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A3033-A845-01C8-586D-A53CC595626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3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9B86CF-616E-31CF-6A9A-30F45571CB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ED093F-12B6-4EF7-D843-C9CDED408F5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70448-1E0E-D035-00ED-D14F04DCC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357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A3096-702C-9E91-739B-4DCF8483C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64CF20-8F42-F3CD-DAC8-80850C62257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7BCF-9B37-4DBB-AF4E-D6535D7B8FE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227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DC00D-1E43-0312-EDC8-E4B788EDA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63F164-A97E-B6EF-7F42-E63CD723B82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2D77A-1CB7-1B12-D901-AB51D7FF8BD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96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103F-479B-054D-DB04-C2685DE57A3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8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7EDFA-DA6B-652B-79E2-25C6D164A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3FA9A-467C-06E7-75CE-ABCE5BE1F96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1A316-466D-16EC-3FED-CAE7B6BFB9C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047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46DD4-1821-4F27-EC78-97E8F20EAC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2ED51-6D6F-6F2E-D1A9-10F6EECCD9B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1A464-063E-6DC5-182F-9D84FF3ED99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19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53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6F612-834F-0033-0632-996960ABE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ABD392-A258-E28D-FE2C-E4B5D5EC1D0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B5F90-574C-3CE2-1645-538B70DE762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96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08E1F-6D69-ADD9-3737-31EAB3225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6B6C9-4882-C94E-B27E-7ECCE534B07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F70F9-1760-B32D-6AA4-A8377F72579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107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15FF7-EA1E-B90B-6531-202C8B5F1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6A057-A111-391A-D3AB-839E36D3582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716AD-FF40-4A5F-D157-8257B57991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78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44B2AE-0564-DB21-9465-4332C7AFCF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93B73-45E9-E156-2E03-42A897B8A20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DAAB2-7526-93E5-0A53-08664D6557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19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7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95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2FC83-F643-567F-2A40-A4FA8AD17A5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63AEE-3EDA-9A11-A974-F42AFAC438D5}"/>
              </a:ext>
            </a:extLst>
          </p:cNvPr>
          <p:cNvSpPr/>
          <p:nvPr userDrawn="1"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A110C-2B8D-B7B7-D362-00E72CD0F0E5}"/>
              </a:ext>
            </a:extLst>
          </p:cNvPr>
          <p:cNvSpPr txBox="1"/>
          <p:nvPr userDrawn="1"/>
        </p:nvSpPr>
        <p:spPr>
          <a:xfrm>
            <a:off x="8955344" y="442603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714644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35FD4-57EE-3AB3-4D98-83AF29975F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75BDF-2388-9DE1-3F42-B48B38FFCD6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63285-0231-72F4-E7DC-84D126B3449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639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8814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2FC83-F643-567F-2A40-A4FA8AD17A5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604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200" y="505975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457200" y="245446"/>
            <a:ext cx="5638800" cy="19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None/>
              <a:defRPr sz="1400" b="1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439B6-48AC-8DA6-F195-128A00C9FA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B9084-5583-BC9F-CB0A-100A1FF8BA5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E40AD-AE01-1718-7636-D27B7C1F8AF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4188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617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657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97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28FDC7-555E-42D9-AA02-C5A528DCE45D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351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299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5420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1976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EAD68-DC35-664E-485F-64B439C0A1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702B77-8865-A65C-5D95-4FECC897835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202CB-D37B-738E-C2F5-8D23CBEEC62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61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392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34894E-B79F-463F-BA97-84C5F3367B2E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53703C-A54A-44E3-8138-DA5F3806C0E6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0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DDE3374-4C1D-4C8C-9978-1027302718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8513" y="6338888"/>
            <a:ext cx="990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DD0C310-E6AF-41A9-A29B-01B77E320318}"/>
              </a:ext>
            </a:extLst>
          </p:cNvPr>
          <p:cNvSpPr txBox="1">
            <a:spLocks/>
          </p:cNvSpPr>
          <p:nvPr userDrawn="1"/>
        </p:nvSpPr>
        <p:spPr>
          <a:xfrm>
            <a:off x="10477500" y="6600825"/>
            <a:ext cx="481013" cy="182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fld id="{D6E04D1F-E8CB-471D-8233-AE96C1C88568}" type="slidenum">
              <a:rPr lang="en-US" altLang="en-US" sz="800" smtClean="0">
                <a:solidFill>
                  <a:schemeClr val="tx2"/>
                </a:solidFill>
              </a:rPr>
              <a:pPr eaLnBrk="1" hangingPunct="1">
                <a:defRPr/>
              </a:pPr>
              <a:t>‹#›</a:t>
            </a:fld>
            <a:endParaRPr lang="en-US" altLang="en-US" sz="800">
              <a:solidFill>
                <a:schemeClr val="tx2"/>
              </a:solidFill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BDE76D2-D4EF-4CB6-90BD-83F79EF5026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0825"/>
            <a:ext cx="6376988" cy="182563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©2022 ExlService Holdings, Inc.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821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9E329-296D-6A99-3F8C-2FDE508E47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2A23FA-EF35-B9B5-3AF9-35073817093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45EFE-018C-9E51-4C56-6C52D0778F4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65187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8396-C5CA-4CF3-B203-038270288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596C14-6F5A-6B6A-378A-C4721111497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336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1CE9-BC68-A3C9-4D5F-8671F9DCD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04F559-0B4B-54B1-E1DB-B32C06831E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56726-FF06-7127-B5B0-3F4F8D74E21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7316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84C886-D755-9DB4-0360-BAED5CE72C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A3033-A845-01C8-586D-A53CC595626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C5503-A1DC-4C6E-3261-EB49A1839AA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3154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9B86CF-616E-31CF-6A9A-30F45571CB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870448-1E0E-D035-00ED-D14F04DCC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FF82C-CD67-CDED-B48C-A442744DF4A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50197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A3096-702C-9E91-739B-4DCF8483C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F87BCF-9B37-4DBB-AF4E-D6535D7B8FE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28AAF-C36B-945E-C8B9-3F831ECF3C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97741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DC00D-1E43-0312-EDC8-E4B788EDA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12D77A-1CB7-1B12-D901-AB51D7FF8BD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25DE5-0B9D-0AD6-E126-8FE395A44D4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67806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564F6-94B2-2041-65C5-8412919A3AE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6529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7EDFA-DA6B-652B-79E2-25C6D164A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61A316-466D-16EC-3FED-CAE7B6BFB9C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E7538-3C8F-94AB-1C1C-910F8A75AD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5222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46DD4-1821-4F27-EC78-97E8F20EAC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71A464-063E-6DC5-182F-9D84FF3ED99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2E281-DEA0-7205-2608-4642C5B5D8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048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647CA-4FF9-338C-EAAB-43EB5B5F49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6311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6F612-834F-0033-0632-996960ABE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0B5F90-574C-3CE2-1645-538B70DE762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B122E-D89C-411F-B14B-7D70D2CD0E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93590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08E1F-6D69-ADD9-3737-31EAB3225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8F70F9-1760-B32D-6AA4-A8377F72579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98465-2A12-623A-2438-AC81EF4FA3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1464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15FF7-EA1E-B90B-6531-202C8B5F1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C716AD-FF40-4A5F-D157-8257B57991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36078-3A2B-49FB-94B7-DF1378252A3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79773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44B2AE-0564-DB21-9465-4332C7AFCF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3DAAB2-7526-93E5-0A53-08664D6557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FC07C-95E2-7900-8E4C-8458919EFB3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70127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96E62-F000-28AB-6D89-C5DC38DA93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40D85D-1343-274C-1A78-44460C72773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06EC4-66E3-93E0-DF3A-BE126C9D6D3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74257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8814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52743-AF78-4B3A-BCF9-54B7B8AEB29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185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200" y="505975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457200" y="245446"/>
            <a:ext cx="5638800" cy="19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None/>
              <a:defRPr sz="1400" b="1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439B6-48AC-8DA6-F195-128A00C9FA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CE40AD-AE01-1718-7636-D27B7C1F8AF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A743C-543F-1E21-8842-44CD1EFF15A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310474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657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88618-B509-9509-5A15-1470C182C8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70951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17B2E-160A-DAA8-3421-E74A69D1FC4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59873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C2BEA-CB3D-B826-FF7C-6CCD9A296F4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15484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EAD68-DC35-664E-485F-64B439C0A1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202CB-D37B-738E-C2F5-8D23CBEEC62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3D16D-7246-CC46-B22A-1F3706EC2B1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1981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53703C-A54A-44E3-8138-DA5F3806C0E6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C10AB-D1A4-A656-D632-DD0DBBB7D80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8841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DDE3374-4C1D-4C8C-9978-1027302718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8513" y="6338888"/>
            <a:ext cx="990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DD0C310-E6AF-41A9-A29B-01B77E320318}"/>
              </a:ext>
            </a:extLst>
          </p:cNvPr>
          <p:cNvSpPr txBox="1">
            <a:spLocks/>
          </p:cNvSpPr>
          <p:nvPr userDrawn="1"/>
        </p:nvSpPr>
        <p:spPr>
          <a:xfrm>
            <a:off x="10477500" y="6600825"/>
            <a:ext cx="481013" cy="182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fld id="{D6E04D1F-E8CB-471D-8233-AE96C1C88568}" type="slidenum">
              <a:rPr lang="en-US" altLang="en-US" sz="800" smtClean="0">
                <a:solidFill>
                  <a:srgbClr val="FB4D0A"/>
                </a:solidFill>
              </a:rPr>
              <a:pPr eaLnBrk="1" hangingPunct="1">
                <a:defRPr/>
              </a:pPr>
              <a:t>‹#›</a:t>
            </a:fld>
            <a:endParaRPr lang="en-US" altLang="en-US" sz="800">
              <a:solidFill>
                <a:srgbClr val="FB4D0A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4F592-194B-79FF-B305-03E03D2BFB6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76848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950E6-118F-7843-C785-4BFBEA691D3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58461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6863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0DE81-50E0-7323-F64C-F19E1AE74B5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942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E85F-E8C2-3E84-6D1D-EA7AC9E5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E1AB-8B35-D85E-0EAC-08C2FB8F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C149-48B2-4C15-AAFC-8A0E8156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118C-3B8C-4428-A5B2-0BB8D75E216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7FFD6-E116-EB55-DC5E-3635C4C0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3586C-00E0-B6F2-E1B1-377873C09F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E11DE-AF7C-C265-3FDB-F718EDF0231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9C114-B972-1DBF-BE17-78A44845EF9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1079329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E57E71-FC35-A359-DCB4-2209C48C0A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F59734-B786-14AD-C8D3-74C97F9BD51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A464D-7EFA-BDDB-D50D-4721AAED4BA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1638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C8D123-F9E6-ABAF-5D35-2CB8AABB23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4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42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63AEE-3EDA-9A11-A974-F42AFAC438D5}"/>
              </a:ext>
            </a:extLst>
          </p:cNvPr>
          <p:cNvSpPr/>
          <p:nvPr userDrawn="1"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A110C-2B8D-B7B7-D362-00E72CD0F0E5}"/>
              </a:ext>
            </a:extLst>
          </p:cNvPr>
          <p:cNvSpPr txBox="1"/>
          <p:nvPr userDrawn="1"/>
        </p:nvSpPr>
        <p:spPr>
          <a:xfrm>
            <a:off x="8955344" y="442603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228FD-3015-6740-C210-3FA904BCCA6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549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8396-C5CA-4CF3-B203-038270288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596C14-6F5A-6B6A-378A-C4721111497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B9F95-7529-BC5E-BCB9-DD8182EED35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8063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08C78-6E77-B527-63EE-66FBBD491F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06438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4F586-DBF5-C05F-DD0B-788250BF4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821EBB-B59D-987F-11EE-72FCF64199F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63929-CE61-C411-15A0-892041488B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7412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B2131-EC0B-BFFE-5DF7-188838502C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10206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5AB5B-BCB9-885F-95FB-35F15E1F6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AF937-CE1D-E084-F3EC-E7CE4BBDA44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81211-608E-7723-0608-BC424C40963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5169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F209D-200F-0AD1-3BD8-F1D06DC86A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9E13F-DCE0-BEFA-B467-2BFD3B0A836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0D78E-A3F7-CB79-5AD7-2F2B7B576B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9067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35FD4-57EE-3AB3-4D98-83AF29975F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F63285-0231-72F4-E7DC-84D126B3449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30F60-3D81-4E88-9204-740A11EAED9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354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9A700-FE7F-0315-3B4B-7D506D755C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98BC6B-CA01-EE14-EAB7-07F92965CBD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5333C-38D0-E63C-1403-30735DE217F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0216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108AD-861E-721B-C262-417E51829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73BF01-BAF6-A688-A82E-AB472E09F52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0DD0A-D3D2-7B08-4878-A4F94122AB1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0688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10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6CA65-3C70-8B91-5480-A70E2A565C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8D754D-3096-53D7-DD51-4DF141B6F0E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9D117-FCFA-7989-EFD6-C9AC7995712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98420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B4542A9-8C6D-F947-BE86-4FC754823A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5637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4542A9-8C6D-F947-BE86-4FC754823A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520BE-DD1E-5356-5E74-4D607FC86C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662F0B-B981-EE51-2798-8030B579A86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C055A-BC5D-4504-77B3-5DD7D8D1DA1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04767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200" y="505975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457200" y="245446"/>
            <a:ext cx="5638800" cy="19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None/>
              <a:defRPr sz="1400" b="1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439B6-48AC-8DA6-F195-128A00C9FA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CE40AD-AE01-1718-7636-D27B7C1F8AF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3EC8B-BD90-7CFF-CDE4-73370761314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47961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6B70D-B340-B997-12A6-4B537DC8843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471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3FC1B-1F72-117C-C9A8-D7D018F28B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93999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1co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361F0B8B-F383-5648-840E-3CFCED05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950976"/>
            <a:ext cx="11247120" cy="365760"/>
          </a:xfrm>
        </p:spPr>
        <p:txBody>
          <a:bodyPr tIns="0" rIns="0"/>
          <a:lstStyle>
            <a:lvl1pPr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1"/>
                </a:solidFill>
              </a:defRPr>
            </a:lvl1pPr>
            <a:lvl2pPr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buFontTx/>
              <a:buNone/>
              <a:defRPr sz="2000">
                <a:solidFill>
                  <a:schemeClr val="tx1"/>
                </a:solidFill>
              </a:defRPr>
            </a:lvl3pPr>
            <a:lvl4pPr marL="0" indent="0">
              <a:buFontTx/>
              <a:buNone/>
              <a:defRPr sz="2000">
                <a:solidFill>
                  <a:schemeClr val="tx1"/>
                </a:solidFill>
              </a:defRPr>
            </a:lvl4pPr>
            <a:lvl5pPr marL="0" indent="0">
              <a:buFontTx/>
              <a:buNone/>
              <a:defRPr sz="2000">
                <a:solidFill>
                  <a:schemeClr val="tx1"/>
                </a:solidFill>
              </a:defRPr>
            </a:lvl5pPr>
            <a:lvl6pPr marL="0" indent="0">
              <a:buFontTx/>
              <a:buNone/>
              <a:defRPr sz="2000">
                <a:solidFill>
                  <a:schemeClr val="tx1"/>
                </a:solidFill>
              </a:defRPr>
            </a:lvl6pPr>
            <a:lvl7pPr marL="0" indent="0">
              <a:buFontTx/>
              <a:buNone/>
              <a:defRPr sz="2000">
                <a:solidFill>
                  <a:schemeClr val="tx1"/>
                </a:solidFill>
              </a:defRPr>
            </a:lvl7pPr>
            <a:lvl8pPr marL="0" indent="0">
              <a:buFontTx/>
              <a:buNone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0B919C9-B9AD-524C-B36A-104779C3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247120" cy="457200"/>
          </a:xfrm>
        </p:spPr>
        <p:txBody>
          <a:bodyPr rIns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43B3-7271-2743-8B55-2D3661E53CB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57199" y="1645920"/>
            <a:ext cx="11247120" cy="4179888"/>
          </a:xfrm>
        </p:spPr>
        <p:txBody>
          <a:bodyPr tIns="0" rIns="2286000"/>
          <a:lstStyle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AB82C-02A6-4BF6-A7CB-5678352BA9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4CCEDA-2B3B-4233-A99F-9325BFF89AEC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3C157-3A0F-D61E-7AEE-916980A7803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5432803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D9EDB-FD04-A1FF-1D47-91744CE8340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©2025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4236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9E329-296D-6A99-3F8C-2FDE508E47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43C2FB-5EEE-2240-8A26-C5ABDD84143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A23FA-EF35-B9B5-3AF9-35073817093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62738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8396-C5CA-4CF3-B203-038270288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596C14-6F5A-6B6A-378A-C4721111497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00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1CE9-BC68-A3C9-4D5F-8671F9DCD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8DA53-E35D-6131-235E-0F5E0393B97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4F559-0B4B-54B1-E1DB-B32C06831E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267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84C886-D755-9DB4-0360-BAED5CE72C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2BC001-2D7C-3E53-A83F-0722A47032A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A3033-A845-01C8-586D-A53CC595626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9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9B86CF-616E-31CF-6A9A-30F45571CB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ED093F-12B6-4EF7-D843-C9CDED408F5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70448-1E0E-D035-00ED-D14F04DCC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951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A3096-702C-9E91-739B-4DCF8483C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64CF20-8F42-F3CD-DAC8-80850C62257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7BCF-9B37-4DBB-AF4E-D6535D7B8FE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51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DC00D-1E43-0312-EDC8-E4B788EDA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63F164-A97E-B6EF-7F42-E63CD723B82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2D77A-1CB7-1B12-D901-AB51D7FF8BD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396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103F-479B-054D-DB04-C2685DE57A3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15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7EDFA-DA6B-652B-79E2-25C6D164A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3FA9A-467C-06E7-75CE-ABCE5BE1F96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1A316-466D-16EC-3FED-CAE7B6BFB9C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707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46DD4-1821-4F27-EC78-97E8F20EAC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2ED51-6D6F-6F2E-D1A9-10F6EECCD9B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1A464-063E-6DC5-182F-9D84FF3ED99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53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6F612-834F-0033-0632-996960ABE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ABD392-A258-E28D-FE2C-E4B5D5EC1D0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B5F90-574C-3CE2-1645-538B70DE762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608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08E1F-6D69-ADD9-3737-31EAB3225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6B6C9-4882-C94E-B27E-7ECCE534B07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F70F9-1760-B32D-6AA4-A8377F72579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434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15FF7-EA1E-B90B-6531-202C8B5F1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6A057-A111-391A-D3AB-839E36D3582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716AD-FF40-4A5F-D157-8257B57991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07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44B2AE-0564-DB21-9465-4332C7AFCF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93B73-45E9-E156-2E03-42A897B8A20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DAAB2-7526-93E5-0A53-08664D6557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74035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8814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2FC83-F643-567F-2A40-A4FA8AD17A5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75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200" y="505975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457200" y="245446"/>
            <a:ext cx="5638800" cy="19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None/>
              <a:defRPr sz="1400" b="1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439B6-48AC-8DA6-F195-128A00C9FA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B9084-5583-BC9F-CB0A-100A1FF8BA5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E40AD-AE01-1718-7636-D27B7C1F8AF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3248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657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002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28FDC7-555E-42D9-AA02-C5A528DCE45D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822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8969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EAD68-DC35-664E-485F-64B439C0A1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702B77-8865-A65C-5D95-4FECC897835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202CB-D37B-738E-C2F5-8D23CBEEC62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00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34894E-B79F-463F-BA97-84C5F3367B2E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53703C-A54A-44E3-8138-DA5F3806C0E6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47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F209D-200F-0AD1-3BD8-F1D06DC86A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64CCD1-DDCE-6069-3440-EAAEE8420D0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9E13F-DCE0-BEFA-B467-2BFD3B0A836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585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35FD4-57EE-3AB3-4D98-83AF29975F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75BDF-2388-9DE1-3F42-B48B38FFCD6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63285-0231-72F4-E7DC-84D126B3449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68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784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6863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103F-479B-054D-DB04-C2685DE57A3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27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E85F-E8C2-3E84-6D1D-EA7AC9E5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E1AB-8B35-D85E-0EAC-08C2FB8F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C149-48B2-4C15-AAFC-8A0E8156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118C-3B8C-4428-A5B2-0BB8D75E216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7FFD6-E116-EB55-DC5E-3635C4C0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3586C-00E0-B6F2-E1B1-377873C09F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10A975-1EF8-0C56-54A4-95CD108071C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7E11DE-AF7C-C265-3FDB-F718EDF0231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5663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8017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6863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103F-479B-054D-DB04-C2685DE57A3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918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E57E71-FC35-A359-DCB4-2209C48C0A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5BFAA2-ACEC-FC0B-FE92-B51C66F1DAC3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59734-B786-14AD-C8D3-74C97F9BD51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25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69BAF-819B-BD20-F8EB-D9AF368E63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A96AB-37D1-5C72-AB9A-04EEE173F3C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2A077-4192-1D69-CA21-9D1D76EB90E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919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4F586-DBF5-C05F-DD0B-788250BF4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12757-B7E1-3762-1C3D-41CB89BDF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21EBB-B59D-987F-11EE-72FCF64199F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94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©2025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1447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9A700-FE7F-0315-3B4B-7D506D755C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1F7BA6-94A8-CA3D-8E11-ACA7E14770A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 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8BC6B-CA01-EE14-EAB7-07F92965CBD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39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108AD-861E-721B-C262-417E51829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B91F7-A596-D27B-AE8E-1CB5E499BF3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3BF01-BAF6-A688-A82E-AB472E09F52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37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10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6CA65-3C70-8B91-5480-A70E2A565C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75831-C45E-0B9A-8271-902C9D76D14A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D754D-3096-53D7-DD51-4DF141B6F0E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758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E85F-E8C2-3E84-6D1D-EA7AC9E5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E1AB-8B35-D85E-0EAC-08C2FB8F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C149-48B2-4C15-AAFC-8A0E8156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118C-3B8C-4428-A5B2-0BB8D75E216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7FFD6-E116-EB55-DC5E-3635C4C0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3586C-00E0-B6F2-E1B1-377873C09F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10A975-1EF8-0C56-54A4-95CD108071C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7E11DE-AF7C-C265-3FDB-F718EDF0231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4695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B4542A9-8C6D-F947-BE86-4FC754823A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5637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4542A9-8C6D-F947-BE86-4FC754823A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520BE-DD1E-5356-5E74-4D607FC86C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D74EFB-338B-BF1D-B9BF-1A1B19BC425A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62F0B-B981-EE51-2798-8030B579A86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40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200" y="505975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457200" y="245446"/>
            <a:ext cx="5638800" cy="19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None/>
              <a:defRPr sz="1400" b="1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439B6-48AC-8DA6-F195-128A00C9FA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B9084-5583-BC9F-CB0A-100A1FF8BA54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E40AD-AE01-1718-7636-D27B7C1F8AF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17089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328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4F586-DBF5-C05F-DD0B-788250BF4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12757-B7E1-3762-1C3D-41CB89BDF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21EBB-B59D-987F-11EE-72FCF64199F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714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6758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ntent 1co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361F0B8B-F383-5648-840E-3CFCED05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950976"/>
            <a:ext cx="11247120" cy="365760"/>
          </a:xfrm>
        </p:spPr>
        <p:txBody>
          <a:bodyPr tIns="0" rIns="0"/>
          <a:lstStyle>
            <a:lvl1pPr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1"/>
                </a:solidFill>
              </a:defRPr>
            </a:lvl1pPr>
            <a:lvl2pPr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buFontTx/>
              <a:buNone/>
              <a:defRPr sz="2000">
                <a:solidFill>
                  <a:schemeClr val="tx1"/>
                </a:solidFill>
              </a:defRPr>
            </a:lvl3pPr>
            <a:lvl4pPr marL="0" indent="0">
              <a:buFontTx/>
              <a:buNone/>
              <a:defRPr sz="2000">
                <a:solidFill>
                  <a:schemeClr val="tx1"/>
                </a:solidFill>
              </a:defRPr>
            </a:lvl4pPr>
            <a:lvl5pPr marL="0" indent="0">
              <a:buFontTx/>
              <a:buNone/>
              <a:defRPr sz="2000">
                <a:solidFill>
                  <a:schemeClr val="tx1"/>
                </a:solidFill>
              </a:defRPr>
            </a:lvl5pPr>
            <a:lvl6pPr marL="0" indent="0">
              <a:buFontTx/>
              <a:buNone/>
              <a:defRPr sz="2000">
                <a:solidFill>
                  <a:schemeClr val="tx1"/>
                </a:solidFill>
              </a:defRPr>
            </a:lvl6pPr>
            <a:lvl7pPr marL="0" indent="0">
              <a:buFontTx/>
              <a:buNone/>
              <a:defRPr sz="2000">
                <a:solidFill>
                  <a:schemeClr val="tx1"/>
                </a:solidFill>
              </a:defRPr>
            </a:lvl7pPr>
            <a:lvl8pPr marL="0" indent="0">
              <a:buFontTx/>
              <a:buNone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0B919C9-B9AD-524C-B36A-104779C3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247120" cy="457200"/>
          </a:xfrm>
        </p:spPr>
        <p:txBody>
          <a:bodyPr rIns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43B3-7271-2743-8B55-2D3661E53CB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57199" y="1645920"/>
            <a:ext cx="11247120" cy="4179888"/>
          </a:xfrm>
        </p:spPr>
        <p:txBody>
          <a:bodyPr tIns="0" rIns="2286000"/>
          <a:lstStyle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AB82C-02A6-4BF6-A7CB-5678352BA9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E250EC-472F-4A06-89B7-7DE40F298201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CCEDA-2B3B-4233-A99F-9325BFF89AEC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59001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4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90685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E57E71-FC35-A359-DCB4-2209C48C0A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5BFAA2-ACEC-FC0B-FE92-B51C66F1DAC3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59734-B786-14AD-C8D3-74C97F9BD51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777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B6E9D-C716-91CD-D197-58D12E00C47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001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8814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©2023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49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accent3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  <a:latin typeface="+mj-lt"/>
              </a:rPr>
              <a:t>‹#›</a:t>
            </a:fld>
            <a:endParaRPr lang="en-US" sz="8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2779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725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accent3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  <a:latin typeface="+mj-lt"/>
              </a:rPr>
              <a:t>‹#›</a:t>
            </a:fld>
            <a:endParaRPr lang="en-US" sz="8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8113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108AD-861E-721B-C262-417E51829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B91F7-A596-D27B-AE8E-1CB5E499BF3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3BF01-BAF6-A688-A82E-AB472E09F52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52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836275-37E5-78D0-5F9B-0008966E0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1FEC82C-A5EA-8257-AA8F-3E80AB227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accent3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650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96E62-F000-28AB-6D89-C5DC38DA93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940E90-7052-910B-6CC7-24E971B392A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85D-1343-274C-1A78-44460C72773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96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5AB5B-BCB9-885F-95FB-35F15E1F6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8F8366-91B7-8239-1FE1-DD94C9A558C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AF937-CE1D-E084-F3EC-E7CE4BBDA44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2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B6E9D-C716-91CD-D197-58D12E00C47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16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BEA1A-18E4-6659-19A7-93E508466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E12A5-7655-CFF3-5C09-A79969C0E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A6D5-81DE-8BF2-F427-7B4A97FA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512C0E-9A13-46F0-A6F6-97320833436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B6C74-5ED5-2C14-610A-7AA231A6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BC09-B08A-C7E1-F6EB-ECA06B7C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C88F5A-75E5-45F0-B64C-7B1311FBFB6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82151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96E62-F000-28AB-6D89-C5DC38DA93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940E90-7052-910B-6CC7-24E971B392A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85D-1343-274C-1A78-44460C72773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941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8396-C5CA-4CF3-B203-038270288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67C03A-E5CD-66A0-6941-527E6D1EEA0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96C14-6F5A-6B6A-378A-C4721111497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817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1CE9-BC68-A3C9-4D5F-8671F9DCD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8DA53-E35D-6131-235E-0F5E0393B97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4F559-0B4B-54B1-E1DB-B32C06831E3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472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0498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BED60-E2BB-B98C-B6A6-C664408B344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57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F209D-200F-0AD1-3BD8-F1D06DC86A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64CCD1-DDCE-6069-3440-EAAEE8420D0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9E13F-DCE0-BEFA-B467-2BFD3B0A836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332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7784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33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49779-DAB5-4178-55BA-BA7CAEF5CF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B8103F-479B-054D-DB04-C2685DE57A3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076E7-F6E6-5ACD-ADF1-B6312864575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625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1co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361F0B8B-F383-5648-840E-3CFCED05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950976"/>
            <a:ext cx="11247120" cy="365760"/>
          </a:xfrm>
        </p:spPr>
        <p:txBody>
          <a:bodyPr tIns="0" rIns="0"/>
          <a:lstStyle>
            <a:lvl1pPr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1"/>
                </a:solidFill>
              </a:defRPr>
            </a:lvl1pPr>
            <a:lvl2pPr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buFontTx/>
              <a:buNone/>
              <a:defRPr sz="2000">
                <a:solidFill>
                  <a:schemeClr val="tx1"/>
                </a:solidFill>
              </a:defRPr>
            </a:lvl3pPr>
            <a:lvl4pPr marL="0" indent="0">
              <a:buFontTx/>
              <a:buNone/>
              <a:defRPr sz="2000">
                <a:solidFill>
                  <a:schemeClr val="tx1"/>
                </a:solidFill>
              </a:defRPr>
            </a:lvl4pPr>
            <a:lvl5pPr marL="0" indent="0">
              <a:buFontTx/>
              <a:buNone/>
              <a:defRPr sz="2000">
                <a:solidFill>
                  <a:schemeClr val="tx1"/>
                </a:solidFill>
              </a:defRPr>
            </a:lvl5pPr>
            <a:lvl6pPr marL="0" indent="0">
              <a:buFontTx/>
              <a:buNone/>
              <a:defRPr sz="2000">
                <a:solidFill>
                  <a:schemeClr val="tx1"/>
                </a:solidFill>
              </a:defRPr>
            </a:lvl6pPr>
            <a:lvl7pPr marL="0" indent="0">
              <a:buFontTx/>
              <a:buNone/>
              <a:defRPr sz="2000">
                <a:solidFill>
                  <a:schemeClr val="tx1"/>
                </a:solidFill>
              </a:defRPr>
            </a:lvl7pPr>
            <a:lvl8pPr marL="0" indent="0">
              <a:buFontTx/>
              <a:buNone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0B919C9-B9AD-524C-B36A-104779C3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247120" cy="457200"/>
          </a:xfrm>
        </p:spPr>
        <p:txBody>
          <a:bodyPr rIns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43B3-7271-2743-8B55-2D3661E53CB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57199" y="1645920"/>
            <a:ext cx="11247120" cy="4179888"/>
          </a:xfrm>
        </p:spPr>
        <p:txBody>
          <a:bodyPr tIns="0" rIns="2286000"/>
          <a:lstStyle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AB82C-02A6-4BF6-A7CB-5678352BA9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E250EC-472F-4A06-89B7-7DE40F298201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CCEDA-2B3B-4233-A99F-9325BFF89AEC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905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10B3A-9080-6568-75A7-641700CCB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B660F-C213-92F3-F73F-8AD5638C171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E0479-9E09-42B8-EBC9-7346A2AB10F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04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108AD-861E-721B-C262-417E51829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B91F7-A596-D27B-AE8E-1CB5E499BF3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3BF01-BAF6-A688-A82E-AB472E09F52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385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358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10B3A-9080-6568-75A7-641700CCB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B660F-C213-92F3-F73F-8AD5638C171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E0479-9E09-42B8-EBC9-7346A2AB10F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37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4F05E-FB65-E483-49A4-08A915E9E2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A8C60-A5EE-1F18-9C33-6C1F0B884F2C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9355E-9CA7-B8AA-9656-29BF6D925B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696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567F1-A3A7-5516-4A51-6B220E9FCB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C55D56-84FB-97BF-63AF-001CF234513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C77F9-6CAB-5EA5-9AA9-90E961ED7C1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982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8B0A0-F18D-D769-6703-6A834279A9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707649-FA0E-1AD9-9972-4568AD3E689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668F2-F297-E379-1893-E06FB4CBFF1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28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2D49C-3D1B-D700-1D0D-D3FB58708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65A3B8-9498-97B8-AD73-71EFD436256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EAC60-EB1A-E7A6-9885-1F28617D786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104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o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3121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8814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BFCF5-20C3-5A2E-7612-15A7D5A65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0A3E3C-D2DD-018E-D38F-13D04478B883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F3EFA-B11D-3DAB-CDE5-338B3B7930E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39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3D6DB-640A-9708-00CC-0AC1593DA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9F7C7B-1793-DAFB-F9CF-A703578A38F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E5538-87D2-D4FD-8193-5E9162749C7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434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27432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574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53761-3D40-2015-58C5-D1A2BA408C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2FC83-F643-567F-2A40-A4FA8AD17A5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68670-4069-11E1-78A7-4EC460CEB09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63AEE-3EDA-9A11-A974-F42AFAC438D5}"/>
              </a:ext>
            </a:extLst>
          </p:cNvPr>
          <p:cNvSpPr/>
          <p:nvPr userDrawn="1"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A110C-2B8D-B7B7-D362-00E72CD0F0E5}"/>
              </a:ext>
            </a:extLst>
          </p:cNvPr>
          <p:cNvSpPr txBox="1"/>
          <p:nvPr userDrawn="1"/>
        </p:nvSpPr>
        <p:spPr>
          <a:xfrm>
            <a:off x="8955344" y="442603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719994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5AB5B-BCB9-885F-95FB-35F15E1F6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8F8366-91B7-8239-1FE1-DD94C9A558C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AF937-CE1D-E084-F3EC-E7CE4BBDA44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027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6E87D1-C5ED-8B12-3461-089EAE9826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DCE8C1-E6B2-F3CC-8247-BC9F5E10C89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73F50-C7D3-9C5C-72E3-93DB262191A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51724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81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1A827-EE47-E19F-090E-C1F1FC1D8F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B0CFDA-EAF2-732E-85B9-DA9D0885800B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9632A-964E-94EA-81D2-25B6FCD6737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76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7784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5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94668-74C2-2F6B-AFBE-758CCD9AB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3670E-7344-2D20-6564-AC66092FFBCD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8EEBF-FA8B-233C-6C79-0C3C09C3E7A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4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A8A38-5F5E-E2DA-1BA6-9860BB7A1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ED2051-7B91-03CF-1799-D78C3450F9B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BF1EF-7BFA-FEE1-35EE-2C5B89C63D4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033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63AEE-3EDA-9A11-A974-F42AFAC438D5}"/>
              </a:ext>
            </a:extLst>
          </p:cNvPr>
          <p:cNvSpPr/>
          <p:nvPr userDrawn="1"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A110C-2B8D-B7B7-D362-00E72CD0F0E5}"/>
              </a:ext>
            </a:extLst>
          </p:cNvPr>
          <p:cNvSpPr txBox="1"/>
          <p:nvPr userDrawn="1"/>
        </p:nvSpPr>
        <p:spPr>
          <a:xfrm>
            <a:off x="8955344" y="442603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685BFE-DFFB-3176-05DD-B4044825B8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7588D-F205-2435-5B85-252CD488398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6ED21-4D19-C915-9CE9-645C1F101D5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526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108AD-861E-721B-C262-417E51829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B91F7-A596-D27B-AE8E-1CB5E499BF3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3BF01-BAF6-A688-A82E-AB472E09F52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36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60512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4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464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D9294-1A87-B7A8-46A2-6727DA413B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24846-ED40-F112-70C0-80708CF0D0EC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33C4A-AD7A-53A4-6613-16A669EC0F1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29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49F09A-AEDE-E4E9-C725-C5CA7D78D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C4D4A3-E7BC-7B96-3375-EF38BE9D165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ExlService Holdings,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976DA-1452-D7B7-D92B-823689855B6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997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7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©2023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131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jpe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6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microsoft.com/office/2007/relationships/hdphoto" Target="../media/hdphoto1.wdp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18" Type="http://schemas.openxmlformats.org/officeDocument/2006/relationships/image" Target="../media/image42.jpe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12" Type="http://schemas.openxmlformats.org/officeDocument/2006/relationships/image" Target="../media/image24.jpe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jpeg"/><Relationship Id="rId1" Type="http://schemas.openxmlformats.org/officeDocument/2006/relationships/slideLayout" Target="../slideLayouts/slideLayout108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svg"/><Relationship Id="rId15" Type="http://schemas.openxmlformats.org/officeDocument/2006/relationships/image" Target="../media/image28.png"/><Relationship Id="rId10" Type="http://schemas.openxmlformats.org/officeDocument/2006/relationships/image" Target="../media/image36.png"/><Relationship Id="rId19" Type="http://schemas.openxmlformats.org/officeDocument/2006/relationships/image" Target="../media/image43.pn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02CF-3D73-B046-CC52-0DF163BF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CD8840-C8F1-708A-56E4-4872987952DE}"/>
              </a:ext>
            </a:extLst>
          </p:cNvPr>
          <p:cNvSpPr/>
          <p:nvPr/>
        </p:nvSpPr>
        <p:spPr>
          <a:xfrm>
            <a:off x="155027" y="149246"/>
            <a:ext cx="5908758" cy="210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Case Study </a:t>
            </a:r>
            <a:r>
              <a:rPr lang="en-US" sz="1400" b="1" kern="0">
                <a:solidFill>
                  <a:srgbClr val="005071"/>
                </a:solidFill>
                <a:latin typeface="Calibri"/>
                <a:ea typeface="Calibri"/>
                <a:cs typeface="Calibri"/>
              </a:rPr>
              <a:t> 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– Leading US-based </a:t>
            </a:r>
            <a:r>
              <a:rPr lang="en-US" sz="1400" b="1" kern="0">
                <a:solidFill>
                  <a:srgbClr val="005071"/>
                </a:solidFill>
                <a:latin typeface="Calibri"/>
                <a:ea typeface="Calibri"/>
                <a:cs typeface="Calibri"/>
              </a:rPr>
              <a:t>Insurance Provider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507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9D1A7-5EB9-DD0D-5DC3-A8733CE17C32}"/>
              </a:ext>
            </a:extLst>
          </p:cNvPr>
          <p:cNvSpPr/>
          <p:nvPr/>
        </p:nvSpPr>
        <p:spPr>
          <a:xfrm>
            <a:off x="3130507" y="2093125"/>
            <a:ext cx="6516000" cy="4110727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B4D0A"/>
              </a:buClr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9EE7D-9DEF-D1AF-73D5-0B6F577FF83F}"/>
              </a:ext>
            </a:extLst>
          </p:cNvPr>
          <p:cNvSpPr/>
          <p:nvPr/>
        </p:nvSpPr>
        <p:spPr>
          <a:xfrm>
            <a:off x="9830256" y="1406187"/>
            <a:ext cx="2102209" cy="4797665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B4D0A"/>
              </a:buClr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Segoe UI"/>
            </a:endParaRPr>
          </a:p>
        </p:txBody>
      </p:sp>
      <p:sp>
        <p:nvSpPr>
          <p:cNvPr id="12" name="Title 62">
            <a:extLst>
              <a:ext uri="{FF2B5EF4-FFF2-40B4-BE49-F238E27FC236}">
                <a16:creationId xmlns:a16="http://schemas.microsoft.com/office/drawing/2014/main" id="{9731B908-F6DC-C988-9426-03403C52856C}"/>
              </a:ext>
            </a:extLst>
          </p:cNvPr>
          <p:cNvSpPr txBox="1">
            <a:spLocks/>
          </p:cNvSpPr>
          <p:nvPr/>
        </p:nvSpPr>
        <p:spPr>
          <a:xfrm>
            <a:off x="209433" y="438612"/>
            <a:ext cx="11922000" cy="5703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defRPr/>
            </a:pPr>
            <a:r>
              <a:rPr lang="en-US" sz="2400" b="1">
                <a:solidFill>
                  <a:srgbClr val="FB4D0A"/>
                </a:solidFill>
                <a:latin typeface="Calibri Light" panose="020F0302020204030204"/>
              </a:rPr>
              <a:t>Multi Agent Cyber Rating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lang="en-US" sz="2400" b="1">
                <a:solidFill>
                  <a:srgbClr val="FB4D0A"/>
                </a:solidFill>
                <a:latin typeface="Calibri Light" panose="020F0302020204030204"/>
              </a:rPr>
              <a:t>modifier - Enabling faster Underwriting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71D733-46ED-8FDD-B86A-7FDA4A3F32A3}"/>
              </a:ext>
            </a:extLst>
          </p:cNvPr>
          <p:cNvCxnSpPr>
            <a:cxnSpLocks/>
          </p:cNvCxnSpPr>
          <p:nvPr/>
        </p:nvCxnSpPr>
        <p:spPr>
          <a:xfrm>
            <a:off x="212433" y="1226665"/>
            <a:ext cx="2765497" cy="0"/>
          </a:xfrm>
          <a:prstGeom prst="line">
            <a:avLst/>
          </a:prstGeom>
          <a:noFill/>
          <a:ln w="19050" cap="flat" cmpd="sng" algn="ctr">
            <a:solidFill>
              <a:srgbClr val="DBDBDB">
                <a:lumMod val="5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D57048-110F-C188-B25A-9AD3F87BABF6}"/>
              </a:ext>
            </a:extLst>
          </p:cNvPr>
          <p:cNvSpPr txBox="1"/>
          <p:nvPr/>
        </p:nvSpPr>
        <p:spPr>
          <a:xfrm>
            <a:off x="679394" y="1118943"/>
            <a:ext cx="1831574" cy="21544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 panose="020F0302020204030204" pitchFamily="34" charset="0"/>
                <a:cs typeface="Calibri Light" panose="020F0302020204030204" pitchFamily="34" charset="0"/>
              </a:rPr>
              <a:t>Background &amp; Context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65328E-8387-413D-7638-AF7FA91EBEA1}"/>
              </a:ext>
            </a:extLst>
          </p:cNvPr>
          <p:cNvCxnSpPr>
            <a:cxnSpLocks/>
          </p:cNvCxnSpPr>
          <p:nvPr/>
        </p:nvCxnSpPr>
        <p:spPr>
          <a:xfrm>
            <a:off x="9830257" y="1226665"/>
            <a:ext cx="2102206" cy="0"/>
          </a:xfrm>
          <a:prstGeom prst="line">
            <a:avLst/>
          </a:prstGeom>
          <a:noFill/>
          <a:ln w="19050" cap="flat" cmpd="sng" algn="ctr">
            <a:solidFill>
              <a:srgbClr val="DBDBDB">
                <a:lumMod val="5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A6B8908-09C2-8632-8807-BD83B6ACD66E}"/>
              </a:ext>
            </a:extLst>
          </p:cNvPr>
          <p:cNvSpPr txBox="1"/>
          <p:nvPr/>
        </p:nvSpPr>
        <p:spPr>
          <a:xfrm>
            <a:off x="10315668" y="1118943"/>
            <a:ext cx="1131385" cy="21544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 panose="020F0302020204030204" pitchFamily="34" charset="0"/>
                <a:cs typeface="Calibri Light" panose="020F0302020204030204" pitchFamily="34" charset="0"/>
              </a:rPr>
              <a:t>Outcomes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9D17E8-B191-EDE7-C421-E2D1D8E617AA}"/>
              </a:ext>
            </a:extLst>
          </p:cNvPr>
          <p:cNvCxnSpPr>
            <a:cxnSpLocks/>
          </p:cNvCxnSpPr>
          <p:nvPr/>
        </p:nvCxnSpPr>
        <p:spPr>
          <a:xfrm flipV="1">
            <a:off x="3130507" y="1222167"/>
            <a:ext cx="6516000" cy="8996"/>
          </a:xfrm>
          <a:prstGeom prst="line">
            <a:avLst/>
          </a:prstGeom>
          <a:noFill/>
          <a:ln w="19050" cap="flat" cmpd="sng" algn="ctr">
            <a:solidFill>
              <a:srgbClr val="DBDBDB">
                <a:lumMod val="50000"/>
              </a:srgbClr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7963CDE-586C-754C-F227-8FF603ADF26E}"/>
              </a:ext>
            </a:extLst>
          </p:cNvPr>
          <p:cNvSpPr txBox="1"/>
          <p:nvPr/>
        </p:nvSpPr>
        <p:spPr>
          <a:xfrm>
            <a:off x="5564254" y="1118943"/>
            <a:ext cx="1648506" cy="21544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 panose="020F0302020204030204" pitchFamily="34" charset="0"/>
                <a:cs typeface="Calibri Light" panose="020F0302020204030204" pitchFamily="34" charset="0"/>
              </a:rPr>
              <a:t>Solution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D3551-7E90-C945-E73C-F59CA716AA2B}"/>
              </a:ext>
            </a:extLst>
          </p:cNvPr>
          <p:cNvSpPr/>
          <p:nvPr/>
        </p:nvSpPr>
        <p:spPr>
          <a:xfrm>
            <a:off x="3130507" y="1406187"/>
            <a:ext cx="6516001" cy="605042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300"/>
              </a:spcAft>
              <a:buClr>
                <a:srgbClr val="FB4D0A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Leverage AI Agents to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autonomous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conduct research, plan and generate </a:t>
            </a:r>
            <a:r>
              <a:rPr lang="en-US" sz="1400" b="1">
                <a:solidFill>
                  <a:srgbClr val="005071"/>
                </a:solidFill>
                <a:latin typeface="Calibri Light" panose="020F0302020204030204"/>
                <a:ea typeface="Calibri"/>
                <a:cs typeface="Calibri"/>
              </a:rPr>
              <a:t>cyber risk assessment leveraging agentic web search and diverse data source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26EB6B-DF56-FB9C-AA77-2B0B8A624C4A}"/>
              </a:ext>
            </a:extLst>
          </p:cNvPr>
          <p:cNvSpPr/>
          <p:nvPr/>
        </p:nvSpPr>
        <p:spPr>
          <a:xfrm>
            <a:off x="218795" y="1393462"/>
            <a:ext cx="2752772" cy="214041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242424"/>
                </a:solidFill>
                <a:latin typeface="Calibri Light" panose="020F0302020204030204"/>
                <a:ea typeface="Calibri" panose="020F0502020204030204"/>
                <a:cs typeface="Calibri" panose="020F0502020204030204"/>
              </a:rPr>
              <a:t>Increasing cyber security risks calls for faster cyber underwriting across diverse market accounts.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Calibri Light" panose="020F0302020204030204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" panose="020F0502020204030204"/>
                <a:cs typeface="Calibri" panose="020F0502020204030204"/>
              </a:rPr>
              <a:t>Agentic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  <a:sym typeface="Arial"/>
              </a:rPr>
              <a:t> AI has the capability to perform well in complex research situations.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" panose="020F0502020204030204"/>
                <a:cs typeface="Calibri" panose="020F0502020204030204"/>
                <a:sym typeface="Arial"/>
              </a:rPr>
              <a:t>Diverse and complex data sources enables opportunity to write even small/middle market accounts. 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805306-3BC5-C36F-A8CB-659FB05DE80B}"/>
              </a:ext>
            </a:extLst>
          </p:cNvPr>
          <p:cNvGrpSpPr/>
          <p:nvPr/>
        </p:nvGrpSpPr>
        <p:grpSpPr>
          <a:xfrm>
            <a:off x="212433" y="3649179"/>
            <a:ext cx="2765497" cy="215444"/>
            <a:chOff x="203070" y="3766797"/>
            <a:chExt cx="2765497" cy="2154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FB4913-4834-4ED7-134B-AFE0AEF13A8E}"/>
                </a:ext>
              </a:extLst>
            </p:cNvPr>
            <p:cNvCxnSpPr>
              <a:cxnSpLocks/>
            </p:cNvCxnSpPr>
            <p:nvPr/>
          </p:nvCxnSpPr>
          <p:spPr>
            <a:xfrm>
              <a:off x="203070" y="3874519"/>
              <a:ext cx="2765497" cy="0"/>
            </a:xfrm>
            <a:prstGeom prst="line">
              <a:avLst/>
            </a:prstGeom>
            <a:noFill/>
            <a:ln w="19050" cap="flat" cmpd="sng" algn="ctr">
              <a:solidFill>
                <a:srgbClr val="DBDBDB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5349F2-6388-301D-B11F-3B4EF961F665}"/>
                </a:ext>
              </a:extLst>
            </p:cNvPr>
            <p:cNvSpPr txBox="1"/>
            <p:nvPr/>
          </p:nvSpPr>
          <p:spPr>
            <a:xfrm>
              <a:off x="959725" y="3766797"/>
              <a:ext cx="125218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Key Pain points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06CE270-8ABA-BA63-A9B3-693ABA44325E}"/>
              </a:ext>
            </a:extLst>
          </p:cNvPr>
          <p:cNvSpPr/>
          <p:nvPr/>
        </p:nvSpPr>
        <p:spPr>
          <a:xfrm>
            <a:off x="201412" y="3923092"/>
            <a:ext cx="2771497" cy="2248676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spcBef>
                <a:spcPts val="600"/>
              </a:spcBef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Manual</a:t>
            </a:r>
            <a:r>
              <a:rPr lang="en-US" sz="1200" b="1">
                <a:solidFill>
                  <a:srgbClr val="000000"/>
                </a:solidFill>
                <a:latin typeface="Calibri Light" panose="020F0302020204030204"/>
                <a:ea typeface="Calibri" panose="020F0502020204030204"/>
                <a:cs typeface="Calibri" panose="020F0502020204030204"/>
              </a:rPr>
              <a:t> account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 research: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lt"/>
                <a:cs typeface="+mn-lt"/>
              </a:rPr>
              <a:t>Manual </a:t>
            </a:r>
            <a:r>
              <a:rPr lang="en-US" sz="1200">
                <a:solidFill>
                  <a:srgbClr val="000000"/>
                </a:solidFill>
                <a:latin typeface="Calibri Light"/>
                <a:ea typeface="+mn-lt"/>
                <a:cs typeface="+mn-lt"/>
              </a:rPr>
              <a:t>research across scattered web sources for cyber ratings took days per submission.</a:t>
            </a:r>
            <a:endParaRPr lang="en-US" sz="800" i="0" u="none" strike="noStrike" kern="1200" cap="none" spc="0" normalizeH="0" baseline="0" noProof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Calibri Light"/>
              <a:ea typeface="+mn-lt"/>
              <a:cs typeface="+mn-lt"/>
            </a:endParaRPr>
          </a:p>
          <a:p>
            <a:pPr marL="171450" indent="-171450">
              <a:spcBef>
                <a:spcPts val="600"/>
              </a:spcBef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</a:rPr>
              <a:t>Complex business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</a:rPr>
              <a:t>rules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: 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</a:rPr>
              <a:t>Complex business underwriting rules to analyze the accounts reduced efficiency.</a:t>
            </a:r>
            <a:endParaRPr lang="en-US">
              <a:solidFill>
                <a:srgbClr val="000000"/>
              </a:solidFill>
              <a:latin typeface="Calibri Light" panose="020F0302020204030204"/>
              <a:ea typeface="Calibri"/>
              <a:cs typeface="Calibri"/>
            </a:endParaRPr>
          </a:p>
          <a:p>
            <a:pPr marL="171450" indent="-171450">
              <a:spcBef>
                <a:spcPts val="600"/>
              </a:spcBef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</a:rPr>
              <a:t>Operational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 efficiency: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Balancing the need for robust 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"/>
                <a:cs typeface="Calibri"/>
              </a:rPr>
              <a:t>risk ratings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/>
                <a:cs typeface="Calibri"/>
              </a:rPr>
              <a:t>while maintaining efficient and nimble Gen AI operations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  <a:p>
            <a:pPr marL="144000" marR="0" lvl="0" indent="-17970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B4D0A"/>
              </a:buClr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 Light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0375D2-FFCB-085C-A2B7-64D8FD7E9AC5}"/>
              </a:ext>
            </a:extLst>
          </p:cNvPr>
          <p:cNvSpPr txBox="1"/>
          <p:nvPr/>
        </p:nvSpPr>
        <p:spPr>
          <a:xfrm>
            <a:off x="9813795" y="1408390"/>
            <a:ext cx="2135131" cy="2469650"/>
          </a:xfrm>
          <a:prstGeom prst="rect">
            <a:avLst/>
          </a:prstGeom>
          <a:solidFill>
            <a:schemeClr val="accent6">
              <a:alpha val="1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Developed an Agentic AI </a:t>
            </a:r>
            <a:r>
              <a:rPr lang="en-US" altLang="en-US" sz="1400" b="1">
                <a:solidFill>
                  <a:srgbClr val="005071"/>
                </a:solidFill>
                <a:latin typeface="Calibri Light" panose="020F0302020204030204"/>
              </a:rPr>
              <a:t>system from pilot to scale</a:t>
            </a:r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507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" b="1" i="0" u="none" strike="noStrike" kern="1200" cap="none" spc="-3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 Light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endParaRPr kumimoji="0" lang="en-US" altLang="en-US" sz="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 Light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endParaRPr kumimoji="0" lang="en-US" altLang="en-US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476405-7A70-F6A7-239A-0479BFE051A1}"/>
              </a:ext>
            </a:extLst>
          </p:cNvPr>
          <p:cNvSpPr/>
          <p:nvPr/>
        </p:nvSpPr>
        <p:spPr>
          <a:xfrm>
            <a:off x="4199246" y="4684801"/>
            <a:ext cx="3196387" cy="612807"/>
          </a:xfrm>
          <a:prstGeom prst="roundRect">
            <a:avLst>
              <a:gd name="adj" fmla="val 7341"/>
            </a:avLst>
          </a:prstGeom>
          <a:solidFill>
            <a:schemeClr val="bg1">
              <a:lumMod val="95000"/>
              <a:alpha val="3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120">
            <a:extLst>
              <a:ext uri="{FF2B5EF4-FFF2-40B4-BE49-F238E27FC236}">
                <a16:creationId xmlns:a16="http://schemas.microsoft.com/office/drawing/2014/main" id="{ACC9E3CE-43C6-A33E-0C81-E317FA6303E0}"/>
              </a:ext>
            </a:extLst>
          </p:cNvPr>
          <p:cNvSpPr/>
          <p:nvPr/>
        </p:nvSpPr>
        <p:spPr>
          <a:xfrm>
            <a:off x="4198417" y="3156654"/>
            <a:ext cx="1440000" cy="432000"/>
          </a:xfrm>
          <a:prstGeom prst="round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447675" marR="0" lvl="0" indent="0" algn="l" defTabSz="488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/>
              </a:rPr>
              <a:t>Domain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Graphic 33" descr="User with solid fill">
            <a:extLst>
              <a:ext uri="{FF2B5EF4-FFF2-40B4-BE49-F238E27FC236}">
                <a16:creationId xmlns:a16="http://schemas.microsoft.com/office/drawing/2014/main" id="{1D3F13A2-56DE-9FA4-2290-0CE77C79B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959" y="3092609"/>
            <a:ext cx="545858" cy="545858"/>
          </a:xfrm>
          <a:prstGeom prst="rect">
            <a:avLst/>
          </a:prstGeom>
        </p:spPr>
      </p:pic>
      <p:sp>
        <p:nvSpPr>
          <p:cNvPr id="35" name="Freeform: Shape 120">
            <a:extLst>
              <a:ext uri="{FF2B5EF4-FFF2-40B4-BE49-F238E27FC236}">
                <a16:creationId xmlns:a16="http://schemas.microsoft.com/office/drawing/2014/main" id="{B8F15255-58D3-BA37-B1A8-D9E24479B9A8}"/>
              </a:ext>
            </a:extLst>
          </p:cNvPr>
          <p:cNvSpPr/>
          <p:nvPr/>
        </p:nvSpPr>
        <p:spPr>
          <a:xfrm>
            <a:off x="4198417" y="2405735"/>
            <a:ext cx="1440000" cy="432000"/>
          </a:xfrm>
          <a:prstGeom prst="round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447675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/>
              </a:rPr>
              <a:t>Company Name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6" name="Freeform: Shape 120">
            <a:extLst>
              <a:ext uri="{FF2B5EF4-FFF2-40B4-BE49-F238E27FC236}">
                <a16:creationId xmlns:a16="http://schemas.microsoft.com/office/drawing/2014/main" id="{7591E9C5-8AAC-C784-B310-EE6B90B3D881}"/>
              </a:ext>
            </a:extLst>
          </p:cNvPr>
          <p:cNvSpPr/>
          <p:nvPr/>
        </p:nvSpPr>
        <p:spPr>
          <a:xfrm>
            <a:off x="4208186" y="3935558"/>
            <a:ext cx="1440000" cy="432000"/>
          </a:xfrm>
          <a:prstGeom prst="round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/>
              </a:rPr>
              <a:t>        Modifier rule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120">
            <a:extLst>
              <a:ext uri="{FF2B5EF4-FFF2-40B4-BE49-F238E27FC236}">
                <a16:creationId xmlns:a16="http://schemas.microsoft.com/office/drawing/2014/main" id="{25F722F6-92C1-7A36-B8F4-3CD6EC96D139}"/>
              </a:ext>
            </a:extLst>
          </p:cNvPr>
          <p:cNvSpPr/>
          <p:nvPr/>
        </p:nvSpPr>
        <p:spPr>
          <a:xfrm>
            <a:off x="6175139" y="3060351"/>
            <a:ext cx="1253872" cy="574875"/>
          </a:xfrm>
          <a:custGeom>
            <a:avLst/>
            <a:gdLst>
              <a:gd name="connsiteX0" fmla="*/ 0 w 988025"/>
              <a:gd name="connsiteY0" fmla="*/ 61752 h 617516"/>
              <a:gd name="connsiteX1" fmla="*/ 61752 w 988025"/>
              <a:gd name="connsiteY1" fmla="*/ 0 h 617516"/>
              <a:gd name="connsiteX2" fmla="*/ 926273 w 988025"/>
              <a:gd name="connsiteY2" fmla="*/ 0 h 617516"/>
              <a:gd name="connsiteX3" fmla="*/ 988025 w 988025"/>
              <a:gd name="connsiteY3" fmla="*/ 61752 h 617516"/>
              <a:gd name="connsiteX4" fmla="*/ 988025 w 988025"/>
              <a:gd name="connsiteY4" fmla="*/ 555764 h 617516"/>
              <a:gd name="connsiteX5" fmla="*/ 926273 w 988025"/>
              <a:gd name="connsiteY5" fmla="*/ 617516 h 617516"/>
              <a:gd name="connsiteX6" fmla="*/ 61752 w 988025"/>
              <a:gd name="connsiteY6" fmla="*/ 617516 h 617516"/>
              <a:gd name="connsiteX7" fmla="*/ 0 w 988025"/>
              <a:gd name="connsiteY7" fmla="*/ 555764 h 617516"/>
              <a:gd name="connsiteX8" fmla="*/ 0 w 988025"/>
              <a:gd name="connsiteY8" fmla="*/ 61752 h 61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8025" h="617516">
                <a:moveTo>
                  <a:pt x="0" y="61752"/>
                </a:moveTo>
                <a:cubicBezTo>
                  <a:pt x="0" y="27647"/>
                  <a:pt x="27647" y="0"/>
                  <a:pt x="61752" y="0"/>
                </a:cubicBezTo>
                <a:lnTo>
                  <a:pt x="926273" y="0"/>
                </a:lnTo>
                <a:cubicBezTo>
                  <a:pt x="960378" y="0"/>
                  <a:pt x="988025" y="27647"/>
                  <a:pt x="988025" y="61752"/>
                </a:cubicBezTo>
                <a:lnTo>
                  <a:pt x="988025" y="555764"/>
                </a:lnTo>
                <a:cubicBezTo>
                  <a:pt x="988025" y="589869"/>
                  <a:pt x="960378" y="617516"/>
                  <a:pt x="926273" y="617516"/>
                </a:cubicBezTo>
                <a:lnTo>
                  <a:pt x="61752" y="617516"/>
                </a:lnTo>
                <a:cubicBezTo>
                  <a:pt x="27647" y="617516"/>
                  <a:pt x="0" y="589869"/>
                  <a:pt x="0" y="555764"/>
                </a:cubicBezTo>
                <a:lnTo>
                  <a:pt x="0" y="6175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361950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/>
              </a:rPr>
              <a:t>Agentic Cyber rating System 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383004-C2BC-A4F8-AED0-58D4B5FC6D27}"/>
              </a:ext>
            </a:extLst>
          </p:cNvPr>
          <p:cNvSpPr txBox="1"/>
          <p:nvPr/>
        </p:nvSpPr>
        <p:spPr>
          <a:xfrm>
            <a:off x="3105770" y="3578113"/>
            <a:ext cx="107233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Calibri" panose="020F0502020204030204"/>
              </a:rPr>
              <a:t>Underwriter</a:t>
            </a:r>
            <a:endParaRPr lang="en-US"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C98D466-195A-6749-119C-5C462E775249}"/>
              </a:ext>
            </a:extLst>
          </p:cNvPr>
          <p:cNvCxnSpPr>
            <a:cxnSpLocks/>
          </p:cNvCxnSpPr>
          <p:nvPr/>
        </p:nvCxnSpPr>
        <p:spPr>
          <a:xfrm>
            <a:off x="3851897" y="3378905"/>
            <a:ext cx="324000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9E81E9-A333-962D-2625-662B32EE7017}"/>
              </a:ext>
            </a:extLst>
          </p:cNvPr>
          <p:cNvCxnSpPr>
            <a:cxnSpLocks/>
          </p:cNvCxnSpPr>
          <p:nvPr/>
        </p:nvCxnSpPr>
        <p:spPr>
          <a:xfrm>
            <a:off x="5672480" y="2830006"/>
            <a:ext cx="254000" cy="46931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E03E52-9B6B-B969-066B-BDD0A5C5DFC0}"/>
              </a:ext>
            </a:extLst>
          </p:cNvPr>
          <p:cNvCxnSpPr>
            <a:cxnSpLocks/>
          </p:cNvCxnSpPr>
          <p:nvPr/>
        </p:nvCxnSpPr>
        <p:spPr>
          <a:xfrm flipV="1">
            <a:off x="5672480" y="3414238"/>
            <a:ext cx="254001" cy="51867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120">
            <a:extLst>
              <a:ext uri="{FF2B5EF4-FFF2-40B4-BE49-F238E27FC236}">
                <a16:creationId xmlns:a16="http://schemas.microsoft.com/office/drawing/2014/main" id="{BB29DA3A-1012-F368-555F-F24BF2F233AE}"/>
              </a:ext>
            </a:extLst>
          </p:cNvPr>
          <p:cNvSpPr/>
          <p:nvPr/>
        </p:nvSpPr>
        <p:spPr>
          <a:xfrm>
            <a:off x="7894541" y="3081874"/>
            <a:ext cx="1180122" cy="492854"/>
          </a:xfrm>
          <a:custGeom>
            <a:avLst/>
            <a:gdLst>
              <a:gd name="connsiteX0" fmla="*/ 0 w 988025"/>
              <a:gd name="connsiteY0" fmla="*/ 61752 h 617516"/>
              <a:gd name="connsiteX1" fmla="*/ 61752 w 988025"/>
              <a:gd name="connsiteY1" fmla="*/ 0 h 617516"/>
              <a:gd name="connsiteX2" fmla="*/ 926273 w 988025"/>
              <a:gd name="connsiteY2" fmla="*/ 0 h 617516"/>
              <a:gd name="connsiteX3" fmla="*/ 988025 w 988025"/>
              <a:gd name="connsiteY3" fmla="*/ 61752 h 617516"/>
              <a:gd name="connsiteX4" fmla="*/ 988025 w 988025"/>
              <a:gd name="connsiteY4" fmla="*/ 555764 h 617516"/>
              <a:gd name="connsiteX5" fmla="*/ 926273 w 988025"/>
              <a:gd name="connsiteY5" fmla="*/ 617516 h 617516"/>
              <a:gd name="connsiteX6" fmla="*/ 61752 w 988025"/>
              <a:gd name="connsiteY6" fmla="*/ 617516 h 617516"/>
              <a:gd name="connsiteX7" fmla="*/ 0 w 988025"/>
              <a:gd name="connsiteY7" fmla="*/ 555764 h 617516"/>
              <a:gd name="connsiteX8" fmla="*/ 0 w 988025"/>
              <a:gd name="connsiteY8" fmla="*/ 61752 h 61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8025" h="617516">
                <a:moveTo>
                  <a:pt x="0" y="61752"/>
                </a:moveTo>
                <a:cubicBezTo>
                  <a:pt x="0" y="27647"/>
                  <a:pt x="27647" y="0"/>
                  <a:pt x="61752" y="0"/>
                </a:cubicBezTo>
                <a:lnTo>
                  <a:pt x="926273" y="0"/>
                </a:lnTo>
                <a:cubicBezTo>
                  <a:pt x="960378" y="0"/>
                  <a:pt x="988025" y="27647"/>
                  <a:pt x="988025" y="61752"/>
                </a:cubicBezTo>
                <a:lnTo>
                  <a:pt x="988025" y="555764"/>
                </a:lnTo>
                <a:cubicBezTo>
                  <a:pt x="988025" y="589869"/>
                  <a:pt x="960378" y="617516"/>
                  <a:pt x="926273" y="617516"/>
                </a:cubicBezTo>
                <a:lnTo>
                  <a:pt x="61752" y="617516"/>
                </a:lnTo>
                <a:cubicBezTo>
                  <a:pt x="27647" y="617516"/>
                  <a:pt x="0" y="589869"/>
                  <a:pt x="0" y="555764"/>
                </a:cubicBezTo>
                <a:lnTo>
                  <a:pt x="0" y="6175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266700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/>
                <a:ea typeface="Calibri"/>
                <a:cs typeface="Calibri"/>
              </a:rPr>
              <a:t>      Cyber         risk Rating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D125EC-D482-2648-3FE7-92DAF9E1EB77}"/>
              </a:ext>
            </a:extLst>
          </p:cNvPr>
          <p:cNvCxnSpPr>
            <a:cxnSpLocks/>
          </p:cNvCxnSpPr>
          <p:nvPr/>
        </p:nvCxnSpPr>
        <p:spPr>
          <a:xfrm flipV="1">
            <a:off x="7393188" y="3332923"/>
            <a:ext cx="502270" cy="21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D9EBF2E-48F5-CA20-CB8E-1D10CE158320}"/>
              </a:ext>
            </a:extLst>
          </p:cNvPr>
          <p:cNvSpPr/>
          <p:nvPr/>
        </p:nvSpPr>
        <p:spPr>
          <a:xfrm>
            <a:off x="4209830" y="5496046"/>
            <a:ext cx="4790751" cy="591641"/>
          </a:xfrm>
          <a:prstGeom prst="roundRect">
            <a:avLst>
              <a:gd name="adj" fmla="val 7341"/>
            </a:avLst>
          </a:prstGeom>
          <a:solidFill>
            <a:schemeClr val="bg1">
              <a:lumMod val="95000"/>
              <a:alpha val="3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041" tIns="32056" rIns="39041" bIns="32056" numCol="1" spcCol="1270" anchor="ctr" anchorCtr="0">
            <a:no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8DD9390-CB94-40BD-B083-DE329C39C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813" y="4920815"/>
            <a:ext cx="929978" cy="143911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746927-B84B-9F67-28ED-890F8EEC7304}"/>
              </a:ext>
            </a:extLst>
          </p:cNvPr>
          <p:cNvCxnSpPr>
            <a:cxnSpLocks/>
          </p:cNvCxnSpPr>
          <p:nvPr/>
        </p:nvCxnSpPr>
        <p:spPr>
          <a:xfrm>
            <a:off x="5638417" y="3361215"/>
            <a:ext cx="324000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>
            <a:extLst>
              <a:ext uri="{FF2B5EF4-FFF2-40B4-BE49-F238E27FC236}">
                <a16:creationId xmlns:a16="http://schemas.microsoft.com/office/drawing/2014/main" id="{FB87B5AD-00DF-A09F-6642-0A7983B84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772" y="4000225"/>
            <a:ext cx="289307" cy="29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4">
            <a:extLst>
              <a:ext uri="{FF2B5EF4-FFF2-40B4-BE49-F238E27FC236}">
                <a16:creationId xmlns:a16="http://schemas.microsoft.com/office/drawing/2014/main" id="{D748C449-A7DF-0F56-5152-7FBF215A0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618" y="2458776"/>
            <a:ext cx="292797" cy="29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4">
            <a:extLst>
              <a:ext uri="{FF2B5EF4-FFF2-40B4-BE49-F238E27FC236}">
                <a16:creationId xmlns:a16="http://schemas.microsoft.com/office/drawing/2014/main" id="{D5E0E4AA-337E-DA9A-A17A-B644D72F8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541" y="3238914"/>
            <a:ext cx="184105" cy="19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8">
            <a:extLst>
              <a:ext uri="{FF2B5EF4-FFF2-40B4-BE49-F238E27FC236}">
                <a16:creationId xmlns:a16="http://schemas.microsoft.com/office/drawing/2014/main" id="{C1240869-81D0-83F2-FFF5-FC4A89A37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687" y="3233890"/>
            <a:ext cx="266642" cy="29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0">
            <a:extLst>
              <a:ext uri="{FF2B5EF4-FFF2-40B4-BE49-F238E27FC236}">
                <a16:creationId xmlns:a16="http://schemas.microsoft.com/office/drawing/2014/main" id="{E3AAD0CC-C06B-3190-365F-53A597C5B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818" y="3242795"/>
            <a:ext cx="273805" cy="24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2E4AC2A2-0722-B3DF-C248-80ED5A3CBA98}"/>
              </a:ext>
            </a:extLst>
          </p:cNvPr>
          <p:cNvGrpSpPr/>
          <p:nvPr/>
        </p:nvGrpSpPr>
        <p:grpSpPr>
          <a:xfrm>
            <a:off x="10078418" y="5194196"/>
            <a:ext cx="1605885" cy="664751"/>
            <a:chOff x="10078418" y="5121783"/>
            <a:chExt cx="1605885" cy="664751"/>
          </a:xfrm>
        </p:grpSpPr>
        <p:pic>
          <p:nvPicPr>
            <p:cNvPr id="69" name="Picture 16">
              <a:extLst>
                <a:ext uri="{FF2B5EF4-FFF2-40B4-BE49-F238E27FC236}">
                  <a16:creationId xmlns:a16="http://schemas.microsoft.com/office/drawing/2014/main" id="{624F949B-D02D-1353-2B03-628705135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4218" y="5121783"/>
              <a:ext cx="354285" cy="351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B2899F-098A-6E48-EBF5-77E09798DDC2}"/>
                </a:ext>
              </a:extLst>
            </p:cNvPr>
            <p:cNvSpPr txBox="1"/>
            <p:nvPr/>
          </p:nvSpPr>
          <p:spPr>
            <a:xfrm>
              <a:off x="10078418" y="5494146"/>
              <a:ext cx="1605885" cy="29238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spcAft>
                  <a:spcPts val="1200"/>
                </a:spcAft>
                <a:buClr>
                  <a:srgbClr val="FB4D0A"/>
                </a:buClr>
                <a:defRPr/>
              </a:pPr>
              <a:r>
                <a:rPr lang="en-US" altLang="en-US" sz="1300" b="1" spc="-30">
                  <a:solidFill>
                    <a:srgbClr val="000000"/>
                  </a:solidFill>
                  <a:latin typeface="Calibri Light" panose="020F0302020204030204"/>
                  <a:ea typeface="Calibri Light"/>
                  <a:cs typeface="Calibri Light"/>
                </a:rPr>
                <a:t>Increased efficiency</a:t>
              </a:r>
              <a:endParaRPr lang="en-US" altLang="en-US" sz="1300" b="1" i="0" u="none" strike="noStrike" kern="120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4B2A8B-FA6C-888C-A0BD-272512A978DA}"/>
              </a:ext>
            </a:extLst>
          </p:cNvPr>
          <p:cNvGrpSpPr/>
          <p:nvPr/>
        </p:nvGrpSpPr>
        <p:grpSpPr>
          <a:xfrm>
            <a:off x="9812644" y="4121466"/>
            <a:ext cx="2137433" cy="796759"/>
            <a:chOff x="9812644" y="4124744"/>
            <a:chExt cx="2137433" cy="796759"/>
          </a:xfrm>
        </p:grpSpPr>
        <p:pic>
          <p:nvPicPr>
            <p:cNvPr id="66" name="Picture 10">
              <a:extLst>
                <a:ext uri="{FF2B5EF4-FFF2-40B4-BE49-F238E27FC236}">
                  <a16:creationId xmlns:a16="http://schemas.microsoft.com/office/drawing/2014/main" id="{9934AFE7-D2C3-B880-EAC0-135155563E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1273" y="4124744"/>
              <a:ext cx="420175" cy="425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AF8EE4-9DA6-746A-624E-381A96197DBC}"/>
                </a:ext>
              </a:extLst>
            </p:cNvPr>
            <p:cNvSpPr txBox="1"/>
            <p:nvPr/>
          </p:nvSpPr>
          <p:spPr>
            <a:xfrm>
              <a:off x="9812644" y="4560122"/>
              <a:ext cx="2137433" cy="36138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  <a:buClr>
                  <a:srgbClr val="FB4D0A"/>
                </a:buClr>
                <a:defRPr/>
              </a:pPr>
              <a:r>
                <a:rPr lang="en-US" altLang="en-US" sz="1300" b="1">
                  <a:solidFill>
                    <a:srgbClr val="000000"/>
                  </a:solidFill>
                  <a:latin typeface="Calibri Light" panose="020F0302020204030204"/>
                  <a:ea typeface="Calibri Light"/>
                  <a:cs typeface="Calibri Light"/>
                </a:rPr>
                <a:t>Global Insights</a:t>
              </a:r>
              <a:endParaRPr lang="en-US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E5F197C-F501-9A6F-0152-42EFCF516328}"/>
              </a:ext>
            </a:extLst>
          </p:cNvPr>
          <p:cNvGrpSpPr/>
          <p:nvPr/>
        </p:nvGrpSpPr>
        <p:grpSpPr>
          <a:xfrm>
            <a:off x="9812644" y="3170904"/>
            <a:ext cx="2137433" cy="732360"/>
            <a:chOff x="9812644" y="3015160"/>
            <a:chExt cx="2137433" cy="732360"/>
          </a:xfrm>
        </p:grpSpPr>
        <p:pic>
          <p:nvPicPr>
            <p:cNvPr id="65" name="Picture 8">
              <a:extLst>
                <a:ext uri="{FF2B5EF4-FFF2-40B4-BE49-F238E27FC236}">
                  <a16:creationId xmlns:a16="http://schemas.microsoft.com/office/drawing/2014/main" id="{E83CBF95-2263-CDF5-1819-3567BA2DCC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7650" y="3015160"/>
              <a:ext cx="307420" cy="425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F591537-A63F-6840-6091-95116D800446}"/>
                </a:ext>
              </a:extLst>
            </p:cNvPr>
            <p:cNvSpPr txBox="1"/>
            <p:nvPr/>
          </p:nvSpPr>
          <p:spPr>
            <a:xfrm>
              <a:off x="9812644" y="3455132"/>
              <a:ext cx="2137433" cy="29238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1300" b="1">
                  <a:solidFill>
                    <a:srgbClr val="000000"/>
                  </a:solidFill>
                  <a:latin typeface="Calibri Light" panose="020F0302020204030204"/>
                </a:rPr>
                <a:t>Faster underwriting  </a:t>
              </a:r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6BD8A3D-9DD6-756C-4477-2C2B4A71B6CD}"/>
              </a:ext>
            </a:extLst>
          </p:cNvPr>
          <p:cNvGrpSpPr/>
          <p:nvPr/>
        </p:nvGrpSpPr>
        <p:grpSpPr>
          <a:xfrm>
            <a:off x="10078418" y="2116022"/>
            <a:ext cx="1605885" cy="870879"/>
            <a:chOff x="10078418" y="2204510"/>
            <a:chExt cx="1605885" cy="870879"/>
          </a:xfrm>
        </p:grpSpPr>
        <p:pic>
          <p:nvPicPr>
            <p:cNvPr id="64" name="Picture 6">
              <a:extLst>
                <a:ext uri="{FF2B5EF4-FFF2-40B4-BE49-F238E27FC236}">
                  <a16:creationId xmlns:a16="http://schemas.microsoft.com/office/drawing/2014/main" id="{72838C73-26A7-8126-B2B2-2C8E3E0F8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0701" y="2204510"/>
              <a:ext cx="361318" cy="351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15BB5F-AEDC-68FA-B60C-BB444804D7A2}"/>
                </a:ext>
              </a:extLst>
            </p:cNvPr>
            <p:cNvSpPr txBox="1"/>
            <p:nvPr/>
          </p:nvSpPr>
          <p:spPr>
            <a:xfrm>
              <a:off x="10078418" y="2582946"/>
              <a:ext cx="1605885" cy="49244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spcAft>
                  <a:spcPts val="1200"/>
                </a:spcAft>
                <a:buClr>
                  <a:srgbClr val="FB4D0A"/>
                </a:buClr>
                <a:defRPr/>
              </a:pPr>
              <a:r>
                <a:rPr lang="en-US" altLang="en-US" sz="1300" b="1" spc="-30">
                  <a:solidFill>
                    <a:srgbClr val="000000"/>
                  </a:solidFill>
                  <a:latin typeface="Calibri Light" panose="020F0302020204030204"/>
                </a:rPr>
                <a:t>Multi source corroboration</a:t>
              </a:r>
              <a:endParaRPr lang="en-US" altLang="en-US" sz="1300" b="1" i="0" u="none" strike="noStrike" kern="120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A2B4A3-433A-7481-6CC6-458ED2A216A7}"/>
              </a:ext>
            </a:extLst>
          </p:cNvPr>
          <p:cNvCxnSpPr>
            <a:cxnSpLocks/>
          </p:cNvCxnSpPr>
          <p:nvPr/>
        </p:nvCxnSpPr>
        <p:spPr>
          <a:xfrm flipV="1">
            <a:off x="3883646" y="2831218"/>
            <a:ext cx="292250" cy="4921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29C6FB-4DF3-A923-4D5F-FE52BC8B8D7E}"/>
              </a:ext>
            </a:extLst>
          </p:cNvPr>
          <p:cNvCxnSpPr>
            <a:cxnSpLocks/>
          </p:cNvCxnSpPr>
          <p:nvPr/>
        </p:nvCxnSpPr>
        <p:spPr>
          <a:xfrm>
            <a:off x="3883646" y="3450343"/>
            <a:ext cx="292250" cy="44449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6B0DF64-616D-5123-3983-2C549C851A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 l="23589" t="38601" r="20595" b="39582"/>
          <a:stretch>
            <a:fillRect/>
          </a:stretch>
        </p:blipFill>
        <p:spPr>
          <a:xfrm>
            <a:off x="5445683" y="4806957"/>
            <a:ext cx="1031270" cy="371033"/>
          </a:xfrm>
          <a:prstGeom prst="rect">
            <a:avLst/>
          </a:prstGeom>
        </p:spPr>
      </p:pic>
      <p:pic>
        <p:nvPicPr>
          <p:cNvPr id="9" name="Picture 8" descr="A blue and green logo&#10;&#10;AI-generated content may be incorrect.">
            <a:extLst>
              <a:ext uri="{FF2B5EF4-FFF2-40B4-BE49-F238E27FC236}">
                <a16:creationId xmlns:a16="http://schemas.microsoft.com/office/drawing/2014/main" id="{BB14CB03-9AA8-4D97-A008-7A7295E9C3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3999" y="4751917"/>
            <a:ext cx="465668" cy="486834"/>
          </a:xfrm>
          <a:prstGeom prst="rect">
            <a:avLst/>
          </a:prstGeom>
        </p:spPr>
      </p:pic>
      <p:pic>
        <p:nvPicPr>
          <p:cNvPr id="11" name="Picture 10" descr="A black and orange logo&#10;&#10;AI-generated content may be incorrect.">
            <a:extLst>
              <a:ext uri="{FF2B5EF4-FFF2-40B4-BE49-F238E27FC236}">
                <a16:creationId xmlns:a16="http://schemas.microsoft.com/office/drawing/2014/main" id="{CE7BBCEB-3F41-1705-6ACD-04D86D93E4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1566" y="5617844"/>
            <a:ext cx="605370" cy="353063"/>
          </a:xfrm>
          <a:prstGeom prst="rect">
            <a:avLst/>
          </a:prstGeom>
        </p:spPr>
      </p:pic>
      <p:pic>
        <p:nvPicPr>
          <p:cNvPr id="25" name="Picture 2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1336761-AAE4-5F44-0E2D-DCDF70E0BC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4067" y="5514976"/>
            <a:ext cx="1018117" cy="548217"/>
          </a:xfrm>
          <a:prstGeom prst="rect">
            <a:avLst/>
          </a:prstGeom>
        </p:spPr>
      </p:pic>
      <p:pic>
        <p:nvPicPr>
          <p:cNvPr id="26" name="Picture 2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C81BA7A-2258-A360-E033-00F719D8937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8233" y="5526616"/>
            <a:ext cx="1060450" cy="514350"/>
          </a:xfrm>
          <a:prstGeom prst="rect">
            <a:avLst/>
          </a:prstGeom>
        </p:spPr>
      </p:pic>
      <p:pic>
        <p:nvPicPr>
          <p:cNvPr id="28" name="Picture 27" descr="A blue and black text with a circle&#10;&#10;AI-generated content may be incorrect.">
            <a:extLst>
              <a:ext uri="{FF2B5EF4-FFF2-40B4-BE49-F238E27FC236}">
                <a16:creationId xmlns:a16="http://schemas.microsoft.com/office/drawing/2014/main" id="{FBCBBDF4-3F93-15CE-05C8-451811B5CF4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2062" t="27155" r="25617" b="25342"/>
          <a:stretch>
            <a:fillRect/>
          </a:stretch>
        </p:blipFill>
        <p:spPr>
          <a:xfrm>
            <a:off x="7799480" y="5611072"/>
            <a:ext cx="836529" cy="35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8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1C8C-ECC5-7409-C9CE-E0DF8939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E44B0D-E53D-4C9D-2F58-0CF40D8F4C36}"/>
              </a:ext>
            </a:extLst>
          </p:cNvPr>
          <p:cNvSpPr/>
          <p:nvPr/>
        </p:nvSpPr>
        <p:spPr>
          <a:xfrm>
            <a:off x="0" y="737367"/>
            <a:ext cx="12192000" cy="5383266"/>
          </a:xfrm>
          <a:prstGeom prst="rect">
            <a:avLst/>
          </a:prstGeom>
          <a:solidFill>
            <a:srgbClr val="F8FDF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7BF50C4-6E0D-BDF1-00D4-03E637BFB2DC}"/>
              </a:ext>
            </a:extLst>
          </p:cNvPr>
          <p:cNvSpPr/>
          <p:nvPr/>
        </p:nvSpPr>
        <p:spPr>
          <a:xfrm rot="5400000">
            <a:off x="4796370" y="3343176"/>
            <a:ext cx="4250739" cy="365760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DCEC21-194B-3606-6885-968445570966}"/>
              </a:ext>
            </a:extLst>
          </p:cNvPr>
          <p:cNvSpPr txBox="1"/>
          <p:nvPr/>
        </p:nvSpPr>
        <p:spPr>
          <a:xfrm>
            <a:off x="7528610" y="1183882"/>
            <a:ext cx="4348800" cy="190821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B4D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Modular &amp; Specialized Agent Design Enhances Efficiency: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Streamline complex workflows by isolating responsibilities, simplify interactions, and improving task focus.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B4D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Observability and Continuous Learning: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Persistent, structured data storage is foundational for traceability, iterative improvement, and transparency.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B4D0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Feedback-driven Iteration is Critical for Quality Output: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 Light" panose="020F0302020204030204"/>
                <a:ea typeface="Calibri" panose="020F0502020204030204"/>
                <a:cs typeface="Calibri" panose="020F0502020204030204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Integrating feedback induced reasoning loops ensures accuracy without compromising speed.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AC462B-7155-CEA6-6381-E0D81CA96F70}"/>
              </a:ext>
            </a:extLst>
          </p:cNvPr>
          <p:cNvCxnSpPr>
            <a:cxnSpLocks/>
          </p:cNvCxnSpPr>
          <p:nvPr/>
        </p:nvCxnSpPr>
        <p:spPr>
          <a:xfrm>
            <a:off x="7579010" y="3282552"/>
            <a:ext cx="4248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2D10A66-8F87-54BA-74BC-210AB4BC77B0}"/>
              </a:ext>
            </a:extLst>
          </p:cNvPr>
          <p:cNvSpPr txBox="1"/>
          <p:nvPr/>
        </p:nvSpPr>
        <p:spPr>
          <a:xfrm>
            <a:off x="8614801" y="3128664"/>
            <a:ext cx="2176419" cy="307777"/>
          </a:xfrm>
          <a:prstGeom prst="rect">
            <a:avLst/>
          </a:prstGeom>
          <a:solidFill>
            <a:srgbClr val="F8FDFE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Key Business Outcomes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0BDDC9-C4CC-086B-98BA-7DA89F8837DF}"/>
              </a:ext>
            </a:extLst>
          </p:cNvPr>
          <p:cNvSpPr txBox="1"/>
          <p:nvPr/>
        </p:nvSpPr>
        <p:spPr>
          <a:xfrm>
            <a:off x="7528610" y="3436271"/>
            <a:ext cx="4348800" cy="2423740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143510" indent="-143510">
              <a:spcAft>
                <a:spcPts val="300"/>
              </a:spcAft>
              <a:buClr>
                <a:srgbClr val="FB4D0A"/>
              </a:buClr>
              <a:buFont typeface="Arial,Sans-Serif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Optimization and Accuracy: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Parallelization of agents for scaling effectively, 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full evidence lineage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,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 smart cache with alias resolution and deployment with GitHub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 CI/CD.</a:t>
            </a:r>
          </a:p>
          <a:p>
            <a:pPr marL="143510" indent="-143510">
              <a:spcAft>
                <a:spcPts val="300"/>
              </a:spcAft>
              <a:buClr>
                <a:srgbClr val="FB4D0A"/>
              </a:buClr>
              <a:buFont typeface="Arial,Sans-Serif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Enhanced Efficiency:</a:t>
            </a:r>
            <a:r>
              <a:rPr lang="en-US" sz="1200">
                <a:solidFill>
                  <a:srgbClr val="005071"/>
                </a:solidFill>
                <a:latin typeface="Calibri Light" panose="020F0302020204030204"/>
                <a:ea typeface="Calibri Light"/>
                <a:cs typeface="Calibri Light"/>
              </a:rPr>
              <a:t> 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Improved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 task handling and dynamic workflow progression, faster iteration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 with parallel native data flow and batch execution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.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5071"/>
              </a:solidFill>
              <a:effectLst/>
              <a:uLnTx/>
              <a:uFillTx/>
              <a:latin typeface="Calibri Light" panose="020F0302020204030204"/>
              <a:ea typeface="Calibri Light"/>
              <a:cs typeface="Calibri Light"/>
            </a:endParaRPr>
          </a:p>
          <a:p>
            <a:pPr marL="143510" indent="-143510">
              <a:spcAft>
                <a:spcPts val="300"/>
              </a:spcAft>
              <a:buClr>
                <a:srgbClr val="FB4D0A"/>
              </a:buClr>
              <a:buFont typeface="Arial,Sans-Serif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Scalability and Flexibility: </a:t>
            </a:r>
            <a:r>
              <a:rPr lang="en-US" sz="1200">
                <a:latin typeface="Calibri Light" panose="020F0302020204030204"/>
                <a:ea typeface="Calibri Light"/>
                <a:cs typeface="Calibri Light"/>
              </a:rPr>
              <a:t>Configuration driven modifiers, complex information access with e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asy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 integration and containerization for API integration, and composability of agents.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 Light"/>
              <a:cs typeface="Calibri Light"/>
            </a:endParaRPr>
          </a:p>
          <a:p>
            <a:pPr marL="143510" indent="-143510">
              <a:spcAft>
                <a:spcPts val="300"/>
              </a:spcAft>
              <a:buClr>
                <a:srgbClr val="FB4D0A"/>
              </a:buClr>
              <a:buFont typeface="Arial,Sans-Serif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Improved Observability and Feedback: </a:t>
            </a:r>
            <a:r>
              <a:rPr lang="en-US" sz="1200">
                <a:latin typeface="Calibri Light" panose="020F0302020204030204"/>
                <a:ea typeface="Calibri Light"/>
                <a:cs typeface="Calibri Light"/>
              </a:rPr>
              <a:t>Human escalation, entity mismatch rejection,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 human-in-the-loop,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enhanced observability through </a:t>
            </a:r>
            <a:r>
              <a:rPr lang="en-US" sz="1200">
                <a:solidFill>
                  <a:srgbClr val="000000"/>
                </a:solidFill>
                <a:latin typeface="Calibri Light" panose="020F0302020204030204"/>
                <a:ea typeface="Calibri Light"/>
                <a:cs typeface="Calibri Light"/>
              </a:rPr>
              <a:t>MLFlow3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Calibri Light"/>
                <a:cs typeface="Calibri Light"/>
              </a:rPr>
              <a:t>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2341A4E-9FFE-812D-89B4-A9B40F2022D1}"/>
              </a:ext>
            </a:extLst>
          </p:cNvPr>
          <p:cNvCxnSpPr>
            <a:cxnSpLocks/>
          </p:cNvCxnSpPr>
          <p:nvPr/>
        </p:nvCxnSpPr>
        <p:spPr>
          <a:xfrm>
            <a:off x="7543010" y="882821"/>
            <a:ext cx="4320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9B7624-13EC-02A0-5523-F10F7E58C68C}"/>
              </a:ext>
            </a:extLst>
          </p:cNvPr>
          <p:cNvSpPr txBox="1"/>
          <p:nvPr/>
        </p:nvSpPr>
        <p:spPr>
          <a:xfrm>
            <a:off x="8947010" y="774821"/>
            <a:ext cx="1512000" cy="216000"/>
          </a:xfrm>
          <a:prstGeom prst="rect">
            <a:avLst/>
          </a:prstGeom>
          <a:solidFill>
            <a:srgbClr val="F8FDFE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Key Learnings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145875E-C49C-BE3B-7D5C-26AC86D80686}"/>
              </a:ext>
            </a:extLst>
          </p:cNvPr>
          <p:cNvCxnSpPr>
            <a:cxnSpLocks/>
          </p:cNvCxnSpPr>
          <p:nvPr/>
        </p:nvCxnSpPr>
        <p:spPr>
          <a:xfrm>
            <a:off x="370483" y="882821"/>
            <a:ext cx="5976000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D750E8-99D8-C449-E2A4-736669E6E777}"/>
              </a:ext>
            </a:extLst>
          </p:cNvPr>
          <p:cNvSpPr txBox="1"/>
          <p:nvPr/>
        </p:nvSpPr>
        <p:spPr>
          <a:xfrm>
            <a:off x="2731559" y="774821"/>
            <a:ext cx="1253848" cy="216000"/>
          </a:xfrm>
          <a:prstGeom prst="rect">
            <a:avLst/>
          </a:prstGeom>
          <a:solidFill>
            <a:srgbClr val="F8FDFE"/>
          </a:solidFill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3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Agentic Stack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AD32CBC8-F97F-7CF4-BF8B-CD923F1E7D38}"/>
              </a:ext>
            </a:extLst>
          </p:cNvPr>
          <p:cNvSpPr/>
          <p:nvPr/>
        </p:nvSpPr>
        <p:spPr>
          <a:xfrm>
            <a:off x="1638154" y="3997590"/>
            <a:ext cx="4761106" cy="91199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A7F2ED9B-5BB1-E22C-D71C-9902E80EB54B}"/>
              </a:ext>
            </a:extLst>
          </p:cNvPr>
          <p:cNvSpPr/>
          <p:nvPr/>
        </p:nvSpPr>
        <p:spPr>
          <a:xfrm>
            <a:off x="1638154" y="3097110"/>
            <a:ext cx="4761106" cy="81317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654F8465-D400-D4B6-8123-46F6CDC2822C}"/>
              </a:ext>
            </a:extLst>
          </p:cNvPr>
          <p:cNvSpPr/>
          <p:nvPr/>
        </p:nvSpPr>
        <p:spPr>
          <a:xfrm>
            <a:off x="317707" y="1246831"/>
            <a:ext cx="1225238" cy="454227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4CC1C92D-2649-9103-DB41-37623CC70D11}"/>
              </a:ext>
            </a:extLst>
          </p:cNvPr>
          <p:cNvSpPr/>
          <p:nvPr/>
        </p:nvSpPr>
        <p:spPr>
          <a:xfrm>
            <a:off x="1638154" y="4989830"/>
            <a:ext cx="4761106" cy="81317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34453BB-7D6B-FDFC-6FED-363A6AB84E11}"/>
              </a:ext>
            </a:extLst>
          </p:cNvPr>
          <p:cNvSpPr/>
          <p:nvPr/>
        </p:nvSpPr>
        <p:spPr>
          <a:xfrm>
            <a:off x="1638154" y="2175671"/>
            <a:ext cx="4761106" cy="81317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1D2BFF0C-AA7B-0E93-9ACC-550511A5E108}"/>
              </a:ext>
            </a:extLst>
          </p:cNvPr>
          <p:cNvSpPr/>
          <p:nvPr/>
        </p:nvSpPr>
        <p:spPr>
          <a:xfrm>
            <a:off x="1638154" y="1266752"/>
            <a:ext cx="4761106" cy="841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700BDB61-9683-6867-F92D-76FF609AA4A8}"/>
              </a:ext>
            </a:extLst>
          </p:cNvPr>
          <p:cNvSpPr/>
          <p:nvPr/>
        </p:nvSpPr>
        <p:spPr>
          <a:xfrm>
            <a:off x="1948999" y="1519069"/>
            <a:ext cx="306369" cy="29861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4BA60793-6E8E-4BE5-CA67-5255E4ED256B}"/>
              </a:ext>
            </a:extLst>
          </p:cNvPr>
          <p:cNvSpPr txBox="1"/>
          <p:nvPr/>
        </p:nvSpPr>
        <p:spPr>
          <a:xfrm>
            <a:off x="1638154" y="1246832"/>
            <a:ext cx="476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CF604563-8965-5283-4C19-31278C23C262}"/>
              </a:ext>
            </a:extLst>
          </p:cNvPr>
          <p:cNvSpPr txBox="1"/>
          <p:nvPr/>
        </p:nvSpPr>
        <p:spPr>
          <a:xfrm>
            <a:off x="1568663" y="1893389"/>
            <a:ext cx="1096068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Supervisor Agent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55561FF5-1CDB-5E1A-D1C0-00CFA0144607}"/>
              </a:ext>
            </a:extLst>
          </p:cNvPr>
          <p:cNvSpPr/>
          <p:nvPr/>
        </p:nvSpPr>
        <p:spPr>
          <a:xfrm>
            <a:off x="2933146" y="1519069"/>
            <a:ext cx="306369" cy="29861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5C7C3C76-D2DC-D563-7352-F022FC33FCA4}"/>
              </a:ext>
            </a:extLst>
          </p:cNvPr>
          <p:cNvSpPr txBox="1"/>
          <p:nvPr/>
        </p:nvSpPr>
        <p:spPr>
          <a:xfrm>
            <a:off x="2556641" y="1893389"/>
            <a:ext cx="108840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Collector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020B47B9-C32B-5C77-2820-F6C7946D0EEE}"/>
              </a:ext>
            </a:extLst>
          </p:cNvPr>
          <p:cNvSpPr txBox="1"/>
          <p:nvPr/>
        </p:nvSpPr>
        <p:spPr>
          <a:xfrm>
            <a:off x="1667461" y="2135827"/>
            <a:ext cx="474156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 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80062950-1275-2B5A-DE04-567F54CC5447}"/>
              </a:ext>
            </a:extLst>
          </p:cNvPr>
          <p:cNvSpPr txBox="1"/>
          <p:nvPr/>
        </p:nvSpPr>
        <p:spPr>
          <a:xfrm>
            <a:off x="1638154" y="4998934"/>
            <a:ext cx="4761106" cy="300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 &amp; OBSERVABILITY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67EF41BC-5BB3-585A-5BE8-124AC26CDBD6}"/>
              </a:ext>
            </a:extLst>
          </p:cNvPr>
          <p:cNvSpPr txBox="1"/>
          <p:nvPr/>
        </p:nvSpPr>
        <p:spPr>
          <a:xfrm>
            <a:off x="1638154" y="3097109"/>
            <a:ext cx="4761106" cy="30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LLMs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BC1CD4DC-4C4A-3D25-C960-F08D13427967}"/>
              </a:ext>
            </a:extLst>
          </p:cNvPr>
          <p:cNvSpPr txBox="1"/>
          <p:nvPr/>
        </p:nvSpPr>
        <p:spPr>
          <a:xfrm>
            <a:off x="1638154" y="4009584"/>
            <a:ext cx="4761106" cy="30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LAYER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AE39278C-CCEF-6C4D-A01B-A46466035138}"/>
              </a:ext>
            </a:extLst>
          </p:cNvPr>
          <p:cNvSpPr txBox="1"/>
          <p:nvPr/>
        </p:nvSpPr>
        <p:spPr>
          <a:xfrm>
            <a:off x="1491765" y="2732381"/>
            <a:ext cx="140739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Agentic web search</a:t>
            </a:r>
            <a:endParaRPr lang="en-US"/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1D70605-9C4F-C9DD-7923-FA8599CFE7B2}"/>
              </a:ext>
            </a:extLst>
          </p:cNvPr>
          <p:cNvSpPr txBox="1"/>
          <p:nvPr/>
        </p:nvSpPr>
        <p:spPr>
          <a:xfrm>
            <a:off x="5413304" y="2734455"/>
            <a:ext cx="98243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Dynamic routing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E3E29CAB-9798-0747-7370-B3F20D4F80EE}"/>
              </a:ext>
            </a:extLst>
          </p:cNvPr>
          <p:cNvSpPr txBox="1"/>
          <p:nvPr/>
        </p:nvSpPr>
        <p:spPr>
          <a:xfrm rot="16200000">
            <a:off x="-1819539" y="3383452"/>
            <a:ext cx="4640576" cy="30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AGENTIC FRAMEWORK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6D668C1F-D6A3-FFCC-ADF5-EEA7ABF58ADF}"/>
              </a:ext>
            </a:extLst>
          </p:cNvPr>
          <p:cNvSpPr txBox="1"/>
          <p:nvPr/>
        </p:nvSpPr>
        <p:spPr>
          <a:xfrm>
            <a:off x="4140450" y="4629552"/>
            <a:ext cx="139250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Json Exports</a:t>
            </a:r>
            <a:endParaRPr lang="en-US"/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864873D-7EF6-E862-2FEB-3C93DD88539E}"/>
              </a:ext>
            </a:extLst>
          </p:cNvPr>
          <p:cNvSpPr txBox="1"/>
          <p:nvPr/>
        </p:nvSpPr>
        <p:spPr>
          <a:xfrm>
            <a:off x="1747323" y="4610014"/>
            <a:ext cx="113815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  <a:ea typeface="Calibri"/>
                <a:cs typeface="Calibri"/>
              </a:rPr>
              <a:t>Agent Shared Context</a:t>
            </a:r>
            <a:endParaRPr lang="en-US"/>
          </a:p>
        </p:txBody>
      </p:sp>
      <p:sp>
        <p:nvSpPr>
          <p:cNvPr id="1063" name="AutoShape 16" descr="DeepEval Logo">
            <a:extLst>
              <a:ext uri="{FF2B5EF4-FFF2-40B4-BE49-F238E27FC236}">
                <a16:creationId xmlns:a16="http://schemas.microsoft.com/office/drawing/2014/main" id="{170330F4-8400-0115-FC22-28FFAA7A79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948" y="3258091"/>
            <a:ext cx="300647" cy="29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30F9A2ED-2B9E-2F15-E4EA-740AB91CFF66}"/>
              </a:ext>
            </a:extLst>
          </p:cNvPr>
          <p:cNvSpPr txBox="1"/>
          <p:nvPr/>
        </p:nvSpPr>
        <p:spPr>
          <a:xfrm>
            <a:off x="2547452" y="2734455"/>
            <a:ext cx="122523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  <a:ea typeface="Calibri"/>
                <a:cs typeface="Calibri"/>
              </a:rPr>
              <a:t>Stateful context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30786D9C-CD09-A948-2941-21D1F7130330}"/>
              </a:ext>
            </a:extLst>
          </p:cNvPr>
          <p:cNvSpPr txBox="1"/>
          <p:nvPr/>
        </p:nvSpPr>
        <p:spPr>
          <a:xfrm>
            <a:off x="4430988" y="2734455"/>
            <a:ext cx="110037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Bing Search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7D8A11D3-3B6B-FD22-276E-354AEDDF6F22}"/>
              </a:ext>
            </a:extLst>
          </p:cNvPr>
          <p:cNvSpPr txBox="1"/>
          <p:nvPr/>
        </p:nvSpPr>
        <p:spPr>
          <a:xfrm>
            <a:off x="3572432" y="2734455"/>
            <a:ext cx="894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Guardrails</a:t>
            </a:r>
          </a:p>
        </p:txBody>
      </p:sp>
      <p:pic>
        <p:nvPicPr>
          <p:cNvPr id="1068" name="Graphic 1067" descr="Workflow with solid fill">
            <a:extLst>
              <a:ext uri="{FF2B5EF4-FFF2-40B4-BE49-F238E27FC236}">
                <a16:creationId xmlns:a16="http://schemas.microsoft.com/office/drawing/2014/main" id="{893367E2-5395-9C0F-0797-D9AABF039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3553" y="2440250"/>
            <a:ext cx="344741" cy="336013"/>
          </a:xfrm>
          <a:prstGeom prst="rect">
            <a:avLst/>
          </a:prstGeom>
        </p:spPr>
      </p:pic>
      <p:pic>
        <p:nvPicPr>
          <p:cNvPr id="1069" name="Graphic 1068" descr="Playbook with solid fill">
            <a:extLst>
              <a:ext uri="{FF2B5EF4-FFF2-40B4-BE49-F238E27FC236}">
                <a16:creationId xmlns:a16="http://schemas.microsoft.com/office/drawing/2014/main" id="{EB7F75CD-4A03-3132-6C8F-BE10C5FBA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150" y="2371865"/>
            <a:ext cx="344741" cy="336013"/>
          </a:xfrm>
          <a:prstGeom prst="rect">
            <a:avLst/>
          </a:prstGeom>
        </p:spPr>
      </p:pic>
      <p:pic>
        <p:nvPicPr>
          <p:cNvPr id="1070" name="Graphic 1069" descr="Shield Tick with solid fill">
            <a:extLst>
              <a:ext uri="{FF2B5EF4-FFF2-40B4-BE49-F238E27FC236}">
                <a16:creationId xmlns:a16="http://schemas.microsoft.com/office/drawing/2014/main" id="{03564732-A2F2-D762-94C3-57220327B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2223" y="2387527"/>
            <a:ext cx="324404" cy="333997"/>
          </a:xfrm>
          <a:prstGeom prst="rect">
            <a:avLst/>
          </a:prstGeom>
        </p:spPr>
      </p:pic>
      <p:pic>
        <p:nvPicPr>
          <p:cNvPr id="1071" name="Graphic 1070" descr="Speech with solid fill">
            <a:extLst>
              <a:ext uri="{FF2B5EF4-FFF2-40B4-BE49-F238E27FC236}">
                <a16:creationId xmlns:a16="http://schemas.microsoft.com/office/drawing/2014/main" id="{7FA3B7B5-1D2D-456C-52C3-9EEDEE83C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5500" y="2369833"/>
            <a:ext cx="429603" cy="369386"/>
          </a:xfrm>
          <a:prstGeom prst="rect">
            <a:avLst/>
          </a:prstGeom>
        </p:spPr>
      </p:pic>
      <p:sp>
        <p:nvSpPr>
          <p:cNvPr id="1073" name="TextBox 1072">
            <a:extLst>
              <a:ext uri="{FF2B5EF4-FFF2-40B4-BE49-F238E27FC236}">
                <a16:creationId xmlns:a16="http://schemas.microsoft.com/office/drawing/2014/main" id="{BA7160C1-F070-3BCE-8EA0-A9480550279B}"/>
              </a:ext>
            </a:extLst>
          </p:cNvPr>
          <p:cNvSpPr txBox="1"/>
          <p:nvPr/>
        </p:nvSpPr>
        <p:spPr>
          <a:xfrm>
            <a:off x="2051683" y="5323933"/>
            <a:ext cx="99892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AWS Lambda functions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BE786E08-9100-3760-4B9B-7E6AB44FD2B4}"/>
              </a:ext>
            </a:extLst>
          </p:cNvPr>
          <p:cNvSpPr/>
          <p:nvPr/>
        </p:nvSpPr>
        <p:spPr>
          <a:xfrm>
            <a:off x="3881104" y="1519069"/>
            <a:ext cx="306369" cy="29861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78C4B1-60F3-C253-18CE-11FE0FD3BB37}"/>
              </a:ext>
            </a:extLst>
          </p:cNvPr>
          <p:cNvSpPr txBox="1"/>
          <p:nvPr/>
        </p:nvSpPr>
        <p:spPr>
          <a:xfrm>
            <a:off x="3364587" y="1893389"/>
            <a:ext cx="131958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Coordinator Agent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FF9EEF5-5DFF-756D-AA98-40F5D6D0ED9E}"/>
              </a:ext>
            </a:extLst>
          </p:cNvPr>
          <p:cNvSpPr/>
          <p:nvPr/>
        </p:nvSpPr>
        <p:spPr>
          <a:xfrm>
            <a:off x="4768999" y="1519069"/>
            <a:ext cx="306369" cy="29861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D5418647-55DF-9683-F25A-710C82F0201F}"/>
              </a:ext>
            </a:extLst>
          </p:cNvPr>
          <p:cNvSpPr txBox="1"/>
          <p:nvPr/>
        </p:nvSpPr>
        <p:spPr>
          <a:xfrm>
            <a:off x="4441967" y="1893389"/>
            <a:ext cx="98946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  <a:ea typeface="Calibri"/>
                <a:cs typeface="Calibri"/>
              </a:rPr>
              <a:t>Fact checker Agent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16A1BE69-ECC5-3E0C-8A05-1BE6B8F99989}"/>
              </a:ext>
            </a:extLst>
          </p:cNvPr>
          <p:cNvSpPr/>
          <p:nvPr/>
        </p:nvSpPr>
        <p:spPr>
          <a:xfrm>
            <a:off x="5677596" y="1519069"/>
            <a:ext cx="306369" cy="298613"/>
          </a:xfrm>
          <a:prstGeom prst="ellipse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B4916791-DFD0-C2F0-4134-1C90DCD33681}"/>
              </a:ext>
            </a:extLst>
          </p:cNvPr>
          <p:cNvSpPr txBox="1"/>
          <p:nvPr/>
        </p:nvSpPr>
        <p:spPr>
          <a:xfrm>
            <a:off x="5350564" y="1893389"/>
            <a:ext cx="98946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Underwriter Agent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TextBox 34">
            <a:extLst>
              <a:ext uri="{FF2B5EF4-FFF2-40B4-BE49-F238E27FC236}">
                <a16:creationId xmlns:a16="http://schemas.microsoft.com/office/drawing/2014/main" id="{50942C8B-6816-DDEC-DC9D-87F04294D5DD}"/>
              </a:ext>
            </a:extLst>
          </p:cNvPr>
          <p:cNvSpPr txBox="1"/>
          <p:nvPr/>
        </p:nvSpPr>
        <p:spPr>
          <a:xfrm>
            <a:off x="2903681" y="4617708"/>
            <a:ext cx="132929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Caching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64FA0A-AA96-682F-80C6-60AE2F450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942" y="4272031"/>
            <a:ext cx="358051" cy="34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Launching LangGraph Templates">
            <a:extLst>
              <a:ext uri="{FF2B5EF4-FFF2-40B4-BE49-F238E27FC236}">
                <a16:creationId xmlns:a16="http://schemas.microsoft.com/office/drawing/2014/main" id="{86353E75-F4E7-5DAD-EDD8-1D1BC85C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1816" y="4470070"/>
            <a:ext cx="1647513" cy="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🦜🕸️ 랭그래프 (LangGraph): 효율적인 AI 워크플로우 구축">
            <a:extLst>
              <a:ext uri="{FF2B5EF4-FFF2-40B4-BE49-F238E27FC236}">
                <a16:creationId xmlns:a16="http://schemas.microsoft.com/office/drawing/2014/main" id="{E5D8A659-BCA7-6E5B-7EF0-03F9AE124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6422" y="2261945"/>
            <a:ext cx="1647513" cy="25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5F4C7E-1006-790B-8EB4-DC352569F253}"/>
              </a:ext>
            </a:extLst>
          </p:cNvPr>
          <p:cNvSpPr/>
          <p:nvPr/>
        </p:nvSpPr>
        <p:spPr>
          <a:xfrm>
            <a:off x="164796" y="110169"/>
            <a:ext cx="5908758" cy="210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Case Study </a:t>
            </a:r>
            <a:r>
              <a:rPr lang="en-US" sz="1400" b="1" kern="0">
                <a:solidFill>
                  <a:srgbClr val="005071"/>
                </a:solidFill>
                <a:latin typeface="Calibri"/>
                <a:ea typeface="Calibri"/>
                <a:cs typeface="Calibri"/>
              </a:rPr>
              <a:t> 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5071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– Leading US-based </a:t>
            </a:r>
            <a:r>
              <a:rPr lang="en-US" sz="1400" b="1" kern="0">
                <a:solidFill>
                  <a:srgbClr val="005071"/>
                </a:solidFill>
                <a:latin typeface="Calibri"/>
                <a:ea typeface="Calibri"/>
                <a:cs typeface="Calibri"/>
              </a:rPr>
              <a:t>Insurance Provider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507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le 62">
            <a:extLst>
              <a:ext uri="{FF2B5EF4-FFF2-40B4-BE49-F238E27FC236}">
                <a16:creationId xmlns:a16="http://schemas.microsoft.com/office/drawing/2014/main" id="{19CC9E32-E11A-3167-FE95-007108CE9F07}"/>
              </a:ext>
            </a:extLst>
          </p:cNvPr>
          <p:cNvSpPr txBox="1">
            <a:spLocks/>
          </p:cNvSpPr>
          <p:nvPr/>
        </p:nvSpPr>
        <p:spPr>
          <a:xfrm>
            <a:off x="209433" y="438612"/>
            <a:ext cx="11922000" cy="5703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defRPr/>
            </a:pPr>
            <a:r>
              <a:rPr lang="en-US" sz="2400" b="1">
                <a:solidFill>
                  <a:srgbClr val="FB4D0A"/>
                </a:solidFill>
                <a:latin typeface="Calibri Light" panose="020F0302020204030204"/>
              </a:rPr>
              <a:t>Multi Agent Cyber Rating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lang="en-US" sz="2400" b="1">
                <a:solidFill>
                  <a:srgbClr val="FB4D0A"/>
                </a:solidFill>
                <a:latin typeface="Calibri Light" panose="020F0302020204030204"/>
              </a:rPr>
              <a:t>modifier - Enabling faster Underwriting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22" name="Picture 21" descr="A blue and black logo&#10;&#10;AI-generated content may be incorrect.">
            <a:extLst>
              <a:ext uri="{FF2B5EF4-FFF2-40B4-BE49-F238E27FC236}">
                <a16:creationId xmlns:a16="http://schemas.microsoft.com/office/drawing/2014/main" id="{5EA8ED60-A467-01A8-3A65-C4FFDAC3AC0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1943" t="-135" r="28929" b="3064"/>
          <a:stretch>
            <a:fillRect/>
          </a:stretch>
        </p:blipFill>
        <p:spPr>
          <a:xfrm>
            <a:off x="2408322" y="3329633"/>
            <a:ext cx="874359" cy="451700"/>
          </a:xfrm>
          <a:prstGeom prst="rect">
            <a:avLst/>
          </a:prstGeom>
        </p:spPr>
      </p:pic>
      <p:pic>
        <p:nvPicPr>
          <p:cNvPr id="25" name="Picture 24" descr="A blue and green logo&#10;&#10;AI-generated content may be incorrect.">
            <a:extLst>
              <a:ext uri="{FF2B5EF4-FFF2-40B4-BE49-F238E27FC236}">
                <a16:creationId xmlns:a16="http://schemas.microsoft.com/office/drawing/2014/main" id="{05BA1807-967D-240E-7E6F-40C6C72A5D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6692" y="2358455"/>
            <a:ext cx="309361" cy="359834"/>
          </a:xfrm>
          <a:prstGeom prst="rect">
            <a:avLst/>
          </a:prstGeom>
        </p:spPr>
      </p:pic>
      <p:pic>
        <p:nvPicPr>
          <p:cNvPr id="28" name="Picture 8" descr="Vertex AI - AI Infrastructure Alliance">
            <a:extLst>
              <a:ext uri="{FF2B5EF4-FFF2-40B4-BE49-F238E27FC236}">
                <a16:creationId xmlns:a16="http://schemas.microsoft.com/office/drawing/2014/main" id="{2B59C494-FE2D-2A3A-4B7F-68043284C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744" y="3347620"/>
            <a:ext cx="1157508" cy="40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A blue logo with black text&#10;&#10;AI-generated content may be incorrect.">
            <a:extLst>
              <a:ext uri="{FF2B5EF4-FFF2-40B4-BE49-F238E27FC236}">
                <a16:creationId xmlns:a16="http://schemas.microsoft.com/office/drawing/2014/main" id="{0D081C7F-1107-EFE1-1E0A-19F44988929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0804" t="26674" r="21321" b="27238"/>
          <a:stretch>
            <a:fillRect/>
          </a:stretch>
        </p:blipFill>
        <p:spPr>
          <a:xfrm>
            <a:off x="3098257" y="4316754"/>
            <a:ext cx="873238" cy="281479"/>
          </a:xfrm>
          <a:prstGeom prst="rect">
            <a:avLst/>
          </a:prstGeom>
        </p:spPr>
      </p:pic>
      <p:pic>
        <p:nvPicPr>
          <p:cNvPr id="31" name="Picture 30" descr="A blue and black text with a circle&#10;&#10;AI-generated content may be incorrect.">
            <a:extLst>
              <a:ext uri="{FF2B5EF4-FFF2-40B4-BE49-F238E27FC236}">
                <a16:creationId xmlns:a16="http://schemas.microsoft.com/office/drawing/2014/main" id="{5027469F-C7EC-CBD1-5619-CC12EF5BD5E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2062" t="27155" r="25617" b="25342"/>
          <a:stretch>
            <a:fillRect/>
          </a:stretch>
        </p:blipFill>
        <p:spPr>
          <a:xfrm>
            <a:off x="3442404" y="5317995"/>
            <a:ext cx="836529" cy="351996"/>
          </a:xfrm>
          <a:prstGeom prst="rect">
            <a:avLst/>
          </a:prstGeom>
        </p:spPr>
      </p:pic>
      <p:pic>
        <p:nvPicPr>
          <p:cNvPr id="32" name="Picture 31" descr="A orange logo with a white background&#10;&#10;AI-generated content may be incorrect.">
            <a:extLst>
              <a:ext uri="{FF2B5EF4-FFF2-40B4-BE49-F238E27FC236}">
                <a16:creationId xmlns:a16="http://schemas.microsoft.com/office/drawing/2014/main" id="{6665DCCF-2D88-0515-AC75-7D6A5A82186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7744" t="7464" r="17082" b="7257"/>
          <a:stretch>
            <a:fillRect/>
          </a:stretch>
        </p:blipFill>
        <p:spPr>
          <a:xfrm>
            <a:off x="1938815" y="5347355"/>
            <a:ext cx="312701" cy="280738"/>
          </a:xfrm>
          <a:prstGeom prst="rect">
            <a:avLst/>
          </a:prstGeom>
        </p:spPr>
      </p:pic>
      <p:pic>
        <p:nvPicPr>
          <p:cNvPr id="33" name="Picture 32" descr="A blue whale with a blue tail and a blue box on it&#10;&#10;AI-generated content may be incorrect.">
            <a:extLst>
              <a:ext uri="{FF2B5EF4-FFF2-40B4-BE49-F238E27FC236}">
                <a16:creationId xmlns:a16="http://schemas.microsoft.com/office/drawing/2014/main" id="{398878B2-91E4-87F1-B206-2653E4A1EFB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8309" y="5209198"/>
            <a:ext cx="703387" cy="5524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0363567-3475-268E-2348-82F2B865B36A}"/>
              </a:ext>
            </a:extLst>
          </p:cNvPr>
          <p:cNvSpPr txBox="1"/>
          <p:nvPr/>
        </p:nvSpPr>
        <p:spPr>
          <a:xfrm>
            <a:off x="5334144" y="5294625"/>
            <a:ext cx="99892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Docker containerization</a:t>
            </a:r>
            <a:endParaRPr lang="en-US" sz="800" err="1">
              <a:ea typeface="Calibri"/>
              <a:cs typeface="Calibri"/>
            </a:endParaRPr>
          </a:p>
        </p:txBody>
      </p:sp>
      <p:pic>
        <p:nvPicPr>
          <p:cNvPr id="37" name="Picture 36" descr="Outline black line icon of a computer&#10;&#10;AI-generated content may be incorrect.">
            <a:extLst>
              <a:ext uri="{FF2B5EF4-FFF2-40B4-BE49-F238E27FC236}">
                <a16:creationId xmlns:a16="http://schemas.microsoft.com/office/drawing/2014/main" id="{1DB0ADA1-7F38-7FAA-72BF-E4DC631E234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2300" t="14384" r="23252" b="32977"/>
          <a:stretch>
            <a:fillRect/>
          </a:stretch>
        </p:blipFill>
        <p:spPr>
          <a:xfrm>
            <a:off x="4584924" y="4307997"/>
            <a:ext cx="383180" cy="317748"/>
          </a:xfrm>
          <a:prstGeom prst="rect">
            <a:avLst/>
          </a:prstGeom>
        </p:spPr>
      </p:pic>
      <p:pic>
        <p:nvPicPr>
          <p:cNvPr id="38" name="Picture 37" descr="A logo of a group of cubes&#10;&#10;AI-generated content may be incorrect.">
            <a:extLst>
              <a:ext uri="{FF2B5EF4-FFF2-40B4-BE49-F238E27FC236}">
                <a16:creationId xmlns:a16="http://schemas.microsoft.com/office/drawing/2014/main" id="{EC2FA33D-A4D7-F387-EB51-B1A0C6D48E6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34683" t="11552" r="34164" b="10536"/>
          <a:stretch>
            <a:fillRect/>
          </a:stretch>
        </p:blipFill>
        <p:spPr>
          <a:xfrm>
            <a:off x="5686283" y="4265115"/>
            <a:ext cx="317280" cy="34134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7FA14EB-9BC3-A40E-5BD9-82B5E10C6207}"/>
              </a:ext>
            </a:extLst>
          </p:cNvPr>
          <p:cNvSpPr txBox="1"/>
          <p:nvPr/>
        </p:nvSpPr>
        <p:spPr>
          <a:xfrm>
            <a:off x="5146681" y="4619783"/>
            <a:ext cx="139250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800">
                <a:solidFill>
                  <a:srgbClr val="000000"/>
                </a:solidFill>
                <a:latin typeface="Calibri" panose="020F0502020204030204"/>
              </a:rPr>
              <a:t>File system/logging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269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 Powerpoint Template.potx" id="{06A60C2A-3E76-46D1-B108-69B0327727A9}" vid="{C5B5F011-E16B-4936-AD32-F2458AF2BD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12FB1F2E9314A91A08CCECF9BFDAA" ma:contentTypeVersion="3" ma:contentTypeDescription="Create a new document." ma:contentTypeScope="" ma:versionID="413c420c1800241f2cee950b4ae454dd">
  <xsd:schema xmlns:xsd="http://www.w3.org/2001/XMLSchema" xmlns:xs="http://www.w3.org/2001/XMLSchema" xmlns:p="http://schemas.microsoft.com/office/2006/metadata/properties" xmlns:ns2="aa069a30-f8af-4d65-b4a7-b92186a56167" targetNamespace="http://schemas.microsoft.com/office/2006/metadata/properties" ma:root="true" ma:fieldsID="d5d777d8bbe53a2829c1324784bcb557" ns2:_="">
    <xsd:import namespace="aa069a30-f8af-4d65-b4a7-b92186a561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69a30-f8af-4d65-b4a7-b92186a561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860B3A-9F2D-4DD6-A3F4-0A31686550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3B1793-96D6-4B09-B4E0-C0AACB5AF1E8}">
  <ds:schemaRefs>
    <ds:schemaRef ds:uri="aa069a30-f8af-4d65-b4a7-b92186a561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8C551B9-CD47-445A-AE4B-3E533736AC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3_Office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Kushwaha</dc:creator>
  <cp:revision>2</cp:revision>
  <dcterms:created xsi:type="dcterms:W3CDTF">2026-04-02T06:56:29Z</dcterms:created>
  <dcterms:modified xsi:type="dcterms:W3CDTF">2026-08-12T05:57:03Z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0x010100DFC12FB1F2E9314A91A08CCECF9BFDAA</vt:lpwstr>
  </property>
</Properties>
</file>