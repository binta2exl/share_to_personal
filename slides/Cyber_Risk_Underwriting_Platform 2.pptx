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85B33D-7953-4069-9C9E-FEE3E2E2F829}" v="136" dt="2026-08-14T06:31:50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E493E-F783-4C85-B313-DDEEDDD64C5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5758A4-6E75-4953-952C-33375927F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582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99F2-B04D-CE6F-C905-FBFFE211A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D3F70D-5998-8CE2-F9CE-6A65772C0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0F768-2C08-E5C9-6AFD-CB69F865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0626-27BC-FD08-9AFB-B1C39ECD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2C14D-CBA7-C1F1-6302-3A5A6CD8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184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69637-5FB7-DA81-0ADB-52AE4640F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1B54-792B-454B-79D4-0C7BFFC09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7CF93-1A91-3770-DE7C-EEDA6E744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301E7-2B65-ED0B-4075-1711D7C9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C5926-6723-2FF3-0230-31E0954B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9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AE33C-5783-8808-5C3D-36567B2C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5EEFB-6428-8436-F5AE-42F6A33BA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232A2-92C6-9EF5-A99E-61DDEC63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E96FD-34F8-3377-B944-78F6DBB1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0A462-EC0F-F35C-51F2-74ED39857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01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1707-5B16-AD68-5F3E-74C376E08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3E80C-DACC-CCDB-0055-2B88F2AE6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88723-040F-A5E8-E82B-029BDC2A2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39C30-4D37-3C64-1626-9FBEA000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667D8-B953-5713-7EC7-CBFCC42E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56C5B-EB5B-66DE-90F8-7031ED5DC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541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5705-88C4-D605-34AB-B795607E1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EF3FC-B3C9-40E6-E607-BEDF1E199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46896-4C26-3197-D05F-33BF9F8D0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8C89F2-F5C4-79E9-CB1E-F20233D4C4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B1EF8-A482-6476-6B61-F75C77C5A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BCD364-409E-FD83-586E-E5AFC229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5A789C-D062-92C8-4764-7F7AEC78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879262-6538-E063-36F3-898A6B4D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49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2ECCA-31A1-D473-EA3F-C16D698F9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686BA-D0E2-DE0C-C0FC-CED36D864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010D1-D5CE-A6FE-B841-392FBAC0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F2016-25AB-BC4E-DAC1-DFFFDC12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00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13DA79-2A8A-4551-0597-1338950E8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F007AF-A668-6946-AFBB-E62FEC44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84624-3B90-C7B5-8CE5-69DAD9B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03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B2BB-D29A-91A9-83C6-12223FC7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779E0-D664-A6E1-3957-5F1C9C1E1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05157-5A01-BE2B-A146-F4C20B598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8C04A-0062-6A58-AD95-2420FB3D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4A229-91F0-2E09-7BDF-7078EAD0A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524D3-A870-A47E-D9C1-9AA72E46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83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4126D-6CEA-9EBB-A043-E02DFA2AA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E4BDA-D77D-5B05-D64C-F16CCB59F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92432-A9DA-9120-C34D-4D44A670A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47EA3-A07D-EBB5-D25B-7AE82A4E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D49CC-54A6-C123-50DE-69EF280C6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76DEA-32B1-0F45-9219-CF4B27EB6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252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29DBE-6033-71D0-92C5-EA7A44B89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77753-7427-39A2-D2F0-2625248F5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A6B26-0B15-63F3-CF94-40E35BC8B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206A8-5CD3-479F-3D96-B80EE528A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C8CD4-9411-4D10-2486-FEC1D2FD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406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AC8BF3-7540-0D6C-BFC8-E673A3403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A0770-90DA-CEBF-3153-428337432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1860A-E062-83BA-FA06-EC23398F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23438-DAD3-E85A-DE75-05438D601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290FF-1366-D295-500A-901C5C6B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582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©2024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8119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AD305-D114-AE91-CF4F-2DF503F74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BD188-7D2F-F3EB-686F-BB983986E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CF958-9F69-0B96-27AF-F575EA132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0C1CD-1F13-F516-06AA-5FF8C63C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0EE46-C993-F1FB-9CA3-E2EBC04E4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57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ard_101"/>
          <p:cNvSpPr/>
          <p:nvPr/>
        </p:nvSpPr>
        <p:spPr>
          <a:xfrm>
            <a:off x="731520" y="731520"/>
            <a:ext cx="10725912" cy="539496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</p:spPr>
      </p:sp>
      <p:sp>
        <p:nvSpPr>
          <p:cNvPr id="102" name="Badge_102"/>
          <p:cNvSpPr/>
          <p:nvPr/>
        </p:nvSpPr>
        <p:spPr>
          <a:xfrm>
            <a:off x="1188720" y="1188720"/>
            <a:ext cx="2926080" cy="329184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9525">
            <a:solidFill>
              <a:srgbClr val="60A5FA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50" b="1">
                <a:solidFill>
                  <a:srgbClr val="60A5FA"/>
                </a:solidFill>
                <a:latin typeface="Segoe UI"/>
              </a:rPr>
              <a:t>EXL DIGITAL ACCELERATOR • PRODUCTION POC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1188720" y="1691640"/>
            <a:ext cx="9784080" cy="12801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3400" b="1" i="0">
                <a:solidFill>
                  <a:srgbClr val="FFFFFF"/>
                </a:solidFill>
                <a:latin typeface="Segoe UI"/>
              </a:rPr>
              <a:t>Autonomous Multi-Agent Cyber Risk</a:t>
            </a:r>
          </a:p>
          <a:p>
            <a:pPr algn="l">
              <a:buNone/>
            </a:pPr>
            <a:r>
              <a:rPr lang="en-US" sz="3400" b="1" i="0">
                <a:solidFill>
                  <a:srgbClr val="38BDF8"/>
                </a:solidFill>
                <a:latin typeface="Segoe UI"/>
              </a:rPr>
              <a:t>Underwriting Platform</a:t>
            </a:r>
          </a:p>
        </p:txBody>
      </p:sp>
      <p:sp>
        <p:nvSpPr>
          <p:cNvPr id="104" name="TextBox_104"/>
          <p:cNvSpPr txBox="1"/>
          <p:nvPr/>
        </p:nvSpPr>
        <p:spPr>
          <a:xfrm>
            <a:off x="1188720" y="3063240"/>
            <a:ext cx="9784080" cy="6400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300" b="0" i="0">
                <a:solidFill>
                  <a:srgbClr val="94A3B8"/>
                </a:solidFill>
                <a:latin typeface="Segoe UI"/>
              </a:rPr>
              <a:t>Transforming commercial cyber insurance research, fact-checking, and rating modifier evaluation</a:t>
            </a:r>
          </a:p>
          <a:p>
            <a:pPr algn="l">
              <a:buNone/>
            </a:pPr>
            <a:r>
              <a:rPr lang="en-US" sz="1300" b="0" i="0">
                <a:solidFill>
                  <a:srgbClr val="CBD5E1"/>
                </a:solidFill>
                <a:latin typeface="Segoe UI"/>
              </a:rPr>
              <a:t>from 4 hours of manual effort to under 90 seconds using LangGraph &amp; Deterministic Actuarial Scoring.</a:t>
            </a:r>
          </a:p>
        </p:txBody>
      </p:sp>
      <p:sp>
        <p:nvSpPr>
          <p:cNvPr id="105" name="Card_105"/>
          <p:cNvSpPr/>
          <p:nvPr/>
        </p:nvSpPr>
        <p:spPr>
          <a:xfrm>
            <a:off x="1188720" y="3931920"/>
            <a:ext cx="2331720" cy="1554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</p:sp>
      <p:sp>
        <p:nvSpPr>
          <p:cNvPr id="106" name="Badge_106"/>
          <p:cNvSpPr/>
          <p:nvPr/>
        </p:nvSpPr>
        <p:spPr>
          <a:xfrm>
            <a:off x="1325880" y="4069080"/>
            <a:ext cx="2057400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2563EB"/>
                </a:solidFill>
                <a:latin typeface="Segoe UI"/>
              </a:rPr>
              <a:t>LANGGRAPH MULTI-AGENT DAG</a:t>
            </a:r>
          </a:p>
        </p:txBody>
      </p:sp>
      <p:sp>
        <p:nvSpPr>
          <p:cNvPr id="107" name="TextBox_107"/>
          <p:cNvSpPr txBox="1"/>
          <p:nvPr/>
        </p:nvSpPr>
        <p:spPr>
          <a:xfrm>
            <a:off x="1325880" y="4480560"/>
            <a:ext cx="2057400" cy="82296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Segoe UI"/>
              </a:rPr>
              <a:t>10 Orchestrated Agents</a:t>
            </a:r>
          </a:p>
        </p:txBody>
      </p:sp>
      <p:sp>
        <p:nvSpPr>
          <p:cNvPr id="108" name="Card_108"/>
          <p:cNvSpPr/>
          <p:nvPr/>
        </p:nvSpPr>
        <p:spPr>
          <a:xfrm>
            <a:off x="3703320" y="3931920"/>
            <a:ext cx="2331720" cy="1554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</p:sp>
      <p:sp>
        <p:nvSpPr>
          <p:cNvPr id="109" name="Badge_109"/>
          <p:cNvSpPr/>
          <p:nvPr/>
        </p:nvSpPr>
        <p:spPr>
          <a:xfrm>
            <a:off x="3840480" y="4069080"/>
            <a:ext cx="2057400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9525">
            <a:solidFill>
              <a:srgbClr val="059669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ZERO HALLUCINATION MATH</a:t>
            </a:r>
          </a:p>
        </p:txBody>
      </p:sp>
      <p:sp>
        <p:nvSpPr>
          <p:cNvPr id="110" name="TextBox_110"/>
          <p:cNvSpPr txBox="1"/>
          <p:nvPr/>
        </p:nvSpPr>
        <p:spPr>
          <a:xfrm>
            <a:off x="3840480" y="4480560"/>
            <a:ext cx="2057400" cy="82296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Segoe UI"/>
              </a:rPr>
              <a:t>15 Codified Risk Modifiers</a:t>
            </a:r>
          </a:p>
        </p:txBody>
      </p:sp>
      <p:sp>
        <p:nvSpPr>
          <p:cNvPr id="111" name="Card_111"/>
          <p:cNvSpPr/>
          <p:nvPr/>
        </p:nvSpPr>
        <p:spPr>
          <a:xfrm>
            <a:off x="6217920" y="3931920"/>
            <a:ext cx="2331720" cy="1554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</p:sp>
      <p:sp>
        <p:nvSpPr>
          <p:cNvPr id="112" name="Badge_112"/>
          <p:cNvSpPr/>
          <p:nvPr/>
        </p:nvSpPr>
        <p:spPr>
          <a:xfrm>
            <a:off x="6355080" y="4069080"/>
            <a:ext cx="2057400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9525">
            <a:solidFill>
              <a:srgbClr val="7C3AED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7C3AED"/>
                </a:solidFill>
                <a:latin typeface="Segoe UI"/>
              </a:rPr>
              <a:t>LIVE REAL-TIME STREAMING</a:t>
            </a:r>
          </a:p>
        </p:txBody>
      </p:sp>
      <p:sp>
        <p:nvSpPr>
          <p:cNvPr id="113" name="TextBox_113"/>
          <p:cNvSpPr txBox="1"/>
          <p:nvPr/>
        </p:nvSpPr>
        <p:spPr>
          <a:xfrm>
            <a:off x="6355080" y="4480560"/>
            <a:ext cx="2057400" cy="82296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Segoe UI"/>
              </a:rPr>
              <a:t>FastAPI + React SSE</a:t>
            </a:r>
          </a:p>
        </p:txBody>
      </p:sp>
      <p:sp>
        <p:nvSpPr>
          <p:cNvPr id="114" name="Card_114"/>
          <p:cNvSpPr/>
          <p:nvPr/>
        </p:nvSpPr>
        <p:spPr>
          <a:xfrm>
            <a:off x="8732520" y="3931920"/>
            <a:ext cx="2331720" cy="1554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</p:sp>
      <p:sp>
        <p:nvSpPr>
          <p:cNvPr id="115" name="Badge_115"/>
          <p:cNvSpPr/>
          <p:nvPr/>
        </p:nvSpPr>
        <p:spPr>
          <a:xfrm>
            <a:off x="8869680" y="4069080"/>
            <a:ext cx="2057400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9525">
            <a:solidFill>
              <a:srgbClr val="D9770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D97706"/>
                </a:solidFill>
                <a:latin typeface="Segoe UI"/>
              </a:rPr>
              <a:t>99% TIME REDUCTION</a:t>
            </a:r>
          </a:p>
        </p:txBody>
      </p:sp>
      <p:sp>
        <p:nvSpPr>
          <p:cNvPr id="116" name="TextBox_116"/>
          <p:cNvSpPr txBox="1"/>
          <p:nvPr/>
        </p:nvSpPr>
        <p:spPr>
          <a:xfrm>
            <a:off x="8869680" y="4480560"/>
            <a:ext cx="2057400" cy="82296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Segoe UI"/>
              </a:rPr>
              <a:t>3-4 Hours → 90 Seconds</a:t>
            </a: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THE PROBLEM &amp; MARKET CONTEXT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The Underwriting Bottleneck in Commercial Cyber Insurance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Rapid market growth is outstripping manual research capacity, creating severe underwriting leakage and delays.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5" name="Badge_105"/>
          <p:cNvSpPr/>
          <p:nvPr/>
        </p:nvSpPr>
        <p:spPr>
          <a:xfrm>
            <a:off x="1005840" y="1920240"/>
            <a:ext cx="1463040" cy="27432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50" b="1">
                <a:solidFill>
                  <a:srgbClr val="DC2626"/>
                </a:solidFill>
                <a:latin typeface="Segoe UI"/>
              </a:rPr>
              <a:t>PAIN POINT 1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400" b="1" i="0">
                <a:solidFill>
                  <a:srgbClr val="0F172A"/>
                </a:solidFill>
                <a:latin typeface="Segoe UI"/>
              </a:rPr>
              <a:t>Scattered Manual Research</a:t>
            </a:r>
          </a:p>
        </p:txBody>
      </p:sp>
      <p:sp>
        <p:nvSpPr>
          <p:cNvPr id="107" name="Card_107"/>
          <p:cNvSpPr/>
          <p:nvPr/>
        </p:nvSpPr>
        <p:spPr>
          <a:xfrm>
            <a:off x="1005840" y="2697480"/>
            <a:ext cx="2926080" cy="868680"/>
          </a:xfrm>
          <a:prstGeom prst="roundRect">
            <a:avLst>
              <a:gd name="adj" fmla="val 1500"/>
            </a:avLst>
          </a:prstGeom>
          <a:solidFill>
            <a:srgbClr val="FEF2F2"/>
          </a:solidFill>
          <a:ln w="12700">
            <a:solidFill>
              <a:srgbClr val="E2E8F0"/>
            </a:solidFill>
          </a:ln>
        </p:spPr>
      </p:sp>
      <p:sp>
        <p:nvSpPr>
          <p:cNvPr id="108" name="TextBox_108"/>
          <p:cNvSpPr txBox="1"/>
          <p:nvPr/>
        </p:nvSpPr>
        <p:spPr>
          <a:xfrm>
            <a:off x="1005840" y="2743200"/>
            <a:ext cx="2926080" cy="77724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1800" b="1" i="0">
                <a:solidFill>
                  <a:srgbClr val="DC2626"/>
                </a:solidFill>
                <a:latin typeface="Segoe UI"/>
              </a:rPr>
              <a:t>3-4 Hrs</a:t>
            </a:r>
          </a:p>
          <a:p>
            <a:pPr algn="ctr">
              <a:buNone/>
            </a:pPr>
            <a:r>
              <a:rPr lang="en-US" sz="900" b="0" i="0">
                <a:solidFill>
                  <a:srgbClr val="334155"/>
                </a:solidFill>
                <a:latin typeface="Segoe UI"/>
              </a:rPr>
              <a:t>spent per submission</a:t>
            </a:r>
          </a:p>
        </p:txBody>
      </p:sp>
      <p:sp>
        <p:nvSpPr>
          <p:cNvPr id="109" name="TextBox_109"/>
          <p:cNvSpPr txBox="1"/>
          <p:nvPr/>
        </p:nvSpPr>
        <p:spPr>
          <a:xfrm>
            <a:off x="1005840" y="3703320"/>
            <a:ext cx="292608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 dirty="0">
                <a:solidFill>
                  <a:srgbClr val="475569"/>
                </a:solidFill>
                <a:latin typeface="Segoe UI"/>
              </a:rPr>
              <a:t>Underwriters manually scour 5–7 disconnected sources (SEC filings, </a:t>
            </a:r>
            <a:r>
              <a:rPr lang="en-US" sz="1100" b="0" i="0" dirty="0" err="1">
                <a:solidFill>
                  <a:srgbClr val="475569"/>
                </a:solidFill>
                <a:latin typeface="Segoe UI"/>
              </a:rPr>
              <a:t>Wikidata</a:t>
            </a:r>
            <a:r>
              <a:rPr lang="en-US" sz="1100" b="0" i="0" dirty="0">
                <a:solidFill>
                  <a:srgbClr val="475569"/>
                </a:solidFill>
                <a:latin typeface="Segoe UI"/>
              </a:rPr>
              <a:t>, D&amp;B, Wikipedia, SSL certificates, website HTML) for corporate risk indicators</a:t>
            </a:r>
            <a:r>
              <a:rPr lang="en-US" sz="1000" b="0" i="0" dirty="0">
                <a:solidFill>
                  <a:srgbClr val="475569"/>
                </a:solidFill>
                <a:latin typeface="Segoe UI"/>
              </a:rPr>
              <a:t>.</a:t>
            </a:r>
          </a:p>
        </p:txBody>
      </p:sp>
      <p:sp>
        <p:nvSpPr>
          <p:cNvPr id="110" name="TextBox_110"/>
          <p:cNvSpPr txBox="1"/>
          <p:nvPr/>
        </p:nvSpPr>
        <p:spPr>
          <a:xfrm>
            <a:off x="1005840" y="4800600"/>
            <a:ext cx="2926080" cy="12801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1" i="0">
                <a:solidFill>
                  <a:srgbClr val="1E293B"/>
                </a:solidFill>
                <a:latin typeface="Segoe UI"/>
              </a:rPr>
              <a:t>Key Impact:</a:t>
            </a:r>
            <a:endParaRPr lang="en-US" sz="1100" b="1" i="0">
              <a:solidFill>
                <a:srgbClr val="1E293B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High turnaround time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1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Inconsistent source coverage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1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Fatigue-driven oversights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11" name="Card_111"/>
          <p:cNvSpPr/>
          <p:nvPr/>
        </p:nvSpPr>
        <p:spPr>
          <a:xfrm>
            <a:off x="4370832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2" name="Badge_112"/>
          <p:cNvSpPr/>
          <p:nvPr/>
        </p:nvSpPr>
        <p:spPr>
          <a:xfrm>
            <a:off x="4645152" y="1920240"/>
            <a:ext cx="1463040" cy="274320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50" b="1">
                <a:solidFill>
                  <a:srgbClr val="D97706"/>
                </a:solidFill>
                <a:latin typeface="Segoe UI"/>
              </a:rPr>
              <a:t>PAIN POINT 2</a:t>
            </a:r>
          </a:p>
        </p:txBody>
      </p:sp>
      <p:sp>
        <p:nvSpPr>
          <p:cNvPr id="113" name="TextBox_113"/>
          <p:cNvSpPr txBox="1"/>
          <p:nvPr/>
        </p:nvSpPr>
        <p:spPr>
          <a:xfrm>
            <a:off x="4645152" y="2286000"/>
            <a:ext cx="2926080" cy="3657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400" b="1" i="0">
                <a:solidFill>
                  <a:srgbClr val="0F172A"/>
                </a:solidFill>
                <a:latin typeface="Segoe UI"/>
              </a:rPr>
              <a:t>Subjective Risk Scoring</a:t>
            </a:r>
          </a:p>
        </p:txBody>
      </p:sp>
      <p:sp>
        <p:nvSpPr>
          <p:cNvPr id="114" name="Card_114"/>
          <p:cNvSpPr/>
          <p:nvPr/>
        </p:nvSpPr>
        <p:spPr>
          <a:xfrm>
            <a:off x="4645152" y="2697480"/>
            <a:ext cx="2926080" cy="868680"/>
          </a:xfrm>
          <a:prstGeom prst="roundRect">
            <a:avLst>
              <a:gd name="adj" fmla="val 1500"/>
            </a:avLst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115" name="TextBox_115"/>
          <p:cNvSpPr txBox="1"/>
          <p:nvPr/>
        </p:nvSpPr>
        <p:spPr>
          <a:xfrm>
            <a:off x="4645152" y="2743200"/>
            <a:ext cx="2926080" cy="77724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1800" b="1" i="0">
                <a:solidFill>
                  <a:srgbClr val="D97706"/>
                </a:solidFill>
                <a:latin typeface="Segoe UI"/>
              </a:rPr>
              <a:t>±15%</a:t>
            </a:r>
          </a:p>
          <a:p>
            <a:pPr algn="ctr">
              <a:buNone/>
            </a:pPr>
            <a:r>
              <a:rPr lang="en-US" sz="900" b="0" i="0">
                <a:solidFill>
                  <a:srgbClr val="334155"/>
                </a:solidFill>
                <a:latin typeface="Segoe UI"/>
              </a:rPr>
              <a:t>pricing variance across analysts</a:t>
            </a:r>
          </a:p>
        </p:txBody>
      </p:sp>
      <p:sp>
        <p:nvSpPr>
          <p:cNvPr id="116" name="TextBox_116"/>
          <p:cNvSpPr txBox="1"/>
          <p:nvPr/>
        </p:nvSpPr>
        <p:spPr>
          <a:xfrm>
            <a:off x="4645152" y="3703320"/>
            <a:ext cx="292608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Translating unstructured company findings into commercial underwriting modifier debits/credits relies on manual interpretation, leading to unaligned loss ratios.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17" name="TextBox_117"/>
          <p:cNvSpPr txBox="1"/>
          <p:nvPr/>
        </p:nvSpPr>
        <p:spPr>
          <a:xfrm>
            <a:off x="4645152" y="4800600"/>
            <a:ext cx="2926080" cy="12801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1" i="0">
                <a:solidFill>
                  <a:srgbClr val="1E293B"/>
                </a:solidFill>
                <a:latin typeface="Segoe UI"/>
              </a:rPr>
              <a:t>Key Impact:</a:t>
            </a:r>
            <a:endParaRPr lang="en-US" sz="1100" b="1" i="0">
              <a:solidFill>
                <a:srgbClr val="1E293B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No standardized consensus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1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Lack of mathematical auditing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1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Unreliable modifier lineage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18" name="Card_118"/>
          <p:cNvSpPr/>
          <p:nvPr/>
        </p:nvSpPr>
        <p:spPr>
          <a:xfrm>
            <a:off x="8010144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9" name="Badge_119"/>
          <p:cNvSpPr/>
          <p:nvPr/>
        </p:nvSpPr>
        <p:spPr>
          <a:xfrm>
            <a:off x="8284464" y="1920240"/>
            <a:ext cx="1463040" cy="27432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50" b="1">
                <a:solidFill>
                  <a:srgbClr val="2563EB"/>
                </a:solidFill>
                <a:latin typeface="Segoe UI"/>
              </a:rPr>
              <a:t>PAIN POINT 3</a:t>
            </a:r>
          </a:p>
        </p:txBody>
      </p:sp>
      <p:sp>
        <p:nvSpPr>
          <p:cNvPr id="120" name="TextBox_120"/>
          <p:cNvSpPr txBox="1"/>
          <p:nvPr/>
        </p:nvSpPr>
        <p:spPr>
          <a:xfrm>
            <a:off x="8284464" y="2286000"/>
            <a:ext cx="2926080" cy="3657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400" b="1" i="0">
                <a:solidFill>
                  <a:srgbClr val="0F172A"/>
                </a:solidFill>
                <a:latin typeface="Segoe UI"/>
              </a:rPr>
              <a:t>Exploding Cyber Market</a:t>
            </a:r>
          </a:p>
        </p:txBody>
      </p:sp>
      <p:sp>
        <p:nvSpPr>
          <p:cNvPr id="121" name="Card_121"/>
          <p:cNvSpPr/>
          <p:nvPr/>
        </p:nvSpPr>
        <p:spPr>
          <a:xfrm>
            <a:off x="8284464" y="2697480"/>
            <a:ext cx="2926080" cy="868680"/>
          </a:xfrm>
          <a:prstGeom prst="roundRect">
            <a:avLst>
              <a:gd name="adj" fmla="val 15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122" name="TextBox_122"/>
          <p:cNvSpPr txBox="1"/>
          <p:nvPr/>
        </p:nvSpPr>
        <p:spPr>
          <a:xfrm>
            <a:off x="8284464" y="2743200"/>
            <a:ext cx="2926080" cy="77724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1800" b="1" i="0">
                <a:solidFill>
                  <a:srgbClr val="2563EB"/>
                </a:solidFill>
                <a:latin typeface="Segoe UI"/>
              </a:rPr>
              <a:t>$80B</a:t>
            </a:r>
          </a:p>
          <a:p>
            <a:pPr algn="ctr">
              <a:buNone/>
            </a:pPr>
            <a:r>
              <a:rPr lang="en-US" sz="900" b="0" i="0">
                <a:solidFill>
                  <a:srgbClr val="334155"/>
                </a:solidFill>
                <a:latin typeface="Segoe UI"/>
              </a:rPr>
              <a:t>global market by 2030 (EXL Study)</a:t>
            </a:r>
          </a:p>
        </p:txBody>
      </p:sp>
      <p:sp>
        <p:nvSpPr>
          <p:cNvPr id="123" name="TextBox_123"/>
          <p:cNvSpPr txBox="1"/>
          <p:nvPr/>
        </p:nvSpPr>
        <p:spPr>
          <a:xfrm>
            <a:off x="8284464" y="3703320"/>
            <a:ext cx="292608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Commercial cyber premiums are surging 25%+ YoY. Manual underwriting desks cannot scale to meet middle-market and small-business account volumes.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24" name="TextBox_124"/>
          <p:cNvSpPr txBox="1"/>
          <p:nvPr/>
        </p:nvSpPr>
        <p:spPr>
          <a:xfrm>
            <a:off x="8284464" y="4800600"/>
            <a:ext cx="2926080" cy="12801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1" i="0">
                <a:solidFill>
                  <a:srgbClr val="1E293B"/>
                </a:solidFill>
                <a:latin typeface="Segoe UI"/>
              </a:rPr>
              <a:t>Key Impact:</a:t>
            </a:r>
            <a:endParaRPr lang="en-US" sz="1100" b="1" i="0">
              <a:solidFill>
                <a:srgbClr val="1E293B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High operational expenses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1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Lost broker submission flow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1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Slow quote bind rates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SOLUTION OVERVIEW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An Autonomous, Governed Underwriting Assessment Engine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Combines parallel multi-agent data harvesting with consensus fact-checking and deterministic risk scoring.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43891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5" name="Badge_105"/>
          <p:cNvSpPr/>
          <p:nvPr/>
        </p:nvSpPr>
        <p:spPr>
          <a:xfrm>
            <a:off x="1005840" y="1920240"/>
            <a:ext cx="2011680" cy="27432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1D4ED8"/>
                </a:solidFill>
                <a:latin typeface="Segoe UI"/>
              </a:rPr>
              <a:t>CORE ARCHITECTURE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1005840" y="2286000"/>
            <a:ext cx="3840480" cy="3657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500" b="1" i="0">
                <a:solidFill>
                  <a:srgbClr val="0F172A"/>
                </a:solidFill>
                <a:latin typeface="Segoe UI"/>
              </a:rPr>
              <a:t>End-to-End Autonomous Pipeline</a:t>
            </a:r>
          </a:p>
        </p:txBody>
      </p:sp>
      <p:sp>
        <p:nvSpPr>
          <p:cNvPr id="107" name="Card_107"/>
          <p:cNvSpPr/>
          <p:nvPr/>
        </p:nvSpPr>
        <p:spPr>
          <a:xfrm>
            <a:off x="1005840" y="2743200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08" name="TextBox_108"/>
          <p:cNvSpPr txBox="1"/>
          <p:nvPr/>
        </p:nvSpPr>
        <p:spPr>
          <a:xfrm>
            <a:off x="1097280" y="2788920"/>
            <a:ext cx="3657600" cy="475488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050" b="1" i="0">
                <a:solidFill>
                  <a:srgbClr val="2563EB"/>
                </a:solidFill>
                <a:latin typeface="Segoe UI"/>
              </a:rPr>
              <a:t>1. Supervisor Validation</a:t>
            </a:r>
          </a:p>
          <a:p>
            <a:pPr algn="l"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Pre-validates GLEIF LEI &amp; routes SEC vs. Non-SEC</a:t>
            </a:r>
          </a:p>
        </p:txBody>
      </p:sp>
      <p:sp>
        <p:nvSpPr>
          <p:cNvPr id="109" name="Card_109"/>
          <p:cNvSpPr/>
          <p:nvPr/>
        </p:nvSpPr>
        <p:spPr>
          <a:xfrm>
            <a:off x="1005840" y="3401568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10" name="TextBox_110"/>
          <p:cNvSpPr txBox="1"/>
          <p:nvPr/>
        </p:nvSpPr>
        <p:spPr>
          <a:xfrm>
            <a:off x="1097280" y="3447287"/>
            <a:ext cx="3657600" cy="475488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050" b="1" i="0">
                <a:solidFill>
                  <a:srgbClr val="0D9488"/>
                </a:solidFill>
                <a:latin typeface="Segoe UI"/>
              </a:rPr>
              <a:t>2. Parallel Harvesting</a:t>
            </a:r>
          </a:p>
          <a:p>
            <a:pPr algn="l"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6 live collectors gather financial, structural &amp; web facts</a:t>
            </a:r>
          </a:p>
        </p:txBody>
      </p:sp>
      <p:sp>
        <p:nvSpPr>
          <p:cNvPr id="111" name="Card_111"/>
          <p:cNvSpPr/>
          <p:nvPr/>
        </p:nvSpPr>
        <p:spPr>
          <a:xfrm>
            <a:off x="1005840" y="4059935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12" name="TextBox_112"/>
          <p:cNvSpPr txBox="1"/>
          <p:nvPr/>
        </p:nvSpPr>
        <p:spPr>
          <a:xfrm>
            <a:off x="1097280" y="4105655"/>
            <a:ext cx="3657600" cy="475488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050" b="1" i="0">
                <a:solidFill>
                  <a:srgbClr val="7C3AED"/>
                </a:solidFill>
                <a:latin typeface="Segoe UI"/>
              </a:rPr>
              <a:t>3. Priority Reconciliation</a:t>
            </a:r>
          </a:p>
          <a:p>
            <a:pPr algn="l"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Coordinator merges evidence with zero data loss</a:t>
            </a:r>
          </a:p>
        </p:txBody>
      </p:sp>
      <p:sp>
        <p:nvSpPr>
          <p:cNvPr id="113" name="Card_113"/>
          <p:cNvSpPr/>
          <p:nvPr/>
        </p:nvSpPr>
        <p:spPr>
          <a:xfrm>
            <a:off x="1005840" y="4718304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14" name="TextBox_114"/>
          <p:cNvSpPr txBox="1"/>
          <p:nvPr/>
        </p:nvSpPr>
        <p:spPr>
          <a:xfrm>
            <a:off x="1097280" y="4764024"/>
            <a:ext cx="3657600" cy="475488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050" b="1" i="0">
                <a:solidFill>
                  <a:srgbClr val="D97706"/>
                </a:solidFill>
                <a:latin typeface="Segoe UI"/>
              </a:rPr>
              <a:t>4. Consensus Verification</a:t>
            </a:r>
          </a:p>
          <a:p>
            <a:pPr algn="l"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FactChecker validates cross-source accuracy (&gt;90%)</a:t>
            </a:r>
          </a:p>
        </p:txBody>
      </p:sp>
      <p:sp>
        <p:nvSpPr>
          <p:cNvPr id="115" name="Card_115"/>
          <p:cNvSpPr/>
          <p:nvPr/>
        </p:nvSpPr>
        <p:spPr>
          <a:xfrm>
            <a:off x="1005840" y="5376672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16" name="TextBox_116"/>
          <p:cNvSpPr txBox="1"/>
          <p:nvPr/>
        </p:nvSpPr>
        <p:spPr>
          <a:xfrm>
            <a:off x="1097280" y="5422392"/>
            <a:ext cx="3657600" cy="475488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050" b="1" i="0">
                <a:solidFill>
                  <a:srgbClr val="059669"/>
                </a:solidFill>
                <a:latin typeface="Segoe UI"/>
              </a:rPr>
              <a:t>5. Actuarial Risk Underwriting</a:t>
            </a:r>
          </a:p>
          <a:p>
            <a:pPr algn="l"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Deterministic evaluation across 15 risk modifiers</a:t>
            </a:r>
          </a:p>
        </p:txBody>
      </p:sp>
      <p:sp>
        <p:nvSpPr>
          <p:cNvPr id="117" name="Card_117"/>
          <p:cNvSpPr/>
          <p:nvPr/>
        </p:nvSpPr>
        <p:spPr>
          <a:xfrm>
            <a:off x="5303520" y="1691640"/>
            <a:ext cx="612648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8" name="Badge_118"/>
          <p:cNvSpPr/>
          <p:nvPr/>
        </p:nvSpPr>
        <p:spPr>
          <a:xfrm>
            <a:off x="5486400" y="1828800"/>
            <a:ext cx="2194560" cy="237744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2563EB"/>
                </a:solidFill>
                <a:latin typeface="Segoe UI"/>
              </a:rPr>
              <a:t>PILLAR 1: SPEED &amp; SCALE</a:t>
            </a:r>
          </a:p>
        </p:txBody>
      </p:sp>
      <p:sp>
        <p:nvSpPr>
          <p:cNvPr id="119" name="TextBox_119"/>
          <p:cNvSpPr txBox="1"/>
          <p:nvPr/>
        </p:nvSpPr>
        <p:spPr>
          <a:xfrm>
            <a:off x="5486400" y="2103120"/>
            <a:ext cx="57607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99% Faster Turnaround Time</a:t>
            </a:r>
          </a:p>
        </p:txBody>
      </p:sp>
      <p:sp>
        <p:nvSpPr>
          <p:cNvPr id="120" name="TextBox_120"/>
          <p:cNvSpPr txBox="1"/>
          <p:nvPr/>
        </p:nvSpPr>
        <p:spPr>
          <a:xfrm>
            <a:off x="5486400" y="2377440"/>
            <a:ext cx="5760720" cy="68580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Reduces research &amp; underwriting time from 3–4 hours to ~90 seconds.</a:t>
            </a:r>
          </a:p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Enables brokers and underwriters to quote middle-market submissions instantly.</a:t>
            </a:r>
          </a:p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Multi-tier caching prevents duplicate API calls on repeat company analyses.</a:t>
            </a:r>
          </a:p>
        </p:txBody>
      </p:sp>
      <p:sp>
        <p:nvSpPr>
          <p:cNvPr id="121" name="Card_121"/>
          <p:cNvSpPr/>
          <p:nvPr/>
        </p:nvSpPr>
        <p:spPr>
          <a:xfrm>
            <a:off x="5303520" y="3227832"/>
            <a:ext cx="612648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2" name="Badge_122"/>
          <p:cNvSpPr/>
          <p:nvPr/>
        </p:nvSpPr>
        <p:spPr>
          <a:xfrm>
            <a:off x="5486400" y="3364992"/>
            <a:ext cx="2194560" cy="237744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PILLAR 2: ZERO HALLUCINATION MATH</a:t>
            </a:r>
          </a:p>
        </p:txBody>
      </p:sp>
      <p:sp>
        <p:nvSpPr>
          <p:cNvPr id="123" name="TextBox_123"/>
          <p:cNvSpPr txBox="1"/>
          <p:nvPr/>
        </p:nvSpPr>
        <p:spPr>
          <a:xfrm>
            <a:off x="5486400" y="3639312"/>
            <a:ext cx="57607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Deterministic Actuarial Rating Rules</a:t>
            </a:r>
          </a:p>
        </p:txBody>
      </p:sp>
      <p:sp>
        <p:nvSpPr>
          <p:cNvPr id="124" name="TextBox_124"/>
          <p:cNvSpPr txBox="1"/>
          <p:nvPr/>
        </p:nvSpPr>
        <p:spPr>
          <a:xfrm>
            <a:off x="5486400" y="3913632"/>
            <a:ext cx="5760720" cy="68580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LLMs are strictly restricted to data extraction and natural language synthesis.</a:t>
            </a:r>
          </a:p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All 15 underwriting modifier scores and multipliers are computed via deterministic code.</a:t>
            </a:r>
          </a:p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100% auditable and reproducible: same company evidence produces the exact same score.</a:t>
            </a:r>
          </a:p>
        </p:txBody>
      </p:sp>
      <p:sp>
        <p:nvSpPr>
          <p:cNvPr id="125" name="Card_125"/>
          <p:cNvSpPr/>
          <p:nvPr/>
        </p:nvSpPr>
        <p:spPr>
          <a:xfrm>
            <a:off x="5303520" y="4764024"/>
            <a:ext cx="612648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6" name="Badge_126"/>
          <p:cNvSpPr/>
          <p:nvPr/>
        </p:nvSpPr>
        <p:spPr>
          <a:xfrm>
            <a:off x="5486400" y="4901184"/>
            <a:ext cx="2194560" cy="237744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9525">
            <a:solidFill>
              <a:srgbClr val="7C3AED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7C3AED"/>
                </a:solidFill>
                <a:latin typeface="Segoe UI"/>
              </a:rPr>
              <a:t>PILLAR 3: COMPLETE AUDITABILITY</a:t>
            </a:r>
          </a:p>
        </p:txBody>
      </p:sp>
      <p:sp>
        <p:nvSpPr>
          <p:cNvPr id="127" name="TextBox_127"/>
          <p:cNvSpPr txBox="1"/>
          <p:nvPr/>
        </p:nvSpPr>
        <p:spPr>
          <a:xfrm>
            <a:off x="5486400" y="5175504"/>
            <a:ext cx="57607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Full Evidence Provenance &amp; HITL</a:t>
            </a:r>
          </a:p>
        </p:txBody>
      </p:sp>
      <p:sp>
        <p:nvSpPr>
          <p:cNvPr id="128" name="TextBox_128"/>
          <p:cNvSpPr txBox="1"/>
          <p:nvPr/>
        </p:nvSpPr>
        <p:spPr>
          <a:xfrm>
            <a:off x="5486400" y="5449824"/>
            <a:ext cx="5760720" cy="68580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Every claimed revenue, employee count, or subsidiary is tied to source URLs/filings.</a:t>
            </a:r>
          </a:p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Consensus score below 50% automatically triggers Human-in-the-Loop escalation.</a:t>
            </a:r>
          </a:p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Generates executive-ready HTML audit reports for underwriting committees.</a:t>
            </a: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SYSTEM ARCHITECTURE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LangGraph Multi-Agent Orchestration Workflow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A resilient Directed Acyclic Graph (DAG) featuring conditional routing, parallel fan-out harvesting, and state reduction.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21031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</p:sp>
      <p:sp>
        <p:nvSpPr>
          <p:cNvPr id="105" name="Badge_105"/>
          <p:cNvSpPr/>
          <p:nvPr/>
        </p:nvSpPr>
        <p:spPr>
          <a:xfrm>
            <a:off x="914400" y="1874519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1D4ED8"/>
                </a:solidFill>
                <a:latin typeface="Segoe UI"/>
              </a:rPr>
              <a:t>STAGE 1 • ENTRY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914400" y="2194560"/>
            <a:ext cx="1737360" cy="3657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Supervisor Node</a:t>
            </a:r>
          </a:p>
        </p:txBody>
      </p:sp>
      <p:sp>
        <p:nvSpPr>
          <p:cNvPr id="107" name="TextBox_107"/>
          <p:cNvSpPr txBox="1"/>
          <p:nvPr/>
        </p:nvSpPr>
        <p:spPr>
          <a:xfrm>
            <a:off x="914400" y="2606040"/>
            <a:ext cx="1737360" cy="34747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1E293B"/>
                </a:solidFill>
                <a:latin typeface="Segoe UI"/>
              </a:rPr>
              <a:t>Key Responsibilities: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Validates legal company name via GLEIF API.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Checks multi-tier cache database to avoid duplicate queries.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Classifies company as SEC vs. Non-SEC / Private.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Dynamic DAG routing based on company type.</a:t>
            </a:r>
          </a:p>
        </p:txBody>
      </p:sp>
      <p:sp>
        <p:nvSpPr>
          <p:cNvPr id="108" name="Arrow_108"/>
          <p:cNvSpPr/>
          <p:nvPr/>
        </p:nvSpPr>
        <p:spPr>
          <a:xfrm>
            <a:off x="2907792" y="3794760"/>
            <a:ext cx="320040" cy="228600"/>
          </a:xfrm>
          <a:prstGeom prst="rightArrow">
            <a:avLst/>
          </a:prstGeom>
          <a:solidFill>
            <a:srgbClr val="2563EB"/>
          </a:solidFill>
        </p:spPr>
      </p:sp>
      <p:sp>
        <p:nvSpPr>
          <p:cNvPr id="109" name="Card_109"/>
          <p:cNvSpPr/>
          <p:nvPr/>
        </p:nvSpPr>
        <p:spPr>
          <a:xfrm>
            <a:off x="3291840" y="1691640"/>
            <a:ext cx="320040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</p:sp>
      <p:sp>
        <p:nvSpPr>
          <p:cNvPr id="110" name="Badge_110"/>
          <p:cNvSpPr/>
          <p:nvPr/>
        </p:nvSpPr>
        <p:spPr>
          <a:xfrm>
            <a:off x="3474720" y="1874519"/>
            <a:ext cx="2834640" cy="256032"/>
          </a:xfrm>
          <a:prstGeom prst="roundRect">
            <a:avLst>
              <a:gd name="adj" fmla="val 25000"/>
            </a:avLst>
          </a:prstGeom>
          <a:solidFill>
            <a:srgbClr val="F0FDFA"/>
          </a:solidFill>
          <a:ln w="9525">
            <a:solidFill>
              <a:srgbClr val="0D948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0D9488"/>
                </a:solidFill>
                <a:latin typeface="Segoe UI"/>
              </a:rPr>
              <a:t>STAGE 2 • FAN-OUT (PARALLEL AGENTS)</a:t>
            </a:r>
          </a:p>
        </p:txBody>
      </p:sp>
      <p:sp>
        <p:nvSpPr>
          <p:cNvPr id="111" name="TextBox_111"/>
          <p:cNvSpPr txBox="1"/>
          <p:nvPr/>
        </p:nvSpPr>
        <p:spPr>
          <a:xfrm>
            <a:off x="3474720" y="2194560"/>
            <a:ext cx="283464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6 Specialized Collectors</a:t>
            </a:r>
          </a:p>
        </p:txBody>
      </p:sp>
      <p:sp>
        <p:nvSpPr>
          <p:cNvPr id="112" name="Card_112"/>
          <p:cNvSpPr/>
          <p:nvPr/>
        </p:nvSpPr>
        <p:spPr>
          <a:xfrm>
            <a:off x="3474720" y="2606040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3" name="TextBox_113"/>
          <p:cNvSpPr txBox="1"/>
          <p:nvPr/>
        </p:nvSpPr>
        <p:spPr>
          <a:xfrm>
            <a:off x="3566160" y="2642616"/>
            <a:ext cx="2651760" cy="438912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2563EB"/>
                </a:solidFill>
                <a:latin typeface="Segoe UI"/>
              </a:rPr>
              <a:t>SEC EDGAR XBRL</a:t>
            </a:r>
          </a:p>
          <a:p>
            <a:pPr algn="l"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Annual 10-K &amp; Quarterly 10-Q Financials</a:t>
            </a:r>
          </a:p>
        </p:txBody>
      </p:sp>
      <p:sp>
        <p:nvSpPr>
          <p:cNvPr id="114" name="Card_114"/>
          <p:cNvSpPr/>
          <p:nvPr/>
        </p:nvSpPr>
        <p:spPr>
          <a:xfrm>
            <a:off x="3474720" y="3191256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5" name="TextBox_115"/>
          <p:cNvSpPr txBox="1"/>
          <p:nvPr/>
        </p:nvSpPr>
        <p:spPr>
          <a:xfrm>
            <a:off x="3566160" y="3227832"/>
            <a:ext cx="2651760" cy="438912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0D9488"/>
                </a:solidFill>
                <a:latin typeface="Segoe UI"/>
              </a:rPr>
              <a:t>Wikidata SPARQL</a:t>
            </a:r>
          </a:p>
          <a:p>
            <a:pPr algn="l"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Subsidiary trees, inception &amp; HQ</a:t>
            </a:r>
          </a:p>
        </p:txBody>
      </p:sp>
      <p:sp>
        <p:nvSpPr>
          <p:cNvPr id="116" name="Card_116"/>
          <p:cNvSpPr/>
          <p:nvPr/>
        </p:nvSpPr>
        <p:spPr>
          <a:xfrm>
            <a:off x="3474720" y="3776472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7" name="TextBox_117"/>
          <p:cNvSpPr txBox="1"/>
          <p:nvPr/>
        </p:nvSpPr>
        <p:spPr>
          <a:xfrm>
            <a:off x="3566160" y="3813048"/>
            <a:ext cx="2651760" cy="438912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7C3AED"/>
                </a:solidFill>
                <a:latin typeface="Segoe UI"/>
              </a:rPr>
              <a:t>Wikipedia API</a:t>
            </a:r>
          </a:p>
          <a:p>
            <a:pPr algn="l"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Nature of services &amp; brand history</a:t>
            </a:r>
          </a:p>
        </p:txBody>
      </p:sp>
      <p:sp>
        <p:nvSpPr>
          <p:cNvPr id="118" name="Card_118"/>
          <p:cNvSpPr/>
          <p:nvPr/>
        </p:nvSpPr>
        <p:spPr>
          <a:xfrm>
            <a:off x="3474720" y="4361688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9" name="TextBox_119"/>
          <p:cNvSpPr txBox="1"/>
          <p:nvPr/>
        </p:nvSpPr>
        <p:spPr>
          <a:xfrm>
            <a:off x="3566160" y="4398264"/>
            <a:ext cx="2651760" cy="438912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D97706"/>
                </a:solidFill>
                <a:latin typeface="Segoe UI"/>
              </a:rPr>
              <a:t>D&amp;B / GLEIF Registry</a:t>
            </a:r>
          </a:p>
          <a:p>
            <a:pPr algn="l"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Legal entity jurisdiction &amp; LEI status</a:t>
            </a:r>
          </a:p>
        </p:txBody>
      </p:sp>
      <p:sp>
        <p:nvSpPr>
          <p:cNvPr id="120" name="Card_120"/>
          <p:cNvSpPr/>
          <p:nvPr/>
        </p:nvSpPr>
        <p:spPr>
          <a:xfrm>
            <a:off x="3474720" y="4946904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1" name="TextBox_121"/>
          <p:cNvSpPr txBox="1"/>
          <p:nvPr/>
        </p:nvSpPr>
        <p:spPr>
          <a:xfrm>
            <a:off x="3566160" y="4983480"/>
            <a:ext cx="2651760" cy="438912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DC2626"/>
                </a:solidFill>
                <a:latin typeface="Segoe UI"/>
              </a:rPr>
              <a:t>SerpAPI / Tavily Search</a:t>
            </a:r>
          </a:p>
          <a:p>
            <a:pPr algn="l"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Breach news &amp; financial validation</a:t>
            </a:r>
          </a:p>
        </p:txBody>
      </p:sp>
      <p:sp>
        <p:nvSpPr>
          <p:cNvPr id="122" name="Card_122"/>
          <p:cNvSpPr/>
          <p:nvPr/>
        </p:nvSpPr>
        <p:spPr>
          <a:xfrm>
            <a:off x="3474720" y="5532120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3" name="TextBox_123"/>
          <p:cNvSpPr txBox="1"/>
          <p:nvPr/>
        </p:nvSpPr>
        <p:spPr>
          <a:xfrm>
            <a:off x="3566160" y="5568696"/>
            <a:ext cx="2651760" cy="438912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059669"/>
                </a:solidFill>
                <a:latin typeface="Segoe UI"/>
              </a:rPr>
              <a:t>Domain Scraper (Sequential)</a:t>
            </a:r>
          </a:p>
          <a:p>
            <a:pPr algn="l"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SSL Grade, HTML compliance &amp; e-comm</a:t>
            </a:r>
          </a:p>
        </p:txBody>
      </p:sp>
      <p:sp>
        <p:nvSpPr>
          <p:cNvPr id="124" name="Arrow_124"/>
          <p:cNvSpPr/>
          <p:nvPr/>
        </p:nvSpPr>
        <p:spPr>
          <a:xfrm>
            <a:off x="6565392" y="3794760"/>
            <a:ext cx="320040" cy="228600"/>
          </a:xfrm>
          <a:prstGeom prst="rightArrow">
            <a:avLst/>
          </a:prstGeom>
          <a:solidFill>
            <a:srgbClr val="0D9488"/>
          </a:solidFill>
        </p:spPr>
      </p:sp>
      <p:sp>
        <p:nvSpPr>
          <p:cNvPr id="125" name="Card_125"/>
          <p:cNvSpPr/>
          <p:nvPr/>
        </p:nvSpPr>
        <p:spPr>
          <a:xfrm>
            <a:off x="6949440" y="1691640"/>
            <a:ext cx="21945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</p:sp>
      <p:sp>
        <p:nvSpPr>
          <p:cNvPr id="126" name="Badge_126"/>
          <p:cNvSpPr/>
          <p:nvPr/>
        </p:nvSpPr>
        <p:spPr>
          <a:xfrm>
            <a:off x="7132320" y="1874519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9525">
            <a:solidFill>
              <a:srgbClr val="7C3AED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7C3AED"/>
                </a:solidFill>
                <a:latin typeface="Segoe UI"/>
              </a:rPr>
              <a:t>STAGE 3 • FAN-IN</a:t>
            </a:r>
          </a:p>
        </p:txBody>
      </p:sp>
      <p:sp>
        <p:nvSpPr>
          <p:cNvPr id="127" name="Card_127"/>
          <p:cNvSpPr/>
          <p:nvPr/>
        </p:nvSpPr>
        <p:spPr>
          <a:xfrm>
            <a:off x="7132320" y="2240280"/>
            <a:ext cx="1828800" cy="169164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28" name="TextBox_128"/>
          <p:cNvSpPr txBox="1"/>
          <p:nvPr/>
        </p:nvSpPr>
        <p:spPr>
          <a:xfrm>
            <a:off x="7223760" y="2331720"/>
            <a:ext cx="1645920" cy="15544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1" i="0">
                <a:solidFill>
                  <a:srgbClr val="7C3AED"/>
                </a:solidFill>
                <a:latin typeface="Segoe UI"/>
              </a:rPr>
              <a:t>Coordinator Agent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Priority-merge logic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Resolves field conflicts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Zero data loss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Fallback SIC inference</a:t>
            </a:r>
          </a:p>
        </p:txBody>
      </p:sp>
      <p:sp>
        <p:nvSpPr>
          <p:cNvPr id="129" name="Card_129"/>
          <p:cNvSpPr/>
          <p:nvPr/>
        </p:nvSpPr>
        <p:spPr>
          <a:xfrm>
            <a:off x="7132320" y="4069080"/>
            <a:ext cx="1828800" cy="201168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30" name="TextBox_130"/>
          <p:cNvSpPr txBox="1"/>
          <p:nvPr/>
        </p:nvSpPr>
        <p:spPr>
          <a:xfrm>
            <a:off x="7223760" y="4160520"/>
            <a:ext cx="1645920" cy="182880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1" i="0">
                <a:solidFill>
                  <a:srgbClr val="D97706"/>
                </a:solidFill>
                <a:latin typeface="Segoe UI"/>
              </a:rPr>
              <a:t>Fact-Checker Agent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Cross-source consensus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Accuracy scoring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Live HTML verification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Escalation triggers</a:t>
            </a:r>
          </a:p>
        </p:txBody>
      </p:sp>
      <p:sp>
        <p:nvSpPr>
          <p:cNvPr id="131" name="Arrow_131"/>
          <p:cNvSpPr/>
          <p:nvPr/>
        </p:nvSpPr>
        <p:spPr>
          <a:xfrm>
            <a:off x="9217152" y="3794760"/>
            <a:ext cx="320040" cy="228600"/>
          </a:xfrm>
          <a:prstGeom prst="rightArrow">
            <a:avLst/>
          </a:prstGeom>
          <a:solidFill>
            <a:srgbClr val="7C3AED"/>
          </a:solidFill>
        </p:spPr>
      </p:sp>
      <p:sp>
        <p:nvSpPr>
          <p:cNvPr id="132" name="Card_132"/>
          <p:cNvSpPr/>
          <p:nvPr/>
        </p:nvSpPr>
        <p:spPr>
          <a:xfrm>
            <a:off x="9601200" y="1691640"/>
            <a:ext cx="18288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</p:sp>
      <p:sp>
        <p:nvSpPr>
          <p:cNvPr id="133" name="Badge_133"/>
          <p:cNvSpPr/>
          <p:nvPr/>
        </p:nvSpPr>
        <p:spPr>
          <a:xfrm>
            <a:off x="9738360" y="1874519"/>
            <a:ext cx="1554480" cy="256032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059669"/>
                </a:solidFill>
                <a:latin typeface="Segoe UI"/>
              </a:rPr>
              <a:t>STAGE 4 • VERDICT</a:t>
            </a:r>
          </a:p>
        </p:txBody>
      </p:sp>
      <p:sp>
        <p:nvSpPr>
          <p:cNvPr id="134" name="TextBox_134"/>
          <p:cNvSpPr txBox="1"/>
          <p:nvPr/>
        </p:nvSpPr>
        <p:spPr>
          <a:xfrm>
            <a:off x="9738360" y="2194560"/>
            <a:ext cx="1554480" cy="3657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Underwriter</a:t>
            </a:r>
          </a:p>
        </p:txBody>
      </p:sp>
      <p:sp>
        <p:nvSpPr>
          <p:cNvPr id="135" name="TextBox_135"/>
          <p:cNvSpPr txBox="1"/>
          <p:nvPr/>
        </p:nvSpPr>
        <p:spPr>
          <a:xfrm>
            <a:off x="9738360" y="2606040"/>
            <a:ext cx="1554480" cy="34747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1E293B"/>
                </a:solidFill>
                <a:latin typeface="Segoe UI"/>
              </a:rPr>
              <a:t>15 Actuarial Modifiers: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M&amp;A Activity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Geographic Spread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Revenue Stability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Nature of Services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Domain Encryption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Breach History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1" i="0">
                <a:solidFill>
                  <a:srgbClr val="059669"/>
                </a:solidFill>
                <a:latin typeface="Segoe UI"/>
              </a:rPr>
              <a:t>• Final Rate Modifier</a:t>
            </a: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DATA HARVESTING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360° Corporate Data Ingestion Across 6+ Live Public Tiers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Automated harvesting combines financial filings, entity registries, technical posture, and brand intelligence.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5" name="Badge_105"/>
          <p:cNvSpPr/>
          <p:nvPr/>
        </p:nvSpPr>
        <p:spPr>
          <a:xfrm>
            <a:off x="960120" y="1856232"/>
            <a:ext cx="2011680" cy="237744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2563EB"/>
                </a:solidFill>
                <a:latin typeface="Segoe UI"/>
              </a:rPr>
              <a:t>FINANCIAL FILINGS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960120" y="2130552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SEC EDGAR XBRL API</a:t>
            </a:r>
          </a:p>
        </p:txBody>
      </p:sp>
      <p:sp>
        <p:nvSpPr>
          <p:cNvPr id="107" name="TextBox_107"/>
          <p:cNvSpPr txBox="1"/>
          <p:nvPr/>
        </p:nvSpPr>
        <p:spPr>
          <a:xfrm>
            <a:off x="960120" y="2441448"/>
            <a:ext cx="301752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Annual 10-K &amp; Quarterly 10-Q Revenue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SIC Industry Classification Code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Employee Counts &amp; Fiscal Cycles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PremiumsEarned fallback for Insurers</a:t>
            </a:r>
          </a:p>
        </p:txBody>
      </p:sp>
      <p:sp>
        <p:nvSpPr>
          <p:cNvPr id="108" name="Badge_108"/>
          <p:cNvSpPr/>
          <p:nvPr/>
        </p:nvSpPr>
        <p:spPr>
          <a:xfrm>
            <a:off x="960120" y="347472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~1.2s</a:t>
            </a:r>
          </a:p>
        </p:txBody>
      </p:sp>
      <p:sp>
        <p:nvSpPr>
          <p:cNvPr id="109" name="Badge_109"/>
          <p:cNvSpPr/>
          <p:nvPr/>
        </p:nvSpPr>
        <p:spPr>
          <a:xfrm>
            <a:off x="2240280" y="3474720"/>
            <a:ext cx="173736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2563EB"/>
                </a:solidFill>
                <a:latin typeface="Segoe UI"/>
              </a:rPr>
              <a:t>99.9% (US Public)</a:t>
            </a:r>
          </a:p>
        </p:txBody>
      </p:sp>
      <p:sp>
        <p:nvSpPr>
          <p:cNvPr id="110" name="Card_110"/>
          <p:cNvSpPr/>
          <p:nvPr/>
        </p:nvSpPr>
        <p:spPr>
          <a:xfrm>
            <a:off x="4370832" y="1691640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1" name="Badge_111"/>
          <p:cNvSpPr/>
          <p:nvPr/>
        </p:nvSpPr>
        <p:spPr>
          <a:xfrm>
            <a:off x="4599432" y="1856232"/>
            <a:ext cx="2011680" cy="237744"/>
          </a:xfrm>
          <a:prstGeom prst="roundRect">
            <a:avLst>
              <a:gd name="adj" fmla="val 25000"/>
            </a:avLst>
          </a:prstGeom>
          <a:solidFill>
            <a:srgbClr val="F0FDFA"/>
          </a:solidFill>
          <a:ln w="9525">
            <a:solidFill>
              <a:srgbClr val="0D948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0D9488"/>
                </a:solidFill>
                <a:latin typeface="Segoe UI"/>
              </a:rPr>
              <a:t>CORPORATE ONTOLOGY</a:t>
            </a:r>
          </a:p>
        </p:txBody>
      </p:sp>
      <p:sp>
        <p:nvSpPr>
          <p:cNvPr id="112" name="TextBox_112"/>
          <p:cNvSpPr txBox="1"/>
          <p:nvPr/>
        </p:nvSpPr>
        <p:spPr>
          <a:xfrm>
            <a:off x="4599432" y="2130552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Wikidata SPARQL Engine</a:t>
            </a:r>
          </a:p>
        </p:txBody>
      </p:sp>
      <p:sp>
        <p:nvSpPr>
          <p:cNvPr id="113" name="TextBox_113"/>
          <p:cNvSpPr txBox="1"/>
          <p:nvPr/>
        </p:nvSpPr>
        <p:spPr>
          <a:xfrm>
            <a:off x="4599432" y="2441448"/>
            <a:ext cx="301752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Parent Corporation &amp; Inception Date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Global Subsidiary Tree &amp; Headcount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HQ Country &amp; Geographic Locations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Dynamic Industry Claims</a:t>
            </a:r>
          </a:p>
        </p:txBody>
      </p:sp>
      <p:sp>
        <p:nvSpPr>
          <p:cNvPr id="114" name="Badge_114"/>
          <p:cNvSpPr/>
          <p:nvPr/>
        </p:nvSpPr>
        <p:spPr>
          <a:xfrm>
            <a:off x="4599432" y="347472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~0.8s</a:t>
            </a:r>
          </a:p>
        </p:txBody>
      </p:sp>
      <p:sp>
        <p:nvSpPr>
          <p:cNvPr id="115" name="Badge_115"/>
          <p:cNvSpPr/>
          <p:nvPr/>
        </p:nvSpPr>
        <p:spPr>
          <a:xfrm>
            <a:off x="5879592" y="3474720"/>
            <a:ext cx="173736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0D948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0D9488"/>
                </a:solidFill>
                <a:latin typeface="Segoe UI"/>
              </a:rPr>
              <a:t>Global Coverage</a:t>
            </a:r>
          </a:p>
        </p:txBody>
      </p:sp>
      <p:sp>
        <p:nvSpPr>
          <p:cNvPr id="116" name="Card_116"/>
          <p:cNvSpPr/>
          <p:nvPr/>
        </p:nvSpPr>
        <p:spPr>
          <a:xfrm>
            <a:off x="8010144" y="1691640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7" name="Badge_117"/>
          <p:cNvSpPr/>
          <p:nvPr/>
        </p:nvSpPr>
        <p:spPr>
          <a:xfrm>
            <a:off x="8238744" y="1856232"/>
            <a:ext cx="2011680" cy="237744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9525">
            <a:solidFill>
              <a:srgbClr val="7C3AED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7C3AED"/>
                </a:solidFill>
                <a:latin typeface="Segoe UI"/>
              </a:rPr>
              <a:t>BRAND &amp; SERVICES</a:t>
            </a:r>
          </a:p>
        </p:txBody>
      </p:sp>
      <p:sp>
        <p:nvSpPr>
          <p:cNvPr id="118" name="TextBox_118"/>
          <p:cNvSpPr txBox="1"/>
          <p:nvPr/>
        </p:nvSpPr>
        <p:spPr>
          <a:xfrm>
            <a:off x="8238744" y="2130552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Wikipedia REST API</a:t>
            </a:r>
          </a:p>
        </p:txBody>
      </p:sp>
      <p:sp>
        <p:nvSpPr>
          <p:cNvPr id="119" name="TextBox_119"/>
          <p:cNvSpPr txBox="1"/>
          <p:nvPr/>
        </p:nvSpPr>
        <p:spPr>
          <a:xfrm>
            <a:off x="8238744" y="2441448"/>
            <a:ext cx="301752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Nature of Business &amp; Primary Services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Major M&amp;A Acquisitions &amp; Divestitures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Historical Breach &amp; Crisis Events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B2C vs. B2B Product Mentions</a:t>
            </a:r>
          </a:p>
        </p:txBody>
      </p:sp>
      <p:sp>
        <p:nvSpPr>
          <p:cNvPr id="120" name="Badge_120"/>
          <p:cNvSpPr/>
          <p:nvPr/>
        </p:nvSpPr>
        <p:spPr>
          <a:xfrm>
            <a:off x="8238744" y="347472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~0.5s</a:t>
            </a:r>
          </a:p>
        </p:txBody>
      </p:sp>
      <p:sp>
        <p:nvSpPr>
          <p:cNvPr id="121" name="Badge_121"/>
          <p:cNvSpPr/>
          <p:nvPr/>
        </p:nvSpPr>
        <p:spPr>
          <a:xfrm>
            <a:off x="9518904" y="3474720"/>
            <a:ext cx="173736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7C3AED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7C3AED"/>
                </a:solidFill>
                <a:latin typeface="Segoe UI"/>
              </a:rPr>
              <a:t>High Precision</a:t>
            </a:r>
          </a:p>
        </p:txBody>
      </p:sp>
      <p:sp>
        <p:nvSpPr>
          <p:cNvPr id="122" name="Card_122"/>
          <p:cNvSpPr/>
          <p:nvPr/>
        </p:nvSpPr>
        <p:spPr>
          <a:xfrm>
            <a:off x="731520" y="3977639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3" name="Badge_123"/>
          <p:cNvSpPr/>
          <p:nvPr/>
        </p:nvSpPr>
        <p:spPr>
          <a:xfrm>
            <a:off x="960120" y="4142231"/>
            <a:ext cx="2011680" cy="237744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D97706"/>
                </a:solidFill>
                <a:latin typeface="Segoe UI"/>
              </a:rPr>
              <a:t>LEGAL ENTITY VALIDATION</a:t>
            </a:r>
          </a:p>
        </p:txBody>
      </p:sp>
      <p:sp>
        <p:nvSpPr>
          <p:cNvPr id="124" name="TextBox_124"/>
          <p:cNvSpPr txBox="1"/>
          <p:nvPr/>
        </p:nvSpPr>
        <p:spPr>
          <a:xfrm>
            <a:off x="960120" y="4416552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D&amp;B / GLEIF Registries</a:t>
            </a:r>
          </a:p>
        </p:txBody>
      </p:sp>
      <p:sp>
        <p:nvSpPr>
          <p:cNvPr id="125" name="TextBox_125"/>
          <p:cNvSpPr txBox="1"/>
          <p:nvPr/>
        </p:nvSpPr>
        <p:spPr>
          <a:xfrm>
            <a:off x="960120" y="4727448"/>
            <a:ext cx="301752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Legal Entity Identifier (LEI) Code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Jurisdiction of Incorporation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Active Registration &amp; Legal Status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Official Trading Name Matching</a:t>
            </a:r>
          </a:p>
        </p:txBody>
      </p:sp>
      <p:sp>
        <p:nvSpPr>
          <p:cNvPr id="126" name="Badge_126"/>
          <p:cNvSpPr/>
          <p:nvPr/>
        </p:nvSpPr>
        <p:spPr>
          <a:xfrm>
            <a:off x="960120" y="576072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~0.7s</a:t>
            </a:r>
          </a:p>
        </p:txBody>
      </p:sp>
      <p:sp>
        <p:nvSpPr>
          <p:cNvPr id="127" name="Badge_127"/>
          <p:cNvSpPr/>
          <p:nvPr/>
        </p:nvSpPr>
        <p:spPr>
          <a:xfrm>
            <a:off x="2240280" y="5760720"/>
            <a:ext cx="173736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D9770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D97706"/>
                </a:solidFill>
                <a:latin typeface="Segoe UI"/>
              </a:rPr>
              <a:t>Official Registry</a:t>
            </a:r>
          </a:p>
        </p:txBody>
      </p:sp>
      <p:sp>
        <p:nvSpPr>
          <p:cNvPr id="128" name="Card_128"/>
          <p:cNvSpPr/>
          <p:nvPr/>
        </p:nvSpPr>
        <p:spPr>
          <a:xfrm>
            <a:off x="4370832" y="3977639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9" name="Badge_129"/>
          <p:cNvSpPr/>
          <p:nvPr/>
        </p:nvSpPr>
        <p:spPr>
          <a:xfrm>
            <a:off x="4599432" y="4142231"/>
            <a:ext cx="2011680" cy="237744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TECHNICAL POSTURE</a:t>
            </a:r>
          </a:p>
        </p:txBody>
      </p:sp>
      <p:sp>
        <p:nvSpPr>
          <p:cNvPr id="130" name="TextBox_130"/>
          <p:cNvSpPr txBox="1"/>
          <p:nvPr/>
        </p:nvSpPr>
        <p:spPr>
          <a:xfrm>
            <a:off x="4599432" y="4416552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Live SSL &amp; HTML Scraper</a:t>
            </a:r>
          </a:p>
        </p:txBody>
      </p:sp>
      <p:sp>
        <p:nvSpPr>
          <p:cNvPr id="131" name="TextBox_131"/>
          <p:cNvSpPr txBox="1"/>
          <p:nvPr/>
        </p:nvSpPr>
        <p:spPr>
          <a:xfrm>
            <a:off x="4599432" y="4727448"/>
            <a:ext cx="301752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TLS / SSL Certificate Cipher &amp; Grade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Privacy Policy &amp; GDPR/CCPA Detection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SOC2 / ISO 27001 Compliance Badges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Active E-commerce Payment Gateways</a:t>
            </a:r>
          </a:p>
        </p:txBody>
      </p:sp>
      <p:sp>
        <p:nvSpPr>
          <p:cNvPr id="132" name="Badge_132"/>
          <p:cNvSpPr/>
          <p:nvPr/>
        </p:nvSpPr>
        <p:spPr>
          <a:xfrm>
            <a:off x="4599432" y="576072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~1.8s</a:t>
            </a:r>
          </a:p>
        </p:txBody>
      </p:sp>
      <p:sp>
        <p:nvSpPr>
          <p:cNvPr id="133" name="Badge_133"/>
          <p:cNvSpPr/>
          <p:nvPr/>
        </p:nvSpPr>
        <p:spPr>
          <a:xfrm>
            <a:off x="5879592" y="5760720"/>
            <a:ext cx="173736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059669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059669"/>
                </a:solidFill>
                <a:latin typeface="Segoe UI"/>
              </a:rPr>
              <a:t>Live Web Proof</a:t>
            </a:r>
          </a:p>
        </p:txBody>
      </p:sp>
      <p:sp>
        <p:nvSpPr>
          <p:cNvPr id="134" name="Card_134"/>
          <p:cNvSpPr/>
          <p:nvPr/>
        </p:nvSpPr>
        <p:spPr>
          <a:xfrm>
            <a:off x="8010144" y="3977639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35" name="Badge_135"/>
          <p:cNvSpPr/>
          <p:nvPr/>
        </p:nvSpPr>
        <p:spPr>
          <a:xfrm>
            <a:off x="8238744" y="4142231"/>
            <a:ext cx="2011680" cy="237744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DC2626"/>
                </a:solidFill>
                <a:latin typeface="Segoe UI"/>
              </a:rPr>
              <a:t>NEWS &amp; CYBER BREACH</a:t>
            </a:r>
          </a:p>
        </p:txBody>
      </p:sp>
      <p:sp>
        <p:nvSpPr>
          <p:cNvPr id="136" name="TextBox_136"/>
          <p:cNvSpPr txBox="1"/>
          <p:nvPr/>
        </p:nvSpPr>
        <p:spPr>
          <a:xfrm>
            <a:off x="8238744" y="4416552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SerpAPI / Tavily Search</a:t>
            </a:r>
          </a:p>
        </p:txBody>
      </p:sp>
      <p:sp>
        <p:nvSpPr>
          <p:cNvPr id="137" name="TextBox_137"/>
          <p:cNvSpPr txBox="1"/>
          <p:nvPr/>
        </p:nvSpPr>
        <p:spPr>
          <a:xfrm>
            <a:off x="8238744" y="4727448"/>
            <a:ext cx="301752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Recent Cyber Breach &amp; Ransomware Events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Active Litigation &amp; FTC Regulatory Actions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Discovered Alternate Domains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Cross-Source Revenue Corroboration</a:t>
            </a:r>
          </a:p>
        </p:txBody>
      </p:sp>
      <p:sp>
        <p:nvSpPr>
          <p:cNvPr id="138" name="Badge_138"/>
          <p:cNvSpPr/>
          <p:nvPr/>
        </p:nvSpPr>
        <p:spPr>
          <a:xfrm>
            <a:off x="8238744" y="576072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~1.5s</a:t>
            </a:r>
          </a:p>
        </p:txBody>
      </p:sp>
      <p:sp>
        <p:nvSpPr>
          <p:cNvPr id="139" name="Badge_139"/>
          <p:cNvSpPr/>
          <p:nvPr/>
        </p:nvSpPr>
        <p:spPr>
          <a:xfrm>
            <a:off x="9518904" y="5760720"/>
            <a:ext cx="173736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DC262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DC2626"/>
                </a:solidFill>
                <a:latin typeface="Segoe UI"/>
              </a:rPr>
              <a:t>Live Real-Time</a:t>
            </a: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GOVERNANCE &amp; TRUST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Consensus Fact-Checking &amp; Evidence Lineage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Cross-validating harvested claims across independent public sources to guarantee data integrity and eliminate hallucinations.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71323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5" name="Badge_105"/>
          <p:cNvSpPr/>
          <p:nvPr/>
        </p:nvSpPr>
        <p:spPr>
          <a:xfrm>
            <a:off x="1005840" y="1874519"/>
            <a:ext cx="2377440" cy="25603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1D4ED8"/>
                </a:solidFill>
                <a:latin typeface="Segoe UI"/>
              </a:rPr>
              <a:t>LIVE VERIFICATION MATRIX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1005840" y="2194560"/>
            <a:ext cx="65836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Cross-Source Agreement Sample (Liberty Mutual Insurance)</a:t>
            </a:r>
          </a:p>
        </p:txBody>
      </p:sp>
      <p:graphicFrame>
        <p:nvGraphicFramePr>
          <p:cNvPr id="107" name="Table_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944640"/>
              </p:ext>
            </p:extLst>
          </p:nvPr>
        </p:nvGraphicFramePr>
        <p:xfrm>
          <a:off x="883663" y="2606168"/>
          <a:ext cx="6931297" cy="2834640"/>
        </p:xfrm>
        <a:graphic>
          <a:graphicData uri="http://schemas.openxmlformats.org/drawingml/2006/table">
            <a:tbl>
              <a:tblPr firstRow="1"/>
              <a:tblGrid>
                <a:gridCol w="1417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6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Claimed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Primary Extracted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Corroborating Sources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Annual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$49.5 Billion (FY2023)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 dirty="0">
                          <a:solidFill>
                            <a:srgbClr val="334155"/>
                          </a:solidFill>
                          <a:latin typeface="Segoe UI"/>
                        </a:rPr>
                        <a:t>SEC 10-K + </a:t>
                      </a:r>
                      <a:r>
                        <a:rPr lang="en-US" sz="850" b="0" dirty="0" err="1">
                          <a:solidFill>
                            <a:srgbClr val="334155"/>
                          </a:solidFill>
                          <a:latin typeface="Segoe UI"/>
                        </a:rPr>
                        <a:t>Wikidata</a:t>
                      </a:r>
                      <a:r>
                        <a:rPr lang="en-US" sz="850" b="0" dirty="0">
                          <a:solidFill>
                            <a:srgbClr val="334155"/>
                          </a:solidFill>
                          <a:latin typeface="Segoe UI"/>
                        </a:rPr>
                        <a:t> +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59669"/>
                          </a:solidFill>
                          <a:latin typeface="Segoe UI"/>
                          <a:cs typeface="Segoe UI"/>
                        </a:rPr>
                        <a:t>[VERIFIED] 3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Employee Count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45,000+ Full-Time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SEC 10-K + Wikipedia + D&amp;B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59669"/>
                          </a:solidFill>
                          <a:latin typeface="Segoe UI"/>
                          <a:cs typeface="Segoe UI"/>
                        </a:rPr>
                        <a:t>[VERIFIED] 3 Sources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Inception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1912 (112 Years in Business)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 dirty="0" err="1">
                          <a:solidFill>
                            <a:srgbClr val="334155"/>
                          </a:solidFill>
                          <a:latin typeface="Segoe UI"/>
                        </a:rPr>
                        <a:t>Wikidata</a:t>
                      </a:r>
                      <a:r>
                        <a:rPr lang="en-US" sz="850" b="0" dirty="0">
                          <a:solidFill>
                            <a:srgbClr val="334155"/>
                          </a:solidFill>
                          <a:latin typeface="Segoe UI"/>
                        </a:rPr>
                        <a:t> + Wikipedia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2563EB"/>
                          </a:solidFill>
                          <a:latin typeface="Segoe UI"/>
                          <a:cs typeface="Segoe UI"/>
                        </a:rPr>
                        <a:t>[CONFIRMED] 2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Primary HQ Country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United States (Boston, MA)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GLEIF + SEC + Wikipedia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59669"/>
                          </a:solidFill>
                          <a:latin typeface="Segoe UI"/>
                          <a:cs typeface="Segoe UI"/>
                        </a:rPr>
                        <a:t>[VERIFIED] 3 Sources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Active Subsidiaries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60+ Global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 dirty="0" err="1">
                          <a:solidFill>
                            <a:srgbClr val="334155"/>
                          </a:solidFill>
                          <a:latin typeface="Segoe UI"/>
                        </a:rPr>
                        <a:t>Wikidata</a:t>
                      </a:r>
                      <a:r>
                        <a:rPr lang="en-US" sz="850" b="0" dirty="0">
                          <a:solidFill>
                            <a:srgbClr val="334155"/>
                          </a:solidFill>
                          <a:latin typeface="Segoe UI"/>
                        </a:rPr>
                        <a:t> SPARQL + </a:t>
                      </a:r>
                      <a:r>
                        <a:rPr lang="en-US" sz="850" b="0" dirty="0" err="1">
                          <a:solidFill>
                            <a:srgbClr val="334155"/>
                          </a:solidFill>
                          <a:latin typeface="Segoe UI"/>
                        </a:rPr>
                        <a:t>OpenCorp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2563EB"/>
                          </a:solidFill>
                          <a:latin typeface="Segoe UI"/>
                          <a:cs typeface="Segoe UI"/>
                        </a:rPr>
                        <a:t>[CONFIRMED] 2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Domain TLS Security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Grade A (HTTPS Enforced)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Direct SSL Live Handshake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2563EB"/>
                          </a:solidFill>
                          <a:latin typeface="Segoe UI"/>
                          <a:cs typeface="Segoe UI"/>
                        </a:rPr>
                        <a:t>[CONFIRMED] Verified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latin typeface="Segoe UI"/>
                        <a:cs typeface="Segoe UI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Privacy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GDPR / CCPA / Notice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Live HTML Scraper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2563EB"/>
                          </a:solidFill>
                          <a:latin typeface="Segoe UI"/>
                          <a:cs typeface="Segoe UI"/>
                        </a:rPr>
                        <a:t>[CONFIRMED]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Past Cyber Breaches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No catastrophic breach in 36m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 dirty="0" err="1">
                          <a:solidFill>
                            <a:srgbClr val="334155"/>
                          </a:solidFill>
                          <a:latin typeface="Segoe UI"/>
                        </a:rPr>
                        <a:t>SerpAPI</a:t>
                      </a:r>
                      <a:r>
                        <a:rPr lang="en-US" sz="850" b="0" dirty="0">
                          <a:solidFill>
                            <a:srgbClr val="334155"/>
                          </a:solidFill>
                          <a:latin typeface="Segoe UI"/>
                        </a:rPr>
                        <a:t> + FTC + News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59669"/>
                          </a:solidFill>
                          <a:latin typeface="Segoe UI"/>
                          <a:cs typeface="Segoe UI"/>
                        </a:rPr>
                        <a:t>[VERIFIED] No Action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8" name="Card_108"/>
          <p:cNvSpPr/>
          <p:nvPr/>
        </p:nvSpPr>
        <p:spPr>
          <a:xfrm>
            <a:off x="8046720" y="1691640"/>
            <a:ext cx="338328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</p:sp>
      <p:sp>
        <p:nvSpPr>
          <p:cNvPr id="109" name="Badge_109"/>
          <p:cNvSpPr/>
          <p:nvPr/>
        </p:nvSpPr>
        <p:spPr>
          <a:xfrm>
            <a:off x="8229600" y="1874519"/>
            <a:ext cx="1828800" cy="237744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CONSENSUS ACCURACY</a:t>
            </a:r>
          </a:p>
        </p:txBody>
      </p:sp>
      <p:sp>
        <p:nvSpPr>
          <p:cNvPr id="110" name="TextBox_110"/>
          <p:cNvSpPr txBox="1"/>
          <p:nvPr/>
        </p:nvSpPr>
        <p:spPr>
          <a:xfrm>
            <a:off x="8229600" y="2194560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Quantitative Confidence Score</a:t>
            </a:r>
          </a:p>
        </p:txBody>
      </p:sp>
      <p:sp>
        <p:nvSpPr>
          <p:cNvPr id="111" name="TextBox_111"/>
          <p:cNvSpPr txBox="1"/>
          <p:nvPr/>
        </p:nvSpPr>
        <p:spPr>
          <a:xfrm>
            <a:off x="8229600" y="2560320"/>
            <a:ext cx="3017520" cy="11887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Accuracy score consistently achieves &gt;90% across fully scraped corporate profiles.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Claims verified by 3+ independent sources receive automatic high confidence rating.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Conflicting evidence triggers automated source-priority reconciliation hierarchy.</a:t>
            </a:r>
          </a:p>
        </p:txBody>
      </p:sp>
      <p:sp>
        <p:nvSpPr>
          <p:cNvPr id="112" name="Card_112"/>
          <p:cNvSpPr/>
          <p:nvPr/>
        </p:nvSpPr>
        <p:spPr>
          <a:xfrm>
            <a:off x="8046720" y="4069080"/>
            <a:ext cx="338328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</p:sp>
      <p:sp>
        <p:nvSpPr>
          <p:cNvPr id="113" name="Badge_113"/>
          <p:cNvSpPr/>
          <p:nvPr/>
        </p:nvSpPr>
        <p:spPr>
          <a:xfrm>
            <a:off x="8229600" y="4251960"/>
            <a:ext cx="2194560" cy="237744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D97706"/>
                </a:solidFill>
                <a:latin typeface="Segoe UI"/>
              </a:rPr>
              <a:t>HUMAN-IN-THE-LOOP (HITL)</a:t>
            </a:r>
          </a:p>
        </p:txBody>
      </p:sp>
      <p:sp>
        <p:nvSpPr>
          <p:cNvPr id="114" name="TextBox_114"/>
          <p:cNvSpPr txBox="1"/>
          <p:nvPr/>
        </p:nvSpPr>
        <p:spPr>
          <a:xfrm>
            <a:off x="8229600" y="4572000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Automated Escalation Guardrails</a:t>
            </a:r>
          </a:p>
        </p:txBody>
      </p:sp>
      <p:sp>
        <p:nvSpPr>
          <p:cNvPr id="115" name="TextBox_115"/>
          <p:cNvSpPr txBox="1"/>
          <p:nvPr/>
        </p:nvSpPr>
        <p:spPr>
          <a:xfrm>
            <a:off x="8229600" y="4937760"/>
            <a:ext cx="3017520" cy="11887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Consensus below 50% automatically flags submission for senior underwriter manual review.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Every data point links directly to source evidence URL &amp; timestamp snippet.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Zero black-box outputs: total explainability for regulatory and audit compliance.</a:t>
            </a: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UNDERWRITING ENGINE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15 Deterministic Cyber Risk Underwriting Modifiers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Raw company facts are programmatically mapped to 15 standard commercial cyber underwriting risk dimensions.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26060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5" name="Badge_105"/>
          <p:cNvSpPr/>
          <p:nvPr/>
        </p:nvSpPr>
        <p:spPr>
          <a:xfrm>
            <a:off x="868680" y="1874519"/>
            <a:ext cx="2331720" cy="237744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2563EB"/>
                </a:solidFill>
                <a:latin typeface="Segoe UI"/>
              </a:rPr>
              <a:t>1. CORPORATE PROFILE &amp; SCALE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868680" y="2194560"/>
            <a:ext cx="2331720" cy="30175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Years in Business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Decades of operation establish operational resilience (&gt;10 yrs = Favourable).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Geographic Spread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Presence across global jurisdictions increases regulatory surface.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Organizational Complexity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Large subsidiary trees &amp; multi-tier parent structures.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Mergers &amp; Acquisitions (M&amp;A)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Recent acquisitions introduce unvetted IT legacy risks.</a:t>
            </a:r>
          </a:p>
        </p:txBody>
      </p:sp>
      <p:sp>
        <p:nvSpPr>
          <p:cNvPr id="107" name="Card_107"/>
          <p:cNvSpPr/>
          <p:nvPr/>
        </p:nvSpPr>
        <p:spPr>
          <a:xfrm>
            <a:off x="3456432" y="1691640"/>
            <a:ext cx="26060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8" name="Badge_108"/>
          <p:cNvSpPr/>
          <p:nvPr/>
        </p:nvSpPr>
        <p:spPr>
          <a:xfrm>
            <a:off x="3593592" y="1874519"/>
            <a:ext cx="2331720" cy="237744"/>
          </a:xfrm>
          <a:prstGeom prst="roundRect">
            <a:avLst>
              <a:gd name="adj" fmla="val 25000"/>
            </a:avLst>
          </a:prstGeom>
          <a:solidFill>
            <a:srgbClr val="F0FDFA"/>
          </a:solidFill>
          <a:ln w="9525">
            <a:solidFill>
              <a:srgbClr val="0D948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0D9488"/>
                </a:solidFill>
                <a:latin typeface="Segoe UI"/>
              </a:rPr>
              <a:t>2. FINANCIAL STABILITY</a:t>
            </a:r>
          </a:p>
        </p:txBody>
      </p:sp>
      <p:sp>
        <p:nvSpPr>
          <p:cNvPr id="109" name="TextBox_109"/>
          <p:cNvSpPr txBox="1"/>
          <p:nvPr/>
        </p:nvSpPr>
        <p:spPr>
          <a:xfrm>
            <a:off x="3593592" y="2194560"/>
            <a:ext cx="2331720" cy="30175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Seasonality of Sales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High revenue spikes (Q4 peaks) create ransomware vulnerability windows.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Volatility &amp; Recovery in Sales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Erratic YoY revenue swings indicate cashflow risk during incident recovery.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Nature of Services (SIC)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High-risk vs. low-risk industry classifications mapped from SEC SIC codes.</a:t>
            </a:r>
          </a:p>
        </p:txBody>
      </p:sp>
      <p:sp>
        <p:nvSpPr>
          <p:cNvPr id="110" name="Card_11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1" name="Badge_111"/>
          <p:cNvSpPr/>
          <p:nvPr/>
        </p:nvSpPr>
        <p:spPr>
          <a:xfrm>
            <a:off x="6318504" y="1874519"/>
            <a:ext cx="2331720" cy="237744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9525">
            <a:solidFill>
              <a:srgbClr val="7C3AED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7C3AED"/>
                </a:solidFill>
                <a:latin typeface="Segoe UI"/>
              </a:rPr>
              <a:t>3. TECHNICAL &amp; CYBER SURFACE</a:t>
            </a:r>
          </a:p>
        </p:txBody>
      </p:sp>
      <p:sp>
        <p:nvSpPr>
          <p:cNvPr id="112" name="TextBox_112"/>
          <p:cNvSpPr txBox="1"/>
          <p:nvPr/>
        </p:nvSpPr>
        <p:spPr>
          <a:xfrm>
            <a:off x="6318504" y="2194560"/>
            <a:ext cx="2331720" cy="30175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Domain Encryption &amp; SSL Grade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TLS cipher grade (A vs C/F) and HTTPS enforcement.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Internet Footprint &amp; Discovered Domains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Total online brand assets and exposed public web properties.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B2C End Products &amp; Payment Portals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Direct consumer transactions increase PCI-DSS attack vector.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Cybersecurity Posture &amp; SOC2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Publicly verifiable security compliance attestations.</a:t>
            </a:r>
          </a:p>
        </p:txBody>
      </p:sp>
      <p:sp>
        <p:nvSpPr>
          <p:cNvPr id="113" name="Card_113"/>
          <p:cNvSpPr/>
          <p:nvPr/>
        </p:nvSpPr>
        <p:spPr>
          <a:xfrm>
            <a:off x="8906256" y="1691640"/>
            <a:ext cx="26060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4" name="Badge_114"/>
          <p:cNvSpPr/>
          <p:nvPr/>
        </p:nvSpPr>
        <p:spPr>
          <a:xfrm>
            <a:off x="9043416" y="1874519"/>
            <a:ext cx="2331720" cy="237744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DC2626"/>
                </a:solidFill>
                <a:latin typeface="Segoe UI"/>
              </a:rPr>
              <a:t>4. COMPLIANCE, PRIVACY &amp; BREACH</a:t>
            </a:r>
          </a:p>
        </p:txBody>
      </p:sp>
      <p:sp>
        <p:nvSpPr>
          <p:cNvPr id="115" name="TextBox_115"/>
          <p:cNvSpPr txBox="1"/>
          <p:nvPr/>
        </p:nvSpPr>
        <p:spPr>
          <a:xfrm>
            <a:off x="9043416" y="2194560"/>
            <a:ext cx="2331720" cy="30175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Sensitive Information Handled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PII, PHI, financial records, or biometric consumer data.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Privacy Regulation (GDPR / CCPA)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Subject to stringent state/global statutory privacy penalties.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Company &amp; Industry Breach History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Past ransomware incidents, public disclosures, or FTC enforcement actions.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Active Litigation &amp; Legal Actions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Ongoing court disputes regarding data exposure or IP theft.</a:t>
            </a:r>
          </a:p>
        </p:txBody>
      </p:sp>
      <p:sp>
        <p:nvSpPr>
          <p:cNvPr id="116" name="Card_116"/>
          <p:cNvSpPr/>
          <p:nvPr/>
        </p:nvSpPr>
        <p:spPr>
          <a:xfrm>
            <a:off x="731520" y="5486400"/>
            <a:ext cx="10725912" cy="777240"/>
          </a:xfrm>
          <a:prstGeom prst="roundRect">
            <a:avLst>
              <a:gd name="adj" fmla="val 15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</p:spPr>
      </p:sp>
      <p:sp>
        <p:nvSpPr>
          <p:cNvPr id="117" name="TextBox_117"/>
          <p:cNvSpPr txBox="1"/>
          <p:nvPr/>
        </p:nvSpPr>
        <p:spPr>
          <a:xfrm>
            <a:off x="1005840" y="5532120"/>
            <a:ext cx="10241280" cy="68580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000" b="1" i="0">
                <a:solidFill>
                  <a:srgbClr val="FFFFFF"/>
                </a:solidFill>
                <a:latin typeface="Segoe UI"/>
              </a:rPr>
              <a:t>DETERMINISTIC SCORING FORMULA: Evidence → Modifier Rules Engine → Category Score (1.0 to 6.0) → Final Rating Modifier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38BDF8"/>
                </a:solidFill>
                <a:latin typeface="Segoe UI"/>
              </a:rPr>
              <a:t>• Very Favourable (1.0 - 2.0 / Credit)   • Favourable (2.1 - 3.5)   • Average / Neutral (3.6 - 4.5)   • Unfavourable (4.6 - 6.0 / Debit)</a:t>
            </a: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ACTUARIAL BUSINESS LOGIC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Deep-Dive: Mathematical Formulas &amp; Underwriting Rules for Key Modifiers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Demonstrating how extracted corporate evidence is converted into deterministic risk scores without LLM hallucination.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5" name="Badge_105"/>
          <p:cNvSpPr/>
          <p:nvPr/>
        </p:nvSpPr>
        <p:spPr>
          <a:xfrm>
            <a:off x="914400" y="1874519"/>
            <a:ext cx="3108960" cy="25603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2563EB"/>
                </a:solidFill>
                <a:latin typeface="Segoe UI"/>
              </a:rPr>
              <a:t>MODIFIER 1 • M&amp;A INTEGRATION RISK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914400" y="2194560"/>
            <a:ext cx="310896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Mergers &amp; Acquisitions Activity</a:t>
            </a:r>
          </a:p>
        </p:txBody>
      </p:sp>
      <p:sp>
        <p:nvSpPr>
          <p:cNvPr id="107" name="Card_107"/>
          <p:cNvSpPr/>
          <p:nvPr/>
        </p:nvSpPr>
        <p:spPr>
          <a:xfrm>
            <a:off x="914400" y="2560320"/>
            <a:ext cx="3108960" cy="96012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08" name="TextBox_108"/>
          <p:cNvSpPr txBox="1"/>
          <p:nvPr/>
        </p:nvSpPr>
        <p:spPr>
          <a:xfrm>
            <a:off x="960120" y="2606040"/>
            <a:ext cx="3017520" cy="8686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1E293B"/>
                </a:solidFill>
                <a:latin typeface="Segoe UI"/>
              </a:rPr>
              <a:t>Underwriting Rationale: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Unintegrated legacy networks, shadow IT infrastructure, disparate IAM directories (AD/Okta), and inherited vulnerabilities exponentially increase ransomware and breach exposure within 3-5 years post-deal.</a:t>
            </a:r>
          </a:p>
        </p:txBody>
      </p:sp>
      <p:sp>
        <p:nvSpPr>
          <p:cNvPr id="109" name="Card_109"/>
          <p:cNvSpPr/>
          <p:nvPr/>
        </p:nvSpPr>
        <p:spPr>
          <a:xfrm>
            <a:off x="914400" y="3611880"/>
            <a:ext cx="3108960" cy="1143000"/>
          </a:xfrm>
          <a:prstGeom prst="roundRect">
            <a:avLst>
              <a:gd name="adj" fmla="val 12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110" name="TextBox_110"/>
          <p:cNvSpPr txBox="1"/>
          <p:nvPr/>
        </p:nvSpPr>
        <p:spPr>
          <a:xfrm>
            <a:off x="960120" y="3657600"/>
            <a:ext cx="3017520" cy="10515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2563EB"/>
                </a:solidFill>
                <a:latin typeface="Segoe UI"/>
              </a:rPr>
              <a:t>Mathematical Scoring Formula: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1" i="0">
                <a:solidFill>
                  <a:srgbClr val="1E293B"/>
                </a:solidFill>
                <a:latin typeface="Segoe UI"/>
              </a:rPr>
              <a:t>Score = 1.0 + ∑ [ DealWeight_i × e^(-Δt_i / τ) ]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1E293B"/>
                </a:solidFill>
                <a:latin typeface="Segoe UI"/>
              </a:rPr>
              <a:t>• Material Deal (&gt;$1B / core merger): Weight = 3.0, Half-life τ = 5.0 yrs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1E293B"/>
                </a:solidFill>
                <a:latin typeface="Segoe UI"/>
              </a:rPr>
              <a:t>• Minor Bolt-on: Weight = 1.0, Half-life τ = 3.0 yrs</a:t>
            </a:r>
          </a:p>
        </p:txBody>
      </p:sp>
      <p:sp>
        <p:nvSpPr>
          <p:cNvPr id="111" name="TextBox_111"/>
          <p:cNvSpPr txBox="1"/>
          <p:nvPr/>
        </p:nvSpPr>
        <p:spPr>
          <a:xfrm>
            <a:off x="914400" y="4846320"/>
            <a:ext cx="3108960" cy="13258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0F172A"/>
                </a:solidFill>
                <a:latin typeface="Segoe UI"/>
              </a:rPr>
              <a:t>Deterministic Rating Tiers: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0 Acquisitions (Past 5 yrs) → 1.0 (Very Favourable Credit)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1 Minor Bolt-on (&gt;3 yrs ago) → 3.0 (Favourable)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≥2 Minor or 1 Material Deal (&lt;3 yrs) → 4.0 - 4.5 (Average)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Multiple Material Deals (&lt;2 yrs) → 5.5 - 6.0 (Unfavourable Debit)</a:t>
            </a:r>
          </a:p>
        </p:txBody>
      </p:sp>
      <p:sp>
        <p:nvSpPr>
          <p:cNvPr id="112" name="Card_112"/>
          <p:cNvSpPr/>
          <p:nvPr/>
        </p:nvSpPr>
        <p:spPr>
          <a:xfrm>
            <a:off x="4370832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3" name="Badge_113"/>
          <p:cNvSpPr/>
          <p:nvPr/>
        </p:nvSpPr>
        <p:spPr>
          <a:xfrm>
            <a:off x="4553712" y="1874519"/>
            <a:ext cx="3108960" cy="256032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9525">
            <a:solidFill>
              <a:srgbClr val="7C3AED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7C3AED"/>
                </a:solidFill>
                <a:latin typeface="Segoe UI"/>
              </a:rPr>
              <a:t>MODIFIER 2 • ATTACK SURFACE EXPOSURE</a:t>
            </a:r>
          </a:p>
        </p:txBody>
      </p:sp>
      <p:sp>
        <p:nvSpPr>
          <p:cNvPr id="114" name="TextBox_114"/>
          <p:cNvSpPr txBox="1"/>
          <p:nvPr/>
        </p:nvSpPr>
        <p:spPr>
          <a:xfrm>
            <a:off x="4553712" y="2194560"/>
            <a:ext cx="310896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Internet Footprint &amp; Digital Assets</a:t>
            </a:r>
          </a:p>
        </p:txBody>
      </p:sp>
      <p:sp>
        <p:nvSpPr>
          <p:cNvPr id="115" name="Card_115"/>
          <p:cNvSpPr/>
          <p:nvPr/>
        </p:nvSpPr>
        <p:spPr>
          <a:xfrm>
            <a:off x="4553712" y="2560320"/>
            <a:ext cx="3108960" cy="96012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16" name="TextBox_116"/>
          <p:cNvSpPr txBox="1"/>
          <p:nvPr/>
        </p:nvSpPr>
        <p:spPr>
          <a:xfrm>
            <a:off x="4599432" y="2606040"/>
            <a:ext cx="3017520" cy="8686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1E293B"/>
                </a:solidFill>
                <a:latin typeface="Segoe UI"/>
              </a:rPr>
              <a:t>Underwriting Rationale: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Total public-facing perimeter (apex domains, subdomains, payment gateways) directly expands adversary target surface for automated port scanning, bot credential stuffing, and perimeter breaches.</a:t>
            </a:r>
          </a:p>
        </p:txBody>
      </p:sp>
      <p:sp>
        <p:nvSpPr>
          <p:cNvPr id="117" name="Card_117"/>
          <p:cNvSpPr/>
          <p:nvPr/>
        </p:nvSpPr>
        <p:spPr>
          <a:xfrm>
            <a:off x="4553712" y="3611880"/>
            <a:ext cx="3108960" cy="1143000"/>
          </a:xfrm>
          <a:prstGeom prst="roundRect">
            <a:avLst>
              <a:gd name="adj" fmla="val 1200"/>
            </a:avLst>
          </a:prstGeom>
          <a:solidFill>
            <a:srgbClr val="FAF5FF"/>
          </a:solidFill>
          <a:ln w="12700">
            <a:solidFill>
              <a:srgbClr val="E2E8F0"/>
            </a:solidFill>
          </a:ln>
        </p:spPr>
      </p:sp>
      <p:sp>
        <p:nvSpPr>
          <p:cNvPr id="118" name="TextBox_118"/>
          <p:cNvSpPr txBox="1"/>
          <p:nvPr/>
        </p:nvSpPr>
        <p:spPr>
          <a:xfrm>
            <a:off x="4599432" y="3657600"/>
            <a:ext cx="3017520" cy="10515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7C3AED"/>
                </a:solidFill>
                <a:latin typeface="Segoe UI"/>
              </a:rPr>
              <a:t>Mathematical Scoring Formula: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1" i="0">
                <a:solidFill>
                  <a:srgbClr val="1E293B"/>
                </a:solidFill>
                <a:latin typeface="Segoe UI"/>
              </a:rPr>
              <a:t>Exposure = DomainTier × CustomerScaleMult + E-CommPenalty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1E293B"/>
                </a:solidFill>
                <a:latin typeface="Segoe UI"/>
              </a:rPr>
              <a:t>• Domains: ≤2 → 1.0 | 3-5 → 2.0 | 6-15 → 3.0 | &gt;15 → 4.0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1E293B"/>
                </a:solidFill>
                <a:latin typeface="Segoe UI"/>
              </a:rPr>
              <a:t>• Scale Mult: B2B (1.0x) | B2C Large (1.25x) | Enterprise 100M+ (1.5x)</a:t>
            </a:r>
          </a:p>
        </p:txBody>
      </p:sp>
      <p:sp>
        <p:nvSpPr>
          <p:cNvPr id="119" name="TextBox_119"/>
          <p:cNvSpPr txBox="1"/>
          <p:nvPr/>
        </p:nvSpPr>
        <p:spPr>
          <a:xfrm>
            <a:off x="4553712" y="4846320"/>
            <a:ext cx="3108960" cy="13258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0F172A"/>
                </a:solidFill>
                <a:latin typeface="Segoe UI"/>
              </a:rPr>
              <a:t>Deterministic Rating Tiers: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1-2 Domains + No Checkout Portal → 1.0 (Very Favourable)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3-5 Domains + B2B Portal → 3.0 (Favourable)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6-15 Domains + Active E-Commerce → 4.0 - 4.5 (Average)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&gt;15 Domains + Consumer Payment Portals → 5.5 - 6.0 (Debit)</a:t>
            </a:r>
          </a:p>
        </p:txBody>
      </p:sp>
      <p:sp>
        <p:nvSpPr>
          <p:cNvPr id="120" name="Card_120"/>
          <p:cNvSpPr/>
          <p:nvPr/>
        </p:nvSpPr>
        <p:spPr>
          <a:xfrm>
            <a:off x="8010144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1" name="Badge_121"/>
          <p:cNvSpPr/>
          <p:nvPr/>
        </p:nvSpPr>
        <p:spPr>
          <a:xfrm>
            <a:off x="8193023" y="1874519"/>
            <a:ext cx="3108960" cy="256032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MODIFIER 3 • TECHNICAL DEFENSE &amp; BREACHES</a:t>
            </a:r>
          </a:p>
        </p:txBody>
      </p:sp>
      <p:sp>
        <p:nvSpPr>
          <p:cNvPr id="122" name="TextBox_122"/>
          <p:cNvSpPr txBox="1"/>
          <p:nvPr/>
        </p:nvSpPr>
        <p:spPr>
          <a:xfrm>
            <a:off x="8193023" y="2194560"/>
            <a:ext cx="310896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r>
              <a:rPr lang="en-US" sz="1200" b="1" i="0" dirty="0">
                <a:solidFill>
                  <a:srgbClr val="0F172A"/>
                </a:solidFill>
                <a:latin typeface="Segoe UI"/>
              </a:rPr>
              <a:t>Cybersecurity Posture &amp; </a:t>
            </a:r>
            <a:r>
              <a:rPr lang="en-US" sz="1200" b="1">
                <a:solidFill>
                  <a:srgbClr val="0F172A"/>
                </a:solidFill>
                <a:latin typeface="Segoe UI"/>
              </a:rPr>
              <a:t>Past Incidents</a:t>
            </a:r>
            <a:endParaRPr lang="en-US" sz="1200" b="1" i="0" dirty="0">
              <a:solidFill>
                <a:srgbClr val="0F172A"/>
              </a:solidFill>
              <a:latin typeface="Segoe UI"/>
              <a:cs typeface="Segoe UI"/>
            </a:endParaRPr>
          </a:p>
        </p:txBody>
      </p:sp>
      <p:sp>
        <p:nvSpPr>
          <p:cNvPr id="123" name="Card_123"/>
          <p:cNvSpPr/>
          <p:nvPr/>
        </p:nvSpPr>
        <p:spPr>
          <a:xfrm>
            <a:off x="8193023" y="2560320"/>
            <a:ext cx="3108960" cy="96012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24" name="TextBox_124"/>
          <p:cNvSpPr txBox="1"/>
          <p:nvPr/>
        </p:nvSpPr>
        <p:spPr>
          <a:xfrm>
            <a:off x="8238744" y="2606040"/>
            <a:ext cx="3017520" cy="8686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1E293B"/>
                </a:solidFill>
                <a:latin typeface="Segoe UI"/>
              </a:rPr>
              <a:t>Underwriting Rationale: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Live technical controls (DMARC email protection, A-grade TLS, SOC 2 / ISO 27001 attestations, CISO disclosure) directly mitigate catastrophic loss severity, offsetting baseline sector breach rates.</a:t>
            </a:r>
          </a:p>
        </p:txBody>
      </p:sp>
      <p:sp>
        <p:nvSpPr>
          <p:cNvPr id="125" name="Card_125"/>
          <p:cNvSpPr/>
          <p:nvPr/>
        </p:nvSpPr>
        <p:spPr>
          <a:xfrm>
            <a:off x="8193023" y="3611880"/>
            <a:ext cx="3108960" cy="1143000"/>
          </a:xfrm>
          <a:prstGeom prst="roundRect">
            <a:avLst>
              <a:gd name="adj" fmla="val 1200"/>
            </a:avLst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126" name="TextBox_126"/>
          <p:cNvSpPr txBox="1"/>
          <p:nvPr/>
        </p:nvSpPr>
        <p:spPr>
          <a:xfrm>
            <a:off x="8238744" y="3657600"/>
            <a:ext cx="3017520" cy="10515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059669"/>
                </a:solidFill>
                <a:latin typeface="Segoe UI"/>
              </a:rPr>
              <a:t>Mathematical Scoring Formula: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1" i="0">
                <a:solidFill>
                  <a:srgbClr val="1E293B"/>
                </a:solidFill>
                <a:latin typeface="Segoe UI"/>
              </a:rPr>
              <a:t>Posture = 0.40(Frameworks) + 0.40(Live Web Controls) + 0.20(Gov)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1E293B"/>
                </a:solidFill>
                <a:latin typeface="Segoe UI"/>
              </a:rPr>
              <a:t>• DMARC/SPF (+1.0) | Security Headers (+1.0) | security.txt (+0.5)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1E293B"/>
                </a:solidFill>
                <a:latin typeface="Segoe UI"/>
              </a:rPr>
              <a:t>• SOC2/ISO (+1.5) | CISO (+1.0) | Breach in &lt;24m: +2.5 Debit Penalty</a:t>
            </a:r>
          </a:p>
        </p:txBody>
      </p:sp>
      <p:sp>
        <p:nvSpPr>
          <p:cNvPr id="127" name="TextBox_127"/>
          <p:cNvSpPr txBox="1"/>
          <p:nvPr/>
        </p:nvSpPr>
        <p:spPr>
          <a:xfrm>
            <a:off x="8193023" y="4846320"/>
            <a:ext cx="3108960" cy="13258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0F172A"/>
                </a:solidFill>
                <a:latin typeface="Segoe UI"/>
              </a:rPr>
              <a:t>Deterministic Rating Tiers: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Full Attestations + DMARC + 0 Breaches in 36m → 1.0 (Credit)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Grade A SSL + Partial Policies + 0 Breaches → 3.0 (Favourable)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Missing DMARC or Grade B/C SSL → 4.0 - 4.5 (Average)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Unpatched Vulns or Catastrophic Breach in &lt;24m → 6.0 (Debit)</a:t>
            </a: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BUSINESS ROI &amp; IMPACT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Quantified Business Impact &amp; Proven Accuracy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Production-tested metrics demonstrating dramatic turnaround time reduction, cost savings, and high audit precision.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2514600" cy="1554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5" name="TopBar_105"/>
          <p:cNvSpPr/>
          <p:nvPr/>
        </p:nvSpPr>
        <p:spPr>
          <a:xfrm>
            <a:off x="731520" y="1691640"/>
            <a:ext cx="2514600" cy="7315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6" name="TextBox_106"/>
          <p:cNvSpPr txBox="1"/>
          <p:nvPr/>
        </p:nvSpPr>
        <p:spPr>
          <a:xfrm>
            <a:off x="731520" y="1874520"/>
            <a:ext cx="2514600" cy="132588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2800" b="1" i="0">
                <a:solidFill>
                  <a:srgbClr val="2563EB"/>
                </a:solidFill>
                <a:latin typeface="Segoe UI"/>
              </a:rPr>
              <a:t>99%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100" b="1" i="0">
                <a:solidFill>
                  <a:srgbClr val="0F172A"/>
                </a:solidFill>
                <a:latin typeface="Segoe UI"/>
              </a:rPr>
              <a:t>Turnaround Time Reduction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3-4 Hours → ~90 Seconds</a:t>
            </a:r>
          </a:p>
        </p:txBody>
      </p:sp>
      <p:sp>
        <p:nvSpPr>
          <p:cNvPr id="107" name="Card_107"/>
          <p:cNvSpPr/>
          <p:nvPr/>
        </p:nvSpPr>
        <p:spPr>
          <a:xfrm>
            <a:off x="3456432" y="1691640"/>
            <a:ext cx="2514600" cy="1554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8" name="TopBar_108"/>
          <p:cNvSpPr/>
          <p:nvPr/>
        </p:nvSpPr>
        <p:spPr>
          <a:xfrm>
            <a:off x="3456432" y="1691640"/>
            <a:ext cx="2514600" cy="731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09" name="TextBox_109"/>
          <p:cNvSpPr txBox="1"/>
          <p:nvPr/>
        </p:nvSpPr>
        <p:spPr>
          <a:xfrm>
            <a:off x="3456432" y="1874520"/>
            <a:ext cx="2514600" cy="132588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2800" b="1" i="0">
                <a:solidFill>
                  <a:srgbClr val="059669"/>
                </a:solidFill>
                <a:latin typeface="Segoe UI"/>
              </a:rPr>
              <a:t>100%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100" b="1" i="0">
                <a:solidFill>
                  <a:srgbClr val="0F172A"/>
                </a:solidFill>
                <a:latin typeface="Segoe UI"/>
              </a:rPr>
              <a:t>Scoring Consistency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15 Standardized Risk Modifiers</a:t>
            </a:r>
          </a:p>
        </p:txBody>
      </p:sp>
      <p:sp>
        <p:nvSpPr>
          <p:cNvPr id="110" name="Card_110"/>
          <p:cNvSpPr/>
          <p:nvPr/>
        </p:nvSpPr>
        <p:spPr>
          <a:xfrm>
            <a:off x="6181344" y="1691640"/>
            <a:ext cx="2514600" cy="1554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1" name="TopBar_111"/>
          <p:cNvSpPr/>
          <p:nvPr/>
        </p:nvSpPr>
        <p:spPr>
          <a:xfrm>
            <a:off x="6181344" y="1691640"/>
            <a:ext cx="2514600" cy="7315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12" name="TextBox_112"/>
          <p:cNvSpPr txBox="1"/>
          <p:nvPr/>
        </p:nvSpPr>
        <p:spPr>
          <a:xfrm>
            <a:off x="6181344" y="1874520"/>
            <a:ext cx="2514600" cy="132588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2800" b="1" i="0">
                <a:solidFill>
                  <a:srgbClr val="7C3AED"/>
                </a:solidFill>
                <a:latin typeface="Segoe UI"/>
              </a:rPr>
              <a:t>&gt;90%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100" b="1" i="0">
                <a:solidFill>
                  <a:srgbClr val="0F172A"/>
                </a:solidFill>
                <a:latin typeface="Segoe UI"/>
              </a:rPr>
              <a:t>Fact Consensus Accuracy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Cross-verified against 6+ sources</a:t>
            </a:r>
          </a:p>
        </p:txBody>
      </p:sp>
      <p:sp>
        <p:nvSpPr>
          <p:cNvPr id="113" name="Card_113"/>
          <p:cNvSpPr/>
          <p:nvPr/>
        </p:nvSpPr>
        <p:spPr>
          <a:xfrm>
            <a:off x="8906256" y="1691640"/>
            <a:ext cx="2514600" cy="1554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4" name="TopBar_114"/>
          <p:cNvSpPr/>
          <p:nvPr/>
        </p:nvSpPr>
        <p:spPr>
          <a:xfrm>
            <a:off x="8906256" y="1691640"/>
            <a:ext cx="2514600" cy="73152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15" name="TextBox_115"/>
          <p:cNvSpPr txBox="1"/>
          <p:nvPr/>
        </p:nvSpPr>
        <p:spPr>
          <a:xfrm>
            <a:off x="8906256" y="1874520"/>
            <a:ext cx="2514600" cy="132588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2800" b="1" i="0">
                <a:solidFill>
                  <a:srgbClr val="D97706"/>
                </a:solidFill>
                <a:latin typeface="Segoe UI"/>
              </a:rPr>
              <a:t>$0.15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100" b="1" i="0">
                <a:solidFill>
                  <a:srgbClr val="0F172A"/>
                </a:solidFill>
                <a:latin typeface="Segoe UI"/>
              </a:rPr>
              <a:t>Compute Cost / Submission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Down from ~$150 in analyst hours</a:t>
            </a:r>
          </a:p>
        </p:txBody>
      </p:sp>
      <p:sp>
        <p:nvSpPr>
          <p:cNvPr id="116" name="Card_116"/>
          <p:cNvSpPr/>
          <p:nvPr/>
        </p:nvSpPr>
        <p:spPr>
          <a:xfrm>
            <a:off x="731520" y="3474720"/>
            <a:ext cx="10725912" cy="2788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7" name="Badge_117"/>
          <p:cNvSpPr/>
          <p:nvPr/>
        </p:nvSpPr>
        <p:spPr>
          <a:xfrm>
            <a:off x="1005840" y="3639312"/>
            <a:ext cx="2011680" cy="237744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1D4ED8"/>
                </a:solidFill>
                <a:latin typeface="Segoe UI"/>
              </a:rPr>
              <a:t>BENCHMARK COMPARISON</a:t>
            </a:r>
          </a:p>
        </p:txBody>
      </p:sp>
      <p:graphicFrame>
        <p:nvGraphicFramePr>
          <p:cNvPr id="118" name="Table_118"/>
          <p:cNvGraphicFramePr>
            <a:graphicFrameLocks noGrp="1"/>
          </p:cNvGraphicFramePr>
          <p:nvPr/>
        </p:nvGraphicFramePr>
        <p:xfrm>
          <a:off x="1005840" y="3977639"/>
          <a:ext cx="10177272" cy="1901952"/>
        </p:xfrm>
        <a:graphic>
          <a:graphicData uri="http://schemas.openxmlformats.org/drawingml/2006/table">
            <a:tbl>
              <a:tblPr first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Performance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Traditional Manual Underwriting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Agentic Cyber Rating Platform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Measurable Business Lift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Research Time per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3 to 4 hours across scattered tabs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~90 seconds end-to-end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99% Turnaround Time 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Public Sources Consulted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2 to 3 sites (ad-hoc &amp; inconsistent)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6+ live public APIs (every run)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2-3x Broader Data Breadth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Fact Verification &amp; Provenance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Subjective notes, no cross-checking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Consensus score with full URL lineage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Audit-ready with zero hallucinations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Underwriting Modifiers Evaluated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Varies by analyst experience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15 standardized actuarial modifier rules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100% Pricing &amp; Risk Consistency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Report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Manual 30-min Word doc typing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Auto-generated HTML &amp; PDF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Instant Underwriting Committee Packets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10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069a30-f8af-4d65-b4a7-b92186a56167" xsi:nil="true"/>
    <TaxCatchAll xmlns="3ba55b54-a3f7-4b3a-9053-3dd46ab8d7b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C12FB1F2E9314A91A08CCECF9BFDAA" ma:contentTypeVersion="10" ma:contentTypeDescription="Create a new document." ma:contentTypeScope="" ma:versionID="2c8e62afc044c6a2754e4c5f4ea94748">
  <xsd:schema xmlns:xsd="http://www.w3.org/2001/XMLSchema" xmlns:xs="http://www.w3.org/2001/XMLSchema" xmlns:p="http://schemas.microsoft.com/office/2006/metadata/properties" xmlns:ns2="aa069a30-f8af-4d65-b4a7-b92186a56167" xmlns:ns3="3ba55b54-a3f7-4b3a-9053-3dd46ab8d7b2" targetNamespace="http://schemas.microsoft.com/office/2006/metadata/properties" ma:root="true" ma:fieldsID="109d2aed1ab39be42447e287bb3c4832" ns2:_="" ns3:_="">
    <xsd:import namespace="aa069a30-f8af-4d65-b4a7-b92186a56167"/>
    <xsd:import namespace="3ba55b54-a3f7-4b3a-9053-3dd46ab8d7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69a30-f8af-4d65-b4a7-b92186a561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a55b54-a3f7-4b3a-9053-3dd46ab8d7b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4e889a0-20ea-4539-8286-c971b09a7de8}" ma:internalName="TaxCatchAll" ma:showField="CatchAllData" ma:web="3ba55b54-a3f7-4b3a-9053-3dd46ab8d7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B4E1FD-06AB-4CE5-A207-4CC6E8B225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4195EF-2605-4517-8CF7-10719F7428C9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dcmitype/"/>
    <ds:schemaRef ds:uri="aa069a30-f8af-4d65-b4a7-b92186a56167"/>
    <ds:schemaRef ds:uri="http://schemas.microsoft.com/office/2006/metadata/properties"/>
    <ds:schemaRef ds:uri="http://www.w3.org/XML/1998/namespace"/>
    <ds:schemaRef ds:uri="http://purl.org/dc/elements/1.1/"/>
    <ds:schemaRef ds:uri="3ba55b54-a3f7-4b3a-9053-3dd46ab8d7b2"/>
  </ds:schemaRefs>
</ds:datastoreItem>
</file>

<file path=customXml/itemProps3.xml><?xml version="1.0" encoding="utf-8"?>
<ds:datastoreItem xmlns:ds="http://schemas.openxmlformats.org/officeDocument/2006/customXml" ds:itemID="{8A3AC805-E613-4798-ADCE-A1EF02F294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069a30-f8af-4d65-b4a7-b92186a56167"/>
    <ds:schemaRef ds:uri="3ba55b54-a3f7-4b3a-9053-3dd46ab8d7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880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Archana Ahuja</dc:creator>
  <cp:lastModifiedBy>Archana Ahuja</cp:lastModifiedBy>
  <cp:revision>49</cp:revision>
  <dcterms:created xsi:type="dcterms:W3CDTF">2026-05-08T13:20:36Z</dcterms:created>
  <dcterms:modified xsi:type="dcterms:W3CDTF">2026-08-14T06:32:45Z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0x010100DFC12FB1F2E9314A91A08CCECF9BFDAA</vt:lpwstr>
  </property>
</Properties>
</file>