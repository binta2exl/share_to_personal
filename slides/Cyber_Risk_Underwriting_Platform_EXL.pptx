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6" r:id="rId12"/>
    <p:sldId id="26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85B33D-7953-4069-9C9E-FEE3E2E2F829}" v="157" dt="2026-08-14T06:44:52.0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644" y="-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3E493E-F783-4C85-B313-DDEEDDD64C58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5758A4-6E75-4953-952C-33375927F7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5582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399F2-B04D-CE6F-C905-FBFFE211A9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D3F70D-5998-8CE2-F9CE-6A65772C06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70F768-2C08-E5C9-6AFD-CB69F865C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2F03B-814F-4A2F-8ECF-2F12DD0261A2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90626-27BC-FD08-9AFB-B1C39ECDE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D2C14D-CBA7-C1F1-6302-3A5A6CD89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68516-7FBD-4B5D-A99E-DE90F3716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3184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69637-5FB7-DA81-0ADB-52AE4640F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51B54-792B-454B-79D4-0C7BFFC09A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27CF93-1A91-3770-DE7C-EEDA6E744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2F03B-814F-4A2F-8ECF-2F12DD0261A2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301E7-2B65-ED0B-4075-1711D7C9E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7C5926-6723-2FF3-0230-31E0954B6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68516-7FBD-4B5D-A99E-DE90F3716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0591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AE33C-5783-8808-5C3D-36567B2CD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45EEFB-6428-8436-F5AE-42F6A33BA9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2232A2-92C6-9EF5-A99E-61DDEC63D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2F03B-814F-4A2F-8ECF-2F12DD0261A2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6E96FD-34F8-3377-B944-78F6DBB1D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00A462-EC0F-F35C-51F2-74ED39857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68516-7FBD-4B5D-A99E-DE90F3716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6014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C1707-5B16-AD68-5F3E-74C376E08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D3E80C-DACC-CCDB-0055-2B88F2AE61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488723-040F-A5E8-E82B-029BDC2A2B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E39C30-4D37-3C64-1626-9FBEA0000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2F03B-814F-4A2F-8ECF-2F12DD0261A2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F667D8-B953-5713-7EC7-CBFCC42E8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C56C5B-EB5B-66DE-90F8-7031ED5DC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68516-7FBD-4B5D-A99E-DE90F3716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6541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95705-88C4-D605-34AB-B795607E1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5EF3FC-B3C9-40E6-E607-BEDF1E1998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046896-4C26-3197-D05F-33BF9F8D0F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8C89F2-F5C4-79E9-CB1E-F20233D4C4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5B1EF8-A482-6476-6B61-F75C77C5A6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BCD364-409E-FD83-586E-E5AFC2297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2F03B-814F-4A2F-8ECF-2F12DD0261A2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5A789C-D062-92C8-4764-7F7AEC785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879262-6538-E063-36F3-898A6B4D2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68516-7FBD-4B5D-A99E-DE90F3716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1491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2ECCA-31A1-D473-EA3F-C16D698F9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4686BA-D0E2-DE0C-C0FC-CED36D864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2F03B-814F-4A2F-8ECF-2F12DD0261A2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8010D1-D5CE-A6FE-B841-392FBAC00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9F2016-25AB-BC4E-DAC1-DFFFDC12B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68516-7FBD-4B5D-A99E-DE90F3716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7008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13DA79-2A8A-4551-0597-1338950E8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2F03B-814F-4A2F-8ECF-2F12DD0261A2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F007AF-A668-6946-AFBB-E62FEC441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684624-3B90-C7B5-8CE5-69DAD9B6A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68516-7FBD-4B5D-A99E-DE90F3716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8035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1B2BB-D29A-91A9-83C6-12223FC70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779E0-D664-A6E1-3957-5F1C9C1E1F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805157-5A01-BE2B-A146-F4C20B598D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B8C04A-0062-6A58-AD95-2420FB3D6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2F03B-814F-4A2F-8ECF-2F12DD0261A2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84A229-91F0-2E09-7BDF-7078EAD0A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5524D3-A870-A47E-D9C1-9AA72E460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68516-7FBD-4B5D-A99E-DE90F3716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1836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4126D-6CEA-9EBB-A043-E02DFA2AA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CE4BDA-D77D-5B05-D64C-F16CCB59FA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992432-A9DA-9120-C34D-4D44A670A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547EA3-A07D-EBB5-D25B-7AE82A4E7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2F03B-814F-4A2F-8ECF-2F12DD0261A2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8D49CC-54A6-C123-50DE-69EF280C6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B76DEA-32B1-0F45-9219-CF4B27EB6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68516-7FBD-4B5D-A99E-DE90F3716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6252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29DBE-6033-71D0-92C5-EA7A44B89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A77753-7427-39A2-D2F0-2625248F5A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BA6B26-0B15-63F3-CF94-40E35BC8B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2F03B-814F-4A2F-8ECF-2F12DD0261A2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2206A8-5CD3-479F-3D96-B80EE528A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CC8CD4-9411-4D10-2486-FEC1D2FDE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68516-7FBD-4B5D-A99E-DE90F3716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8406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AC8BF3-7540-0D6C-BFC8-E673A34037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0A0770-90DA-CEBF-3153-4283374320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31860A-E062-83BA-FA06-EC23398F6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2F03B-814F-4A2F-8ECF-2F12DD0261A2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123438-DAD3-E85A-DE75-05438D601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C290FF-1366-D295-500A-901C5C6B0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68516-7FBD-4B5D-A99E-DE90F3716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1582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lumn Orange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85900"/>
            <a:ext cx="11277600" cy="1156792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394198"/>
            <a:ext cx="6376317" cy="182358"/>
          </a:xfrm>
        </p:spPr>
        <p:txBody>
          <a:bodyPr>
            <a:noAutofit/>
          </a:bodyPr>
          <a:lstStyle>
            <a:lvl1pPr algn="r">
              <a:defRPr sz="800"/>
            </a:lvl1pPr>
          </a:lstStyle>
          <a:p>
            <a:r>
              <a:rPr lang="en-US"/>
              <a:t>©2024 ExlService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394198"/>
            <a:ext cx="481556" cy="182358"/>
          </a:xfrm>
        </p:spPr>
        <p:txBody>
          <a:bodyPr>
            <a:noAutofit/>
          </a:bodyPr>
          <a:lstStyle>
            <a:lvl1pPr algn="l">
              <a:defRPr sz="800"/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11277598" cy="42110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3429000"/>
            <a:ext cx="4681538" cy="2703513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800">
                <a:latin typeface="+mj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accent3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AC721370-A066-1746-BA51-66EDC940D61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2795955"/>
            <a:ext cx="4681538" cy="556846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31775" indent="-231775">
              <a:tabLst/>
              <a:defRPr sz="1800"/>
            </a:lvl2pPr>
            <a:lvl3pPr marL="458788" indent="-227013">
              <a:tabLst/>
              <a:defRPr sz="1500"/>
            </a:lvl3pPr>
            <a:lvl4pPr marL="690563" indent="-231775">
              <a:tabLst/>
              <a:defRPr sz="1500"/>
            </a:lvl4pPr>
            <a:lvl5pPr marL="976313" indent="-212725">
              <a:tabLst/>
              <a:defRPr sz="1500"/>
            </a:lvl5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17DBF118-A9A3-6B4A-8D6F-DCD3478E9D9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89600" y="2795955"/>
            <a:ext cx="4681538" cy="556846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31775" indent="-231775">
              <a:tabLst/>
              <a:defRPr sz="1800"/>
            </a:lvl2pPr>
            <a:lvl3pPr marL="458788" indent="-227013">
              <a:tabLst/>
              <a:defRPr sz="1500"/>
            </a:lvl3pPr>
            <a:lvl4pPr marL="690563" indent="-231775">
              <a:tabLst/>
              <a:defRPr sz="1500"/>
            </a:lvl4pPr>
            <a:lvl5pPr marL="976313" indent="-212725">
              <a:tabLst/>
              <a:defRPr sz="1500"/>
            </a:lvl5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8F18C260-6B13-674E-A152-F60D988656D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678556" y="3429000"/>
            <a:ext cx="4681538" cy="2703513"/>
          </a:xfrm>
        </p:spPr>
        <p:txBody>
          <a:bodyPr>
            <a:noAutofit/>
          </a:bodyPr>
          <a:lstStyle>
            <a:lvl1pPr marL="230188" indent="-230188">
              <a:spcBef>
                <a:spcPts val="0"/>
              </a:spcBef>
              <a:spcAft>
                <a:spcPts val="400"/>
              </a:spcAft>
              <a:buFont typeface="System Font Regular"/>
              <a:buChar char="–"/>
              <a:tabLst/>
              <a:defRPr sz="1800">
                <a:latin typeface="+mj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accent3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accent3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781194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AAD305-D114-AE91-CF4F-2DF503F74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8BD188-7D2F-F3EB-686F-BB983986E5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CF958-9F69-0B96-27AF-F575EA1326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52F03B-814F-4A2F-8ECF-2F12DD0261A2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90C1CD-1F13-F516-06AA-5FF8C63C1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10EE46-C993-F1FB-9CA3-E2EBC04E4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868516-7FBD-4B5D-A99E-DE90F3716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5573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Card_101"/>
          <p:cNvSpPr/>
          <p:nvPr/>
        </p:nvSpPr>
        <p:spPr>
          <a:xfrm>
            <a:off x="731520" y="731520"/>
            <a:ext cx="10725912" cy="5394960"/>
          </a:xfrm>
          <a:prstGeom prst="roundRect">
            <a:avLst>
              <a:gd name="adj" fmla="val 2500"/>
            </a:avLst>
          </a:prstGeom>
          <a:solidFill>
            <a:srgbClr val="0F172A"/>
          </a:solidFill>
          <a:ln w="12700">
            <a:solidFill>
              <a:srgbClr val="1E293B"/>
            </a:solidFill>
          </a:ln>
        </p:spPr>
      </p:sp>
      <p:sp>
        <p:nvSpPr>
          <p:cNvPr id="102" name="Badge_102"/>
          <p:cNvSpPr/>
          <p:nvPr/>
        </p:nvSpPr>
        <p:spPr>
          <a:xfrm>
            <a:off x="1188720" y="1188720"/>
            <a:ext cx="2926080" cy="329184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 w="9525">
            <a:solidFill>
              <a:srgbClr val="60A5FA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en-US" sz="950" b="1">
                <a:solidFill>
                  <a:srgbClr val="60A5FA"/>
                </a:solidFill>
                <a:latin typeface="Segoe UI"/>
              </a:rPr>
              <a:t>EXL DIGITAL ACCELERATOR • PRODUCTION POC</a:t>
            </a:r>
          </a:p>
        </p:txBody>
      </p:sp>
      <p:sp>
        <p:nvSpPr>
          <p:cNvPr id="103" name="TextBox_103"/>
          <p:cNvSpPr txBox="1"/>
          <p:nvPr/>
        </p:nvSpPr>
        <p:spPr>
          <a:xfrm>
            <a:off x="1188720" y="1691640"/>
            <a:ext cx="9784080" cy="128016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3400" b="1" i="0">
                <a:solidFill>
                  <a:srgbClr val="FFFFFF"/>
                </a:solidFill>
                <a:latin typeface="Segoe UI"/>
              </a:rPr>
              <a:t>Autonomous Multi-Agent Cyber Risk</a:t>
            </a:r>
          </a:p>
          <a:p>
            <a:pPr algn="l">
              <a:buNone/>
            </a:pPr>
            <a:r>
              <a:rPr lang="en-US" sz="3400" b="1" i="0">
                <a:solidFill>
                  <a:srgbClr val="38BDF8"/>
                </a:solidFill>
                <a:latin typeface="Segoe UI"/>
              </a:rPr>
              <a:t>Underwriting Platform</a:t>
            </a:r>
          </a:p>
        </p:txBody>
      </p:sp>
      <p:sp>
        <p:nvSpPr>
          <p:cNvPr id="104" name="TextBox_104"/>
          <p:cNvSpPr txBox="1"/>
          <p:nvPr/>
        </p:nvSpPr>
        <p:spPr>
          <a:xfrm>
            <a:off x="1188720" y="3063240"/>
            <a:ext cx="9784080" cy="64008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1300" b="0" i="0">
                <a:solidFill>
                  <a:srgbClr val="94A3B8"/>
                </a:solidFill>
                <a:latin typeface="Segoe UI"/>
              </a:rPr>
              <a:t>Transforming commercial cyber insurance research, fact-checking, and rating modifier evaluation</a:t>
            </a:r>
          </a:p>
          <a:p>
            <a:pPr algn="l">
              <a:buNone/>
            </a:pPr>
            <a:r>
              <a:rPr lang="en-US" sz="1300" b="0" i="0">
                <a:solidFill>
                  <a:srgbClr val="CBD5E1"/>
                </a:solidFill>
                <a:latin typeface="Segoe UI"/>
              </a:rPr>
              <a:t>from 4 hours of manual effort to under 90 seconds using LangGraph &amp; Deterministic Actuarial Scoring.</a:t>
            </a:r>
          </a:p>
        </p:txBody>
      </p:sp>
      <p:sp>
        <p:nvSpPr>
          <p:cNvPr id="105" name="Card_105"/>
          <p:cNvSpPr/>
          <p:nvPr/>
        </p:nvSpPr>
        <p:spPr>
          <a:xfrm>
            <a:off x="1188720" y="3931920"/>
            <a:ext cx="2331720" cy="155448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</p:spPr>
      </p:sp>
      <p:sp>
        <p:nvSpPr>
          <p:cNvPr id="106" name="Badge_106"/>
          <p:cNvSpPr/>
          <p:nvPr/>
        </p:nvSpPr>
        <p:spPr>
          <a:xfrm>
            <a:off x="1325880" y="4069080"/>
            <a:ext cx="2057400" cy="274320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 w="9525">
            <a:solidFill>
              <a:srgbClr val="2563EB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en-US" sz="800" b="1">
                <a:solidFill>
                  <a:srgbClr val="2563EB"/>
                </a:solidFill>
                <a:latin typeface="Segoe UI"/>
              </a:rPr>
              <a:t>LANGGRAPH MULTI-AGENT DAG</a:t>
            </a:r>
          </a:p>
        </p:txBody>
      </p:sp>
      <p:sp>
        <p:nvSpPr>
          <p:cNvPr id="107" name="TextBox_107"/>
          <p:cNvSpPr txBox="1"/>
          <p:nvPr/>
        </p:nvSpPr>
        <p:spPr>
          <a:xfrm>
            <a:off x="1325880" y="4480560"/>
            <a:ext cx="2057400" cy="822960"/>
          </a:xfrm>
          <a:prstGeom prst="rect">
            <a:avLst/>
          </a:prstGeom>
          <a:noFill/>
        </p:spPr>
        <p:txBody>
          <a:bodyPr lIns="72000" tIns="72000" rIns="72000" bIns="72000" anchor="ctr"/>
          <a:lstStyle/>
          <a:p>
            <a:pPr algn="ctr">
              <a:buNone/>
            </a:pPr>
            <a:r>
              <a:rPr lang="en-US" sz="1100" b="1" i="0">
                <a:solidFill>
                  <a:srgbClr val="FFFFFF"/>
                </a:solidFill>
                <a:latin typeface="Segoe UI"/>
              </a:rPr>
              <a:t>10 Orchestrated Agents</a:t>
            </a:r>
          </a:p>
        </p:txBody>
      </p:sp>
      <p:sp>
        <p:nvSpPr>
          <p:cNvPr id="108" name="Card_108"/>
          <p:cNvSpPr/>
          <p:nvPr/>
        </p:nvSpPr>
        <p:spPr>
          <a:xfrm>
            <a:off x="3703320" y="3931920"/>
            <a:ext cx="2331720" cy="155448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</p:spPr>
      </p:sp>
      <p:sp>
        <p:nvSpPr>
          <p:cNvPr id="109" name="Badge_109"/>
          <p:cNvSpPr/>
          <p:nvPr/>
        </p:nvSpPr>
        <p:spPr>
          <a:xfrm>
            <a:off x="3840480" y="4069080"/>
            <a:ext cx="2057400" cy="274320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 w="9525">
            <a:solidFill>
              <a:srgbClr val="059669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en-US" sz="800" b="1">
                <a:solidFill>
                  <a:srgbClr val="059669"/>
                </a:solidFill>
                <a:latin typeface="Segoe UI"/>
              </a:rPr>
              <a:t>ZERO HALLUCINATION MATH</a:t>
            </a:r>
          </a:p>
        </p:txBody>
      </p:sp>
      <p:sp>
        <p:nvSpPr>
          <p:cNvPr id="110" name="TextBox_110"/>
          <p:cNvSpPr txBox="1"/>
          <p:nvPr/>
        </p:nvSpPr>
        <p:spPr>
          <a:xfrm>
            <a:off x="3840480" y="4480560"/>
            <a:ext cx="2057400" cy="822960"/>
          </a:xfrm>
          <a:prstGeom prst="rect">
            <a:avLst/>
          </a:prstGeom>
          <a:noFill/>
        </p:spPr>
        <p:txBody>
          <a:bodyPr lIns="72000" tIns="72000" rIns="72000" bIns="72000" anchor="ctr"/>
          <a:lstStyle/>
          <a:p>
            <a:pPr algn="ctr">
              <a:buNone/>
            </a:pPr>
            <a:r>
              <a:rPr lang="en-US" sz="1100" b="1" i="0">
                <a:solidFill>
                  <a:srgbClr val="FFFFFF"/>
                </a:solidFill>
                <a:latin typeface="Segoe UI"/>
              </a:rPr>
              <a:t>15 Codified Risk Modifiers</a:t>
            </a:r>
          </a:p>
        </p:txBody>
      </p:sp>
      <p:sp>
        <p:nvSpPr>
          <p:cNvPr id="111" name="Card_111"/>
          <p:cNvSpPr/>
          <p:nvPr/>
        </p:nvSpPr>
        <p:spPr>
          <a:xfrm>
            <a:off x="6217920" y="3931920"/>
            <a:ext cx="2331720" cy="155448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</p:spPr>
      </p:sp>
      <p:sp>
        <p:nvSpPr>
          <p:cNvPr id="112" name="Badge_112"/>
          <p:cNvSpPr/>
          <p:nvPr/>
        </p:nvSpPr>
        <p:spPr>
          <a:xfrm>
            <a:off x="6355080" y="4069080"/>
            <a:ext cx="2057400" cy="274320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 w="9525">
            <a:solidFill>
              <a:srgbClr val="7C3AED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en-US" sz="800" b="1">
                <a:solidFill>
                  <a:srgbClr val="7C3AED"/>
                </a:solidFill>
                <a:latin typeface="Segoe UI"/>
              </a:rPr>
              <a:t>LIVE REAL-TIME STREAMING</a:t>
            </a:r>
          </a:p>
        </p:txBody>
      </p:sp>
      <p:sp>
        <p:nvSpPr>
          <p:cNvPr id="113" name="TextBox_113"/>
          <p:cNvSpPr txBox="1"/>
          <p:nvPr/>
        </p:nvSpPr>
        <p:spPr>
          <a:xfrm>
            <a:off x="6355080" y="4480560"/>
            <a:ext cx="2057400" cy="822960"/>
          </a:xfrm>
          <a:prstGeom prst="rect">
            <a:avLst/>
          </a:prstGeom>
          <a:noFill/>
        </p:spPr>
        <p:txBody>
          <a:bodyPr lIns="72000" tIns="72000" rIns="72000" bIns="72000" anchor="ctr"/>
          <a:lstStyle/>
          <a:p>
            <a:pPr algn="ctr">
              <a:buNone/>
            </a:pPr>
            <a:r>
              <a:rPr lang="en-US" sz="1100" b="1" i="0">
                <a:solidFill>
                  <a:srgbClr val="FFFFFF"/>
                </a:solidFill>
                <a:latin typeface="Segoe UI"/>
              </a:rPr>
              <a:t>FastAPI + React SSE</a:t>
            </a:r>
          </a:p>
        </p:txBody>
      </p:sp>
      <p:sp>
        <p:nvSpPr>
          <p:cNvPr id="114" name="Card_114"/>
          <p:cNvSpPr/>
          <p:nvPr/>
        </p:nvSpPr>
        <p:spPr>
          <a:xfrm>
            <a:off x="8732520" y="3931920"/>
            <a:ext cx="2331720" cy="155448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 w="12700">
            <a:solidFill>
              <a:srgbClr val="334155"/>
            </a:solidFill>
          </a:ln>
        </p:spPr>
      </p:sp>
      <p:sp>
        <p:nvSpPr>
          <p:cNvPr id="115" name="Badge_115"/>
          <p:cNvSpPr/>
          <p:nvPr/>
        </p:nvSpPr>
        <p:spPr>
          <a:xfrm>
            <a:off x="8869680" y="4069080"/>
            <a:ext cx="2057400" cy="274320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 w="9525">
            <a:solidFill>
              <a:srgbClr val="D97706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en-US" sz="800" b="1">
                <a:solidFill>
                  <a:srgbClr val="D97706"/>
                </a:solidFill>
                <a:latin typeface="Segoe UI"/>
              </a:rPr>
              <a:t>99% TIME REDUCTION</a:t>
            </a:r>
          </a:p>
        </p:txBody>
      </p:sp>
      <p:sp>
        <p:nvSpPr>
          <p:cNvPr id="116" name="TextBox_116"/>
          <p:cNvSpPr txBox="1"/>
          <p:nvPr/>
        </p:nvSpPr>
        <p:spPr>
          <a:xfrm>
            <a:off x="8869680" y="4480560"/>
            <a:ext cx="2057400" cy="822960"/>
          </a:xfrm>
          <a:prstGeom prst="rect">
            <a:avLst/>
          </a:prstGeom>
          <a:noFill/>
        </p:spPr>
        <p:txBody>
          <a:bodyPr lIns="72000" tIns="72000" rIns="72000" bIns="72000" anchor="ctr"/>
          <a:lstStyle/>
          <a:p>
            <a:pPr algn="ctr">
              <a:buNone/>
            </a:pPr>
            <a:r>
              <a:rPr lang="en-US" sz="1100" b="1" i="0">
                <a:solidFill>
                  <a:srgbClr val="FFFFFF"/>
                </a:solidFill>
                <a:latin typeface="Segoe UI"/>
              </a:rPr>
              <a:t>3-4 Hours → 90 Seconds</a:t>
            </a:r>
          </a:p>
        </p:txBody>
      </p:sp>
      <p:sp>
        <p:nvSpPr>
          <p:cNvPr id="999" name="SlideNum"/>
          <p:cNvSpPr txBox="1"/>
          <p:nvPr/>
        </p:nvSpPr>
        <p:spPr>
          <a:xfrm>
            <a:off x="10241280" y="6446520"/>
            <a:ext cx="1188720" cy="32004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algn="r"/>
            <a:r>
              <a:rPr lang="en-US" sz="800" b="1">
                <a:solidFill>
                  <a:srgbClr val="94A3B8"/>
                </a:solidFill>
                <a:latin typeface="Segoe UI"/>
              </a:rPr>
              <a:t>1 /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adge_101"/>
          <p:cNvSpPr/>
          <p:nvPr/>
        </p:nvSpPr>
        <p:spPr>
          <a:xfrm>
            <a:off x="731520" y="411480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 w="9525">
            <a:solidFill>
              <a:srgbClr val="2563EB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en-US" sz="900" b="1">
                <a:solidFill>
                  <a:srgbClr val="2563EB"/>
                </a:solidFill>
                <a:latin typeface="Segoe UI"/>
              </a:rPr>
              <a:t>THE PROBLEM &amp; MARKET CONTEXT</a:t>
            </a:r>
          </a:p>
        </p:txBody>
      </p:sp>
      <p:sp>
        <p:nvSpPr>
          <p:cNvPr id="102" name="TextBox_102"/>
          <p:cNvSpPr txBox="1"/>
          <p:nvPr/>
        </p:nvSpPr>
        <p:spPr>
          <a:xfrm>
            <a:off x="731520" y="749808"/>
            <a:ext cx="10698480" cy="50292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2200" b="1" i="0">
                <a:solidFill>
                  <a:srgbClr val="0F172A"/>
                </a:solidFill>
                <a:latin typeface="Segoe UI"/>
              </a:rPr>
              <a:t>The Underwriting Bottleneck in Commercial Cyber Insurance</a:t>
            </a:r>
          </a:p>
        </p:txBody>
      </p:sp>
      <p:sp>
        <p:nvSpPr>
          <p:cNvPr id="103" name="TextBox_103"/>
          <p:cNvSpPr txBox="1"/>
          <p:nvPr/>
        </p:nvSpPr>
        <p:spPr>
          <a:xfrm>
            <a:off x="731520" y="1261872"/>
            <a:ext cx="10698480" cy="32004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1100" b="0" i="0">
                <a:solidFill>
                  <a:srgbClr val="475569"/>
                </a:solidFill>
                <a:latin typeface="Segoe UI"/>
              </a:rPr>
              <a:t>Rapid market growth is outstripping manual research capacity, creating severe underwriting leakage and delays.</a:t>
            </a:r>
          </a:p>
        </p:txBody>
      </p:sp>
      <p:sp>
        <p:nvSpPr>
          <p:cNvPr id="104" name="Card_104"/>
          <p:cNvSpPr/>
          <p:nvPr/>
        </p:nvSpPr>
        <p:spPr>
          <a:xfrm>
            <a:off x="731520" y="1691640"/>
            <a:ext cx="3474720" cy="4572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05" name="Badge_105"/>
          <p:cNvSpPr/>
          <p:nvPr/>
        </p:nvSpPr>
        <p:spPr>
          <a:xfrm>
            <a:off x="1005840" y="1920240"/>
            <a:ext cx="1463040" cy="274320"/>
          </a:xfrm>
          <a:prstGeom prst="roundRect">
            <a:avLst>
              <a:gd name="adj" fmla="val 25000"/>
            </a:avLst>
          </a:prstGeom>
          <a:solidFill>
            <a:srgbClr val="FEF2F2"/>
          </a:solidFill>
          <a:ln w="9525">
            <a:solidFill>
              <a:srgbClr val="DC2626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en-US" sz="850" b="1">
                <a:solidFill>
                  <a:srgbClr val="DC2626"/>
                </a:solidFill>
                <a:latin typeface="Segoe UI"/>
              </a:rPr>
              <a:t>PAIN POINT 1</a:t>
            </a:r>
          </a:p>
        </p:txBody>
      </p:sp>
      <p:sp>
        <p:nvSpPr>
          <p:cNvPr id="106" name="TextBox_106"/>
          <p:cNvSpPr txBox="1"/>
          <p:nvPr/>
        </p:nvSpPr>
        <p:spPr>
          <a:xfrm>
            <a:off x="1005840" y="2286000"/>
            <a:ext cx="2926080" cy="36576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1400" b="1" i="0">
                <a:solidFill>
                  <a:srgbClr val="0F172A"/>
                </a:solidFill>
                <a:latin typeface="Segoe UI"/>
              </a:rPr>
              <a:t>Scattered Manual Research</a:t>
            </a:r>
          </a:p>
        </p:txBody>
      </p:sp>
      <p:sp>
        <p:nvSpPr>
          <p:cNvPr id="107" name="Card_107"/>
          <p:cNvSpPr/>
          <p:nvPr/>
        </p:nvSpPr>
        <p:spPr>
          <a:xfrm>
            <a:off x="1005840" y="2697480"/>
            <a:ext cx="2926080" cy="868680"/>
          </a:xfrm>
          <a:prstGeom prst="roundRect">
            <a:avLst>
              <a:gd name="adj" fmla="val 1500"/>
            </a:avLst>
          </a:prstGeom>
          <a:solidFill>
            <a:srgbClr val="FEF2F2"/>
          </a:solidFill>
          <a:ln w="12700">
            <a:solidFill>
              <a:srgbClr val="E2E8F0"/>
            </a:solidFill>
          </a:ln>
        </p:spPr>
      </p:sp>
      <p:sp>
        <p:nvSpPr>
          <p:cNvPr id="108" name="TextBox_108"/>
          <p:cNvSpPr txBox="1"/>
          <p:nvPr/>
        </p:nvSpPr>
        <p:spPr>
          <a:xfrm>
            <a:off x="1005840" y="2743200"/>
            <a:ext cx="2926080" cy="777240"/>
          </a:xfrm>
          <a:prstGeom prst="rect">
            <a:avLst/>
          </a:prstGeom>
          <a:noFill/>
        </p:spPr>
        <p:txBody>
          <a:bodyPr lIns="72000" tIns="72000" rIns="72000" bIns="72000" anchor="ctr"/>
          <a:lstStyle/>
          <a:p>
            <a:pPr algn="ctr">
              <a:buNone/>
            </a:pPr>
            <a:r>
              <a:rPr lang="en-US" sz="1800" b="1" i="0">
                <a:solidFill>
                  <a:srgbClr val="DC2626"/>
                </a:solidFill>
                <a:latin typeface="Segoe UI"/>
              </a:rPr>
              <a:t>3-4 Hrs</a:t>
            </a:r>
          </a:p>
          <a:p>
            <a:pPr algn="ctr">
              <a:buNone/>
            </a:pPr>
            <a:r>
              <a:rPr lang="en-US" sz="900" b="0" i="0">
                <a:solidFill>
                  <a:srgbClr val="334155"/>
                </a:solidFill>
                <a:latin typeface="Segoe UI"/>
              </a:rPr>
              <a:t>spent per submission</a:t>
            </a:r>
          </a:p>
        </p:txBody>
      </p:sp>
      <p:sp>
        <p:nvSpPr>
          <p:cNvPr id="109" name="TextBox_109"/>
          <p:cNvSpPr txBox="1"/>
          <p:nvPr/>
        </p:nvSpPr>
        <p:spPr>
          <a:xfrm>
            <a:off x="1005840" y="3703320"/>
            <a:ext cx="2926080" cy="100584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1100" b="0" i="0" dirty="0">
                <a:solidFill>
                  <a:srgbClr val="475569"/>
                </a:solidFill>
                <a:latin typeface="Segoe UI"/>
              </a:rPr>
              <a:t>Underwriters manually scour 5–7 disconnected sources (SEC filings, </a:t>
            </a:r>
            <a:r>
              <a:rPr lang="en-US" sz="1100" b="0" i="0" dirty="0" err="1">
                <a:solidFill>
                  <a:srgbClr val="475569"/>
                </a:solidFill>
                <a:latin typeface="Segoe UI"/>
              </a:rPr>
              <a:t>Wikidata</a:t>
            </a:r>
            <a:r>
              <a:rPr lang="en-US" sz="1100" b="0" i="0" dirty="0">
                <a:solidFill>
                  <a:srgbClr val="475569"/>
                </a:solidFill>
                <a:latin typeface="Segoe UI"/>
              </a:rPr>
              <a:t>, D&amp;B, Wikipedia, SSL certificates, website HTML) for corporate risk indicators</a:t>
            </a:r>
            <a:r>
              <a:rPr lang="en-US" sz="1000" b="0" i="0" dirty="0">
                <a:solidFill>
                  <a:srgbClr val="475569"/>
                </a:solidFill>
                <a:latin typeface="Segoe UI"/>
              </a:rPr>
              <a:t>.</a:t>
            </a:r>
          </a:p>
        </p:txBody>
      </p:sp>
      <p:sp>
        <p:nvSpPr>
          <p:cNvPr id="110" name="TextBox_110"/>
          <p:cNvSpPr txBox="1"/>
          <p:nvPr/>
        </p:nvSpPr>
        <p:spPr>
          <a:xfrm>
            <a:off x="1005840" y="4800600"/>
            <a:ext cx="2926080" cy="128016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1100" b="1" i="0">
                <a:solidFill>
                  <a:srgbClr val="1E293B"/>
                </a:solidFill>
                <a:latin typeface="Segoe UI"/>
              </a:rPr>
              <a:t>Key Impact:</a:t>
            </a:r>
            <a:endParaRPr lang="en-US" sz="1100" b="1" i="0">
              <a:solidFill>
                <a:srgbClr val="1E293B"/>
              </a:solidFill>
              <a:latin typeface="Segoe UI"/>
              <a:cs typeface="Segoe UI"/>
            </a:endParaRPr>
          </a:p>
          <a:p>
            <a:pPr>
              <a:spcBef>
                <a:spcPts val="200"/>
              </a:spcBef>
            </a:pPr>
            <a:r>
              <a:rPr lang="en-US" sz="1100">
                <a:solidFill>
                  <a:srgbClr val="475569"/>
                </a:solidFill>
                <a:latin typeface="Segoe UI"/>
              </a:rPr>
              <a:t> </a:t>
            </a:r>
            <a:r>
              <a:rPr lang="en-US" sz="1100" b="0" i="0">
                <a:solidFill>
                  <a:srgbClr val="475569"/>
                </a:solidFill>
                <a:latin typeface="Segoe UI"/>
              </a:rPr>
              <a:t>• High turnaround time</a:t>
            </a:r>
            <a:endParaRPr lang="en-US" sz="1100" b="0" i="0">
              <a:solidFill>
                <a:srgbClr val="475569"/>
              </a:solidFill>
              <a:latin typeface="Segoe UI"/>
              <a:cs typeface="Segoe UI"/>
            </a:endParaRPr>
          </a:p>
          <a:p>
            <a:pPr>
              <a:spcBef>
                <a:spcPts val="100"/>
              </a:spcBef>
            </a:pPr>
            <a:r>
              <a:rPr lang="en-US" sz="1100">
                <a:solidFill>
                  <a:srgbClr val="475569"/>
                </a:solidFill>
                <a:latin typeface="Segoe UI"/>
              </a:rPr>
              <a:t> </a:t>
            </a:r>
            <a:r>
              <a:rPr lang="en-US" sz="1100" b="0" i="0">
                <a:solidFill>
                  <a:srgbClr val="475569"/>
                </a:solidFill>
                <a:latin typeface="Segoe UI"/>
              </a:rPr>
              <a:t>• Inconsistent source coverage</a:t>
            </a:r>
            <a:endParaRPr lang="en-US" sz="1100" b="0" i="0">
              <a:solidFill>
                <a:srgbClr val="475569"/>
              </a:solidFill>
              <a:latin typeface="Segoe UI"/>
              <a:cs typeface="Segoe UI"/>
            </a:endParaRPr>
          </a:p>
          <a:p>
            <a:pPr>
              <a:spcBef>
                <a:spcPts val="100"/>
              </a:spcBef>
            </a:pPr>
            <a:r>
              <a:rPr lang="en-US" sz="1100">
                <a:solidFill>
                  <a:srgbClr val="475569"/>
                </a:solidFill>
                <a:latin typeface="Segoe UI"/>
              </a:rPr>
              <a:t> </a:t>
            </a:r>
            <a:r>
              <a:rPr lang="en-US" sz="1100" b="0" i="0">
                <a:solidFill>
                  <a:srgbClr val="475569"/>
                </a:solidFill>
                <a:latin typeface="Segoe UI"/>
              </a:rPr>
              <a:t>• Fatigue-driven oversights</a:t>
            </a:r>
            <a:endParaRPr lang="en-US" sz="1100" b="0" i="0">
              <a:solidFill>
                <a:srgbClr val="475569"/>
              </a:solidFill>
              <a:latin typeface="Segoe UI"/>
              <a:cs typeface="Segoe UI"/>
            </a:endParaRPr>
          </a:p>
        </p:txBody>
      </p:sp>
      <p:sp>
        <p:nvSpPr>
          <p:cNvPr id="111" name="Card_111"/>
          <p:cNvSpPr/>
          <p:nvPr/>
        </p:nvSpPr>
        <p:spPr>
          <a:xfrm>
            <a:off x="4370832" y="1691640"/>
            <a:ext cx="3474720" cy="4572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12" name="Badge_112"/>
          <p:cNvSpPr/>
          <p:nvPr/>
        </p:nvSpPr>
        <p:spPr>
          <a:xfrm>
            <a:off x="4645152" y="1920240"/>
            <a:ext cx="1463040" cy="274320"/>
          </a:xfrm>
          <a:prstGeom prst="roundRect">
            <a:avLst>
              <a:gd name="adj" fmla="val 25000"/>
            </a:avLst>
          </a:prstGeom>
          <a:solidFill>
            <a:srgbClr val="FFFBEB"/>
          </a:solidFill>
          <a:ln w="9525">
            <a:solidFill>
              <a:srgbClr val="D97706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en-US" sz="850" b="1">
                <a:solidFill>
                  <a:srgbClr val="D97706"/>
                </a:solidFill>
                <a:latin typeface="Segoe UI"/>
              </a:rPr>
              <a:t>PAIN POINT 2</a:t>
            </a:r>
          </a:p>
        </p:txBody>
      </p:sp>
      <p:sp>
        <p:nvSpPr>
          <p:cNvPr id="113" name="TextBox_113"/>
          <p:cNvSpPr txBox="1"/>
          <p:nvPr/>
        </p:nvSpPr>
        <p:spPr>
          <a:xfrm>
            <a:off x="4645152" y="2286000"/>
            <a:ext cx="2926080" cy="36576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1400" b="1" i="0">
                <a:solidFill>
                  <a:srgbClr val="0F172A"/>
                </a:solidFill>
                <a:latin typeface="Segoe UI"/>
              </a:rPr>
              <a:t>Subjective Risk Scoring</a:t>
            </a:r>
          </a:p>
        </p:txBody>
      </p:sp>
      <p:sp>
        <p:nvSpPr>
          <p:cNvPr id="114" name="Card_114"/>
          <p:cNvSpPr/>
          <p:nvPr/>
        </p:nvSpPr>
        <p:spPr>
          <a:xfrm>
            <a:off x="4645152" y="2697480"/>
            <a:ext cx="2926080" cy="868680"/>
          </a:xfrm>
          <a:prstGeom prst="roundRect">
            <a:avLst>
              <a:gd name="adj" fmla="val 1500"/>
            </a:avLst>
          </a:prstGeom>
          <a:solidFill>
            <a:srgbClr val="FFFBEB"/>
          </a:solidFill>
          <a:ln w="12700">
            <a:solidFill>
              <a:srgbClr val="E2E8F0"/>
            </a:solidFill>
          </a:ln>
        </p:spPr>
      </p:sp>
      <p:sp>
        <p:nvSpPr>
          <p:cNvPr id="115" name="TextBox_115"/>
          <p:cNvSpPr txBox="1"/>
          <p:nvPr/>
        </p:nvSpPr>
        <p:spPr>
          <a:xfrm>
            <a:off x="4645152" y="2743200"/>
            <a:ext cx="2926080" cy="777240"/>
          </a:xfrm>
          <a:prstGeom prst="rect">
            <a:avLst/>
          </a:prstGeom>
          <a:noFill/>
        </p:spPr>
        <p:txBody>
          <a:bodyPr lIns="72000" tIns="72000" rIns="72000" bIns="72000" anchor="ctr"/>
          <a:lstStyle/>
          <a:p>
            <a:pPr algn="ctr">
              <a:buNone/>
            </a:pPr>
            <a:r>
              <a:rPr lang="en-US" sz="1800" b="1" i="0">
                <a:solidFill>
                  <a:srgbClr val="D97706"/>
                </a:solidFill>
                <a:latin typeface="Segoe UI"/>
              </a:rPr>
              <a:t>±15%</a:t>
            </a:r>
          </a:p>
          <a:p>
            <a:pPr algn="ctr">
              <a:buNone/>
            </a:pPr>
            <a:r>
              <a:rPr lang="en-US" sz="900" b="0" i="0">
                <a:solidFill>
                  <a:srgbClr val="334155"/>
                </a:solidFill>
                <a:latin typeface="Segoe UI"/>
              </a:rPr>
              <a:t>pricing variance across analysts</a:t>
            </a:r>
          </a:p>
        </p:txBody>
      </p:sp>
      <p:sp>
        <p:nvSpPr>
          <p:cNvPr id="116" name="TextBox_116"/>
          <p:cNvSpPr txBox="1"/>
          <p:nvPr/>
        </p:nvSpPr>
        <p:spPr>
          <a:xfrm>
            <a:off x="4645152" y="3703320"/>
            <a:ext cx="2926080" cy="100584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1100" b="0" i="0">
                <a:solidFill>
                  <a:srgbClr val="475569"/>
                </a:solidFill>
                <a:latin typeface="Segoe UI"/>
              </a:rPr>
              <a:t>Translating unstructured company findings into commercial underwriting modifier debits/credits relies on manual interpretation, leading to unaligned loss ratios.</a:t>
            </a:r>
            <a:endParaRPr lang="en-US" sz="1100" b="0" i="0">
              <a:solidFill>
                <a:srgbClr val="475569"/>
              </a:solidFill>
              <a:latin typeface="Segoe UI"/>
              <a:cs typeface="Segoe UI"/>
            </a:endParaRPr>
          </a:p>
        </p:txBody>
      </p:sp>
      <p:sp>
        <p:nvSpPr>
          <p:cNvPr id="117" name="TextBox_117"/>
          <p:cNvSpPr txBox="1"/>
          <p:nvPr/>
        </p:nvSpPr>
        <p:spPr>
          <a:xfrm>
            <a:off x="4645152" y="4800600"/>
            <a:ext cx="2926080" cy="128016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1100" b="1" i="0">
                <a:solidFill>
                  <a:srgbClr val="1E293B"/>
                </a:solidFill>
                <a:latin typeface="Segoe UI"/>
              </a:rPr>
              <a:t>Key Impact:</a:t>
            </a:r>
            <a:endParaRPr lang="en-US" sz="1100" b="1" i="0">
              <a:solidFill>
                <a:srgbClr val="1E293B"/>
              </a:solidFill>
              <a:latin typeface="Segoe UI"/>
              <a:cs typeface="Segoe UI"/>
            </a:endParaRPr>
          </a:p>
          <a:p>
            <a:pPr>
              <a:spcBef>
                <a:spcPts val="200"/>
              </a:spcBef>
            </a:pPr>
            <a:r>
              <a:rPr lang="en-US" sz="1100">
                <a:solidFill>
                  <a:srgbClr val="475569"/>
                </a:solidFill>
                <a:latin typeface="Segoe UI"/>
              </a:rPr>
              <a:t> </a:t>
            </a:r>
            <a:r>
              <a:rPr lang="en-US" sz="1100" b="0" i="0">
                <a:solidFill>
                  <a:srgbClr val="475569"/>
                </a:solidFill>
                <a:latin typeface="Segoe UI"/>
              </a:rPr>
              <a:t>• No standardized consensus</a:t>
            </a:r>
            <a:endParaRPr lang="en-US" sz="1100" b="0" i="0">
              <a:solidFill>
                <a:srgbClr val="475569"/>
              </a:solidFill>
              <a:latin typeface="Segoe UI"/>
              <a:cs typeface="Segoe UI"/>
            </a:endParaRPr>
          </a:p>
          <a:p>
            <a:pPr>
              <a:spcBef>
                <a:spcPts val="100"/>
              </a:spcBef>
            </a:pPr>
            <a:r>
              <a:rPr lang="en-US" sz="1100">
                <a:solidFill>
                  <a:srgbClr val="475569"/>
                </a:solidFill>
                <a:latin typeface="Segoe UI"/>
              </a:rPr>
              <a:t> </a:t>
            </a:r>
            <a:r>
              <a:rPr lang="en-US" sz="1100" b="0" i="0">
                <a:solidFill>
                  <a:srgbClr val="475569"/>
                </a:solidFill>
                <a:latin typeface="Segoe UI"/>
              </a:rPr>
              <a:t>• Lack of mathematical auditing</a:t>
            </a:r>
            <a:endParaRPr lang="en-US" sz="1100" b="0" i="0">
              <a:solidFill>
                <a:srgbClr val="475569"/>
              </a:solidFill>
              <a:latin typeface="Segoe UI"/>
              <a:cs typeface="Segoe UI"/>
            </a:endParaRPr>
          </a:p>
          <a:p>
            <a:pPr>
              <a:spcBef>
                <a:spcPts val="100"/>
              </a:spcBef>
            </a:pPr>
            <a:r>
              <a:rPr lang="en-US" sz="1100">
                <a:solidFill>
                  <a:srgbClr val="475569"/>
                </a:solidFill>
                <a:latin typeface="Segoe UI"/>
              </a:rPr>
              <a:t> </a:t>
            </a:r>
            <a:r>
              <a:rPr lang="en-US" sz="1100" b="0" i="0">
                <a:solidFill>
                  <a:srgbClr val="475569"/>
                </a:solidFill>
                <a:latin typeface="Segoe UI"/>
              </a:rPr>
              <a:t>• Unreliable modifier lineage</a:t>
            </a:r>
            <a:endParaRPr lang="en-US" sz="1100" b="0" i="0">
              <a:solidFill>
                <a:srgbClr val="475569"/>
              </a:solidFill>
              <a:latin typeface="Segoe UI"/>
              <a:cs typeface="Segoe UI"/>
            </a:endParaRPr>
          </a:p>
        </p:txBody>
      </p:sp>
      <p:sp>
        <p:nvSpPr>
          <p:cNvPr id="118" name="Card_118"/>
          <p:cNvSpPr/>
          <p:nvPr/>
        </p:nvSpPr>
        <p:spPr>
          <a:xfrm>
            <a:off x="8010144" y="1691640"/>
            <a:ext cx="3474720" cy="4572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19" name="Badge_119"/>
          <p:cNvSpPr/>
          <p:nvPr/>
        </p:nvSpPr>
        <p:spPr>
          <a:xfrm>
            <a:off x="8284464" y="1920240"/>
            <a:ext cx="1463040" cy="274320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 w="9525">
            <a:solidFill>
              <a:srgbClr val="2563EB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en-US" sz="850" b="1">
                <a:solidFill>
                  <a:srgbClr val="2563EB"/>
                </a:solidFill>
                <a:latin typeface="Segoe UI"/>
              </a:rPr>
              <a:t>PAIN POINT 3</a:t>
            </a:r>
          </a:p>
        </p:txBody>
      </p:sp>
      <p:sp>
        <p:nvSpPr>
          <p:cNvPr id="120" name="TextBox_120"/>
          <p:cNvSpPr txBox="1"/>
          <p:nvPr/>
        </p:nvSpPr>
        <p:spPr>
          <a:xfrm>
            <a:off x="8284464" y="2286000"/>
            <a:ext cx="2926080" cy="36576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1400" b="1" i="0">
                <a:solidFill>
                  <a:srgbClr val="0F172A"/>
                </a:solidFill>
                <a:latin typeface="Segoe UI"/>
              </a:rPr>
              <a:t>Exploding Cyber Market</a:t>
            </a:r>
          </a:p>
        </p:txBody>
      </p:sp>
      <p:sp>
        <p:nvSpPr>
          <p:cNvPr id="121" name="Card_121"/>
          <p:cNvSpPr/>
          <p:nvPr/>
        </p:nvSpPr>
        <p:spPr>
          <a:xfrm>
            <a:off x="8284464" y="2697480"/>
            <a:ext cx="2926080" cy="868680"/>
          </a:xfrm>
          <a:prstGeom prst="roundRect">
            <a:avLst>
              <a:gd name="adj" fmla="val 1500"/>
            </a:avLst>
          </a:prstGeom>
          <a:solidFill>
            <a:srgbClr val="EFF6FF"/>
          </a:solidFill>
          <a:ln w="12700">
            <a:solidFill>
              <a:srgbClr val="E2E8F0"/>
            </a:solidFill>
          </a:ln>
        </p:spPr>
      </p:sp>
      <p:sp>
        <p:nvSpPr>
          <p:cNvPr id="122" name="TextBox_122"/>
          <p:cNvSpPr txBox="1"/>
          <p:nvPr/>
        </p:nvSpPr>
        <p:spPr>
          <a:xfrm>
            <a:off x="8284464" y="2743200"/>
            <a:ext cx="2926080" cy="777240"/>
          </a:xfrm>
          <a:prstGeom prst="rect">
            <a:avLst/>
          </a:prstGeom>
          <a:noFill/>
        </p:spPr>
        <p:txBody>
          <a:bodyPr lIns="72000" tIns="72000" rIns="72000" bIns="72000" anchor="ctr"/>
          <a:lstStyle/>
          <a:p>
            <a:pPr algn="ctr">
              <a:buNone/>
            </a:pPr>
            <a:r>
              <a:rPr lang="en-US" sz="1800" b="1" i="0">
                <a:solidFill>
                  <a:srgbClr val="2563EB"/>
                </a:solidFill>
                <a:latin typeface="Segoe UI"/>
              </a:rPr>
              <a:t>$80B</a:t>
            </a:r>
          </a:p>
          <a:p>
            <a:pPr algn="ctr">
              <a:buNone/>
            </a:pPr>
            <a:r>
              <a:rPr lang="en-US" sz="900" b="0" i="0">
                <a:solidFill>
                  <a:srgbClr val="334155"/>
                </a:solidFill>
                <a:latin typeface="Segoe UI"/>
              </a:rPr>
              <a:t>global market by 2030 (EXL Study)</a:t>
            </a:r>
          </a:p>
        </p:txBody>
      </p:sp>
      <p:sp>
        <p:nvSpPr>
          <p:cNvPr id="123" name="TextBox_123"/>
          <p:cNvSpPr txBox="1"/>
          <p:nvPr/>
        </p:nvSpPr>
        <p:spPr>
          <a:xfrm>
            <a:off x="8284464" y="3703320"/>
            <a:ext cx="2926080" cy="100584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1100" b="0" i="0">
                <a:solidFill>
                  <a:srgbClr val="475569"/>
                </a:solidFill>
                <a:latin typeface="Segoe UI"/>
              </a:rPr>
              <a:t>Commercial cyber premiums are surging 25%+ YoY. Manual underwriting desks cannot scale to meet middle-market and small-business account volumes.</a:t>
            </a:r>
            <a:endParaRPr lang="en-US" sz="1100" b="0" i="0">
              <a:solidFill>
                <a:srgbClr val="475569"/>
              </a:solidFill>
              <a:latin typeface="Segoe UI"/>
              <a:cs typeface="Segoe UI"/>
            </a:endParaRPr>
          </a:p>
        </p:txBody>
      </p:sp>
      <p:sp>
        <p:nvSpPr>
          <p:cNvPr id="124" name="TextBox_124"/>
          <p:cNvSpPr txBox="1"/>
          <p:nvPr/>
        </p:nvSpPr>
        <p:spPr>
          <a:xfrm>
            <a:off x="8284464" y="4800600"/>
            <a:ext cx="2926080" cy="128016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1100" b="1" i="0">
                <a:solidFill>
                  <a:srgbClr val="1E293B"/>
                </a:solidFill>
                <a:latin typeface="Segoe UI"/>
              </a:rPr>
              <a:t>Key Impact:</a:t>
            </a:r>
            <a:endParaRPr lang="en-US" sz="1100" b="1" i="0">
              <a:solidFill>
                <a:srgbClr val="1E293B"/>
              </a:solidFill>
              <a:latin typeface="Segoe UI"/>
              <a:cs typeface="Segoe UI"/>
            </a:endParaRPr>
          </a:p>
          <a:p>
            <a:pPr>
              <a:spcBef>
                <a:spcPts val="200"/>
              </a:spcBef>
            </a:pPr>
            <a:r>
              <a:rPr lang="en-US" sz="1100">
                <a:solidFill>
                  <a:srgbClr val="475569"/>
                </a:solidFill>
                <a:latin typeface="Segoe UI"/>
              </a:rPr>
              <a:t> </a:t>
            </a:r>
            <a:r>
              <a:rPr lang="en-US" sz="1100" b="0" i="0">
                <a:solidFill>
                  <a:srgbClr val="475569"/>
                </a:solidFill>
                <a:latin typeface="Segoe UI"/>
              </a:rPr>
              <a:t>• High operational expenses</a:t>
            </a:r>
            <a:endParaRPr lang="en-US" sz="1100" b="0" i="0">
              <a:solidFill>
                <a:srgbClr val="475569"/>
              </a:solidFill>
              <a:latin typeface="Segoe UI"/>
              <a:cs typeface="Segoe UI"/>
            </a:endParaRPr>
          </a:p>
          <a:p>
            <a:pPr>
              <a:spcBef>
                <a:spcPts val="100"/>
              </a:spcBef>
            </a:pPr>
            <a:r>
              <a:rPr lang="en-US" sz="1100">
                <a:solidFill>
                  <a:srgbClr val="475569"/>
                </a:solidFill>
                <a:latin typeface="Segoe UI"/>
              </a:rPr>
              <a:t> </a:t>
            </a:r>
            <a:r>
              <a:rPr lang="en-US" sz="1100" b="0" i="0">
                <a:solidFill>
                  <a:srgbClr val="475569"/>
                </a:solidFill>
                <a:latin typeface="Segoe UI"/>
              </a:rPr>
              <a:t>• Lost broker submission flow</a:t>
            </a:r>
            <a:endParaRPr lang="en-US" sz="1100" b="0" i="0">
              <a:solidFill>
                <a:srgbClr val="475569"/>
              </a:solidFill>
              <a:latin typeface="Segoe UI"/>
              <a:cs typeface="Segoe UI"/>
            </a:endParaRPr>
          </a:p>
          <a:p>
            <a:pPr>
              <a:spcBef>
                <a:spcPts val="100"/>
              </a:spcBef>
            </a:pPr>
            <a:r>
              <a:rPr lang="en-US" sz="1100">
                <a:solidFill>
                  <a:srgbClr val="475569"/>
                </a:solidFill>
                <a:latin typeface="Segoe UI"/>
              </a:rPr>
              <a:t> </a:t>
            </a:r>
            <a:r>
              <a:rPr lang="en-US" sz="1100" b="0" i="0">
                <a:solidFill>
                  <a:srgbClr val="475569"/>
                </a:solidFill>
                <a:latin typeface="Segoe UI"/>
              </a:rPr>
              <a:t>• Slow quote bind rates</a:t>
            </a:r>
            <a:endParaRPr lang="en-US" sz="1100" b="0" i="0">
              <a:solidFill>
                <a:srgbClr val="475569"/>
              </a:solidFill>
              <a:latin typeface="Segoe UI"/>
              <a:cs typeface="Segoe UI"/>
            </a:endParaRPr>
          </a:p>
        </p:txBody>
      </p:sp>
      <p:sp>
        <p:nvSpPr>
          <p:cNvPr id="999" name="SlideNum"/>
          <p:cNvSpPr txBox="1"/>
          <p:nvPr/>
        </p:nvSpPr>
        <p:spPr>
          <a:xfrm>
            <a:off x="10241280" y="6446520"/>
            <a:ext cx="1188720" cy="32004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algn="r"/>
            <a:r>
              <a:rPr lang="en-US" sz="800" b="1">
                <a:solidFill>
                  <a:srgbClr val="94A3B8"/>
                </a:solidFill>
                <a:latin typeface="Segoe UI"/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adge_101"/>
          <p:cNvSpPr/>
          <p:nvPr/>
        </p:nvSpPr>
        <p:spPr>
          <a:xfrm>
            <a:off x="731520" y="411480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 w="9525">
            <a:solidFill>
              <a:srgbClr val="2563EB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en-US" sz="900" b="1">
                <a:solidFill>
                  <a:srgbClr val="2563EB"/>
                </a:solidFill>
                <a:latin typeface="Segoe UI"/>
              </a:rPr>
              <a:t>SOLUTION OVERVIEW</a:t>
            </a:r>
          </a:p>
        </p:txBody>
      </p:sp>
      <p:sp>
        <p:nvSpPr>
          <p:cNvPr id="102" name="TextBox_102"/>
          <p:cNvSpPr txBox="1"/>
          <p:nvPr/>
        </p:nvSpPr>
        <p:spPr>
          <a:xfrm>
            <a:off x="731520" y="749808"/>
            <a:ext cx="10698480" cy="50292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2200" b="1" i="0">
                <a:solidFill>
                  <a:srgbClr val="0F172A"/>
                </a:solidFill>
                <a:latin typeface="Segoe UI"/>
              </a:rPr>
              <a:t>An Autonomous, Governed Underwriting Assessment Engine</a:t>
            </a:r>
          </a:p>
        </p:txBody>
      </p:sp>
      <p:sp>
        <p:nvSpPr>
          <p:cNvPr id="103" name="TextBox_103"/>
          <p:cNvSpPr txBox="1"/>
          <p:nvPr/>
        </p:nvSpPr>
        <p:spPr>
          <a:xfrm>
            <a:off x="731520" y="1261872"/>
            <a:ext cx="10698480" cy="32004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1100" b="0" i="0">
                <a:solidFill>
                  <a:srgbClr val="475569"/>
                </a:solidFill>
                <a:latin typeface="Segoe UI"/>
              </a:rPr>
              <a:t>Combines parallel multi-agent data harvesting with consensus fact-checking and deterministic risk scoring.</a:t>
            </a:r>
          </a:p>
        </p:txBody>
      </p:sp>
      <p:sp>
        <p:nvSpPr>
          <p:cNvPr id="104" name="Card_104"/>
          <p:cNvSpPr/>
          <p:nvPr/>
        </p:nvSpPr>
        <p:spPr>
          <a:xfrm>
            <a:off x="731520" y="1691640"/>
            <a:ext cx="4389120" cy="4572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05" name="Badge_105"/>
          <p:cNvSpPr/>
          <p:nvPr/>
        </p:nvSpPr>
        <p:spPr>
          <a:xfrm>
            <a:off x="1005840" y="1920240"/>
            <a:ext cx="2011680" cy="274320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 w="9525">
            <a:solidFill>
              <a:srgbClr val="1D4ED8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en-US" sz="900" b="1">
                <a:solidFill>
                  <a:srgbClr val="1D4ED8"/>
                </a:solidFill>
                <a:latin typeface="Segoe UI"/>
              </a:rPr>
              <a:t>CORE ARCHITECTURE</a:t>
            </a:r>
          </a:p>
        </p:txBody>
      </p:sp>
      <p:sp>
        <p:nvSpPr>
          <p:cNvPr id="106" name="TextBox_106"/>
          <p:cNvSpPr txBox="1"/>
          <p:nvPr/>
        </p:nvSpPr>
        <p:spPr>
          <a:xfrm>
            <a:off x="1005840" y="2286000"/>
            <a:ext cx="3840480" cy="36576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1500" b="1" i="0">
                <a:solidFill>
                  <a:srgbClr val="0F172A"/>
                </a:solidFill>
                <a:latin typeface="Segoe UI"/>
              </a:rPr>
              <a:t>End-to-End Autonomous Pipeline</a:t>
            </a:r>
          </a:p>
        </p:txBody>
      </p:sp>
      <p:sp>
        <p:nvSpPr>
          <p:cNvPr id="107" name="Card_107"/>
          <p:cNvSpPr/>
          <p:nvPr/>
        </p:nvSpPr>
        <p:spPr>
          <a:xfrm>
            <a:off x="1005840" y="2743200"/>
            <a:ext cx="3840480" cy="566928"/>
          </a:xfrm>
          <a:prstGeom prst="roundRect">
            <a:avLst>
              <a:gd name="adj" fmla="val 12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</p:sp>
      <p:sp>
        <p:nvSpPr>
          <p:cNvPr id="108" name="TextBox_108"/>
          <p:cNvSpPr txBox="1"/>
          <p:nvPr/>
        </p:nvSpPr>
        <p:spPr>
          <a:xfrm>
            <a:off x="1097280" y="2788920"/>
            <a:ext cx="3657600" cy="475488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1050" b="1" i="0">
                <a:solidFill>
                  <a:srgbClr val="2563EB"/>
                </a:solidFill>
                <a:latin typeface="Segoe UI"/>
              </a:rPr>
              <a:t>1. Supervisor Validation</a:t>
            </a:r>
          </a:p>
          <a:p>
            <a:pPr algn="l">
              <a:buNone/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Pre-validates GLEIF LEI &amp; routes SEC vs. Non-SEC</a:t>
            </a:r>
          </a:p>
        </p:txBody>
      </p:sp>
      <p:sp>
        <p:nvSpPr>
          <p:cNvPr id="109" name="Card_109"/>
          <p:cNvSpPr/>
          <p:nvPr/>
        </p:nvSpPr>
        <p:spPr>
          <a:xfrm>
            <a:off x="1005840" y="3401568"/>
            <a:ext cx="3840480" cy="566928"/>
          </a:xfrm>
          <a:prstGeom prst="roundRect">
            <a:avLst>
              <a:gd name="adj" fmla="val 12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</p:sp>
      <p:sp>
        <p:nvSpPr>
          <p:cNvPr id="110" name="TextBox_110"/>
          <p:cNvSpPr txBox="1"/>
          <p:nvPr/>
        </p:nvSpPr>
        <p:spPr>
          <a:xfrm>
            <a:off x="1097280" y="3447287"/>
            <a:ext cx="3657600" cy="475488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1050" b="1" i="0">
                <a:solidFill>
                  <a:srgbClr val="0D9488"/>
                </a:solidFill>
                <a:latin typeface="Segoe UI"/>
              </a:rPr>
              <a:t>2. Parallel Harvesting</a:t>
            </a:r>
          </a:p>
          <a:p>
            <a:pPr algn="l">
              <a:buNone/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6 live collectors gather financial, structural &amp; web facts</a:t>
            </a:r>
          </a:p>
        </p:txBody>
      </p:sp>
      <p:sp>
        <p:nvSpPr>
          <p:cNvPr id="111" name="Card_111"/>
          <p:cNvSpPr/>
          <p:nvPr/>
        </p:nvSpPr>
        <p:spPr>
          <a:xfrm>
            <a:off x="1005840" y="4059935"/>
            <a:ext cx="3840480" cy="566928"/>
          </a:xfrm>
          <a:prstGeom prst="roundRect">
            <a:avLst>
              <a:gd name="adj" fmla="val 12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</p:sp>
      <p:sp>
        <p:nvSpPr>
          <p:cNvPr id="112" name="TextBox_112"/>
          <p:cNvSpPr txBox="1"/>
          <p:nvPr/>
        </p:nvSpPr>
        <p:spPr>
          <a:xfrm>
            <a:off x="1097280" y="4105655"/>
            <a:ext cx="3657600" cy="475488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1050" b="1" i="0">
                <a:solidFill>
                  <a:srgbClr val="7C3AED"/>
                </a:solidFill>
                <a:latin typeface="Segoe UI"/>
              </a:rPr>
              <a:t>3. Priority Reconciliation</a:t>
            </a:r>
          </a:p>
          <a:p>
            <a:pPr algn="l">
              <a:buNone/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Coordinator merges evidence with zero data loss</a:t>
            </a:r>
          </a:p>
        </p:txBody>
      </p:sp>
      <p:sp>
        <p:nvSpPr>
          <p:cNvPr id="113" name="Card_113"/>
          <p:cNvSpPr/>
          <p:nvPr/>
        </p:nvSpPr>
        <p:spPr>
          <a:xfrm>
            <a:off x="1005840" y="4718304"/>
            <a:ext cx="3840480" cy="566928"/>
          </a:xfrm>
          <a:prstGeom prst="roundRect">
            <a:avLst>
              <a:gd name="adj" fmla="val 12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</p:sp>
      <p:sp>
        <p:nvSpPr>
          <p:cNvPr id="114" name="TextBox_114"/>
          <p:cNvSpPr txBox="1"/>
          <p:nvPr/>
        </p:nvSpPr>
        <p:spPr>
          <a:xfrm>
            <a:off x="1097280" y="4764024"/>
            <a:ext cx="3657600" cy="475488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1050" b="1" i="0">
                <a:solidFill>
                  <a:srgbClr val="D97706"/>
                </a:solidFill>
                <a:latin typeface="Segoe UI"/>
              </a:rPr>
              <a:t>4. Consensus Verification</a:t>
            </a:r>
          </a:p>
          <a:p>
            <a:pPr algn="l">
              <a:buNone/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FactChecker validates cross-source accuracy (&gt;90%)</a:t>
            </a:r>
          </a:p>
        </p:txBody>
      </p:sp>
      <p:sp>
        <p:nvSpPr>
          <p:cNvPr id="115" name="Card_115"/>
          <p:cNvSpPr/>
          <p:nvPr/>
        </p:nvSpPr>
        <p:spPr>
          <a:xfrm>
            <a:off x="1005840" y="5376672"/>
            <a:ext cx="3840480" cy="566928"/>
          </a:xfrm>
          <a:prstGeom prst="roundRect">
            <a:avLst>
              <a:gd name="adj" fmla="val 12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</p:sp>
      <p:sp>
        <p:nvSpPr>
          <p:cNvPr id="116" name="TextBox_116"/>
          <p:cNvSpPr txBox="1"/>
          <p:nvPr/>
        </p:nvSpPr>
        <p:spPr>
          <a:xfrm>
            <a:off x="1097280" y="5422392"/>
            <a:ext cx="3657600" cy="475488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1050" b="1" i="0">
                <a:solidFill>
                  <a:srgbClr val="059669"/>
                </a:solidFill>
                <a:latin typeface="Segoe UI"/>
              </a:rPr>
              <a:t>5. Actuarial Risk Underwriting</a:t>
            </a:r>
          </a:p>
          <a:p>
            <a:pPr algn="l">
              <a:buNone/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Deterministic evaluation across 15 risk modifiers</a:t>
            </a:r>
          </a:p>
        </p:txBody>
      </p:sp>
      <p:sp>
        <p:nvSpPr>
          <p:cNvPr id="117" name="Card_117"/>
          <p:cNvSpPr/>
          <p:nvPr/>
        </p:nvSpPr>
        <p:spPr>
          <a:xfrm>
            <a:off x="5303520" y="1691640"/>
            <a:ext cx="6126480" cy="14173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18" name="Badge_118"/>
          <p:cNvSpPr/>
          <p:nvPr/>
        </p:nvSpPr>
        <p:spPr>
          <a:xfrm>
            <a:off x="5486400" y="1828800"/>
            <a:ext cx="2194560" cy="237744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 w="9525">
            <a:solidFill>
              <a:srgbClr val="2563EB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en-US" sz="800" b="1">
                <a:solidFill>
                  <a:srgbClr val="2563EB"/>
                </a:solidFill>
                <a:latin typeface="Segoe UI"/>
              </a:rPr>
              <a:t>PILLAR 1: SPEED &amp; SCALE</a:t>
            </a:r>
          </a:p>
        </p:txBody>
      </p:sp>
      <p:sp>
        <p:nvSpPr>
          <p:cNvPr id="119" name="TextBox_119"/>
          <p:cNvSpPr txBox="1"/>
          <p:nvPr/>
        </p:nvSpPr>
        <p:spPr>
          <a:xfrm>
            <a:off x="5486400" y="2103120"/>
            <a:ext cx="5760720" cy="32004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1200" b="1" i="0">
                <a:solidFill>
                  <a:srgbClr val="0F172A"/>
                </a:solidFill>
                <a:latin typeface="Segoe UI"/>
              </a:rPr>
              <a:t>99% Faster Turnaround Time</a:t>
            </a:r>
          </a:p>
        </p:txBody>
      </p:sp>
      <p:sp>
        <p:nvSpPr>
          <p:cNvPr id="120" name="TextBox_120"/>
          <p:cNvSpPr txBox="1"/>
          <p:nvPr/>
        </p:nvSpPr>
        <p:spPr>
          <a:xfrm>
            <a:off x="5486400" y="2377440"/>
            <a:ext cx="5760720" cy="68580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marL="288000" indent="-288000" algn="l">
              <a:spcBef>
                <a:spcPts val="100"/>
              </a:spcBef>
              <a:buFont typeface="Arial"/>
              <a:buChar char="•"/>
            </a:pPr>
            <a:r>
              <a:rPr lang="en-US" sz="950" b="0" i="0">
                <a:solidFill>
                  <a:srgbClr val="475569"/>
                </a:solidFill>
                <a:latin typeface="Segoe UI"/>
              </a:rPr>
              <a:t>Reduces research &amp; underwriting time from 3–4 hours to ~90 seconds.</a:t>
            </a:r>
          </a:p>
          <a:p>
            <a:pPr marL="288000" indent="-288000" algn="l">
              <a:spcBef>
                <a:spcPts val="100"/>
              </a:spcBef>
              <a:buFont typeface="Arial"/>
              <a:buChar char="•"/>
            </a:pPr>
            <a:r>
              <a:rPr lang="en-US" sz="950" b="0" i="0">
                <a:solidFill>
                  <a:srgbClr val="475569"/>
                </a:solidFill>
                <a:latin typeface="Segoe UI"/>
              </a:rPr>
              <a:t>Enables brokers and underwriters to quote middle-market submissions instantly.</a:t>
            </a:r>
          </a:p>
          <a:p>
            <a:pPr marL="288000" indent="-288000" algn="l">
              <a:spcBef>
                <a:spcPts val="100"/>
              </a:spcBef>
              <a:buFont typeface="Arial"/>
              <a:buChar char="•"/>
            </a:pPr>
            <a:r>
              <a:rPr lang="en-US" sz="950" b="0" i="0">
                <a:solidFill>
                  <a:srgbClr val="475569"/>
                </a:solidFill>
                <a:latin typeface="Segoe UI"/>
              </a:rPr>
              <a:t>Multi-tier caching prevents duplicate API calls on repeat company analyses.</a:t>
            </a:r>
          </a:p>
        </p:txBody>
      </p:sp>
      <p:sp>
        <p:nvSpPr>
          <p:cNvPr id="121" name="Card_121"/>
          <p:cNvSpPr/>
          <p:nvPr/>
        </p:nvSpPr>
        <p:spPr>
          <a:xfrm>
            <a:off x="5303520" y="3227832"/>
            <a:ext cx="6126480" cy="14173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22" name="Badge_122"/>
          <p:cNvSpPr/>
          <p:nvPr/>
        </p:nvSpPr>
        <p:spPr>
          <a:xfrm>
            <a:off x="5486400" y="3364992"/>
            <a:ext cx="2194560" cy="237744"/>
          </a:xfrm>
          <a:prstGeom prst="roundRect">
            <a:avLst>
              <a:gd name="adj" fmla="val 25000"/>
            </a:avLst>
          </a:prstGeom>
          <a:solidFill>
            <a:srgbClr val="ECFDF5"/>
          </a:solidFill>
          <a:ln w="9525">
            <a:solidFill>
              <a:srgbClr val="059669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en-US" sz="800" b="1">
                <a:solidFill>
                  <a:srgbClr val="059669"/>
                </a:solidFill>
                <a:latin typeface="Segoe UI"/>
              </a:rPr>
              <a:t>PILLAR 2: ZERO HALLUCINATION MATH</a:t>
            </a:r>
          </a:p>
        </p:txBody>
      </p:sp>
      <p:sp>
        <p:nvSpPr>
          <p:cNvPr id="123" name="TextBox_123"/>
          <p:cNvSpPr txBox="1"/>
          <p:nvPr/>
        </p:nvSpPr>
        <p:spPr>
          <a:xfrm>
            <a:off x="5486400" y="3639312"/>
            <a:ext cx="5760720" cy="32004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1200" b="1" i="0">
                <a:solidFill>
                  <a:srgbClr val="0F172A"/>
                </a:solidFill>
                <a:latin typeface="Segoe UI"/>
              </a:rPr>
              <a:t>Deterministic Actuarial Rating Rules</a:t>
            </a:r>
          </a:p>
        </p:txBody>
      </p:sp>
      <p:sp>
        <p:nvSpPr>
          <p:cNvPr id="124" name="TextBox_124"/>
          <p:cNvSpPr txBox="1"/>
          <p:nvPr/>
        </p:nvSpPr>
        <p:spPr>
          <a:xfrm>
            <a:off x="5486400" y="3913632"/>
            <a:ext cx="5760720" cy="68580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marL="288000" indent="-288000" algn="l">
              <a:spcBef>
                <a:spcPts val="100"/>
              </a:spcBef>
              <a:buFont typeface="Arial"/>
              <a:buChar char="•"/>
            </a:pPr>
            <a:r>
              <a:rPr lang="en-US" sz="950" b="0" i="0">
                <a:solidFill>
                  <a:srgbClr val="475569"/>
                </a:solidFill>
                <a:latin typeface="Segoe UI"/>
              </a:rPr>
              <a:t>LLMs are strictly restricted to data extraction and natural language synthesis.</a:t>
            </a:r>
          </a:p>
          <a:p>
            <a:pPr marL="288000" indent="-288000" algn="l">
              <a:spcBef>
                <a:spcPts val="100"/>
              </a:spcBef>
              <a:buFont typeface="Arial"/>
              <a:buChar char="•"/>
            </a:pPr>
            <a:r>
              <a:rPr lang="en-US" sz="950" b="0" i="0">
                <a:solidFill>
                  <a:srgbClr val="475569"/>
                </a:solidFill>
                <a:latin typeface="Segoe UI"/>
              </a:rPr>
              <a:t>All 15 underwriting modifier scores and multipliers are computed via deterministic code.</a:t>
            </a:r>
          </a:p>
          <a:p>
            <a:pPr marL="288000" indent="-288000" algn="l">
              <a:spcBef>
                <a:spcPts val="100"/>
              </a:spcBef>
              <a:buFont typeface="Arial"/>
              <a:buChar char="•"/>
            </a:pPr>
            <a:r>
              <a:rPr lang="en-US" sz="950" b="0" i="0">
                <a:solidFill>
                  <a:srgbClr val="475569"/>
                </a:solidFill>
                <a:latin typeface="Segoe UI"/>
              </a:rPr>
              <a:t>100% auditable and reproducible: same company evidence produces the exact same score.</a:t>
            </a:r>
          </a:p>
        </p:txBody>
      </p:sp>
      <p:sp>
        <p:nvSpPr>
          <p:cNvPr id="125" name="Card_125"/>
          <p:cNvSpPr/>
          <p:nvPr/>
        </p:nvSpPr>
        <p:spPr>
          <a:xfrm>
            <a:off x="5303520" y="4764024"/>
            <a:ext cx="6126480" cy="14173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26" name="Badge_126"/>
          <p:cNvSpPr/>
          <p:nvPr/>
        </p:nvSpPr>
        <p:spPr>
          <a:xfrm>
            <a:off x="5486400" y="4901184"/>
            <a:ext cx="2194560" cy="237744"/>
          </a:xfrm>
          <a:prstGeom prst="roundRect">
            <a:avLst>
              <a:gd name="adj" fmla="val 25000"/>
            </a:avLst>
          </a:prstGeom>
          <a:solidFill>
            <a:srgbClr val="FAF5FF"/>
          </a:solidFill>
          <a:ln w="9525">
            <a:solidFill>
              <a:srgbClr val="7C3AED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en-US" sz="800" b="1">
                <a:solidFill>
                  <a:srgbClr val="7C3AED"/>
                </a:solidFill>
                <a:latin typeface="Segoe UI"/>
              </a:rPr>
              <a:t>PILLAR 3: COMPLETE AUDITABILITY</a:t>
            </a:r>
          </a:p>
        </p:txBody>
      </p:sp>
      <p:sp>
        <p:nvSpPr>
          <p:cNvPr id="127" name="TextBox_127"/>
          <p:cNvSpPr txBox="1"/>
          <p:nvPr/>
        </p:nvSpPr>
        <p:spPr>
          <a:xfrm>
            <a:off x="5486400" y="5175504"/>
            <a:ext cx="5760720" cy="32004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1200" b="1" i="0">
                <a:solidFill>
                  <a:srgbClr val="0F172A"/>
                </a:solidFill>
                <a:latin typeface="Segoe UI"/>
              </a:rPr>
              <a:t>Full Evidence Provenance &amp; HITL</a:t>
            </a:r>
          </a:p>
        </p:txBody>
      </p:sp>
      <p:sp>
        <p:nvSpPr>
          <p:cNvPr id="128" name="TextBox_128"/>
          <p:cNvSpPr txBox="1"/>
          <p:nvPr/>
        </p:nvSpPr>
        <p:spPr>
          <a:xfrm>
            <a:off x="5486400" y="5449824"/>
            <a:ext cx="5760720" cy="68580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marL="288000" indent="-288000" algn="l">
              <a:spcBef>
                <a:spcPts val="100"/>
              </a:spcBef>
              <a:buFont typeface="Arial"/>
              <a:buChar char="•"/>
            </a:pPr>
            <a:r>
              <a:rPr lang="en-US" sz="950" b="0" i="0">
                <a:solidFill>
                  <a:srgbClr val="475569"/>
                </a:solidFill>
                <a:latin typeface="Segoe UI"/>
              </a:rPr>
              <a:t>Every claimed revenue, employee count, or subsidiary is tied to source URLs/filings.</a:t>
            </a:r>
          </a:p>
          <a:p>
            <a:pPr marL="288000" indent="-288000" algn="l">
              <a:spcBef>
                <a:spcPts val="100"/>
              </a:spcBef>
              <a:buFont typeface="Arial"/>
              <a:buChar char="•"/>
            </a:pPr>
            <a:r>
              <a:rPr lang="en-US" sz="950" b="0" i="0">
                <a:solidFill>
                  <a:srgbClr val="475569"/>
                </a:solidFill>
                <a:latin typeface="Segoe UI"/>
              </a:rPr>
              <a:t>Consensus score below 50% automatically triggers Human-in-the-Loop escalation.</a:t>
            </a:r>
          </a:p>
          <a:p>
            <a:pPr marL="288000" indent="-288000" algn="l">
              <a:spcBef>
                <a:spcPts val="100"/>
              </a:spcBef>
              <a:buFont typeface="Arial"/>
              <a:buChar char="•"/>
            </a:pPr>
            <a:r>
              <a:rPr lang="en-US" sz="950" b="0" i="0">
                <a:solidFill>
                  <a:srgbClr val="475569"/>
                </a:solidFill>
                <a:latin typeface="Segoe UI"/>
              </a:rPr>
              <a:t>Generates executive-ready HTML audit reports for underwriting committees.</a:t>
            </a:r>
          </a:p>
        </p:txBody>
      </p:sp>
      <p:sp>
        <p:nvSpPr>
          <p:cNvPr id="999" name="SlideNum"/>
          <p:cNvSpPr txBox="1"/>
          <p:nvPr/>
        </p:nvSpPr>
        <p:spPr>
          <a:xfrm>
            <a:off x="10241280" y="6446520"/>
            <a:ext cx="1188720" cy="32004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algn="r"/>
            <a:r>
              <a:rPr lang="en-US" sz="800" b="1">
                <a:solidFill>
                  <a:srgbClr val="94A3B8"/>
                </a:solidFill>
                <a:latin typeface="Segoe UI"/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adge_101"/>
          <p:cNvSpPr/>
          <p:nvPr/>
        </p:nvSpPr>
        <p:spPr>
          <a:xfrm>
            <a:off x="731520" y="411480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 w="9525">
            <a:solidFill>
              <a:srgbClr val="2563EB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en-US" sz="900" b="1">
                <a:solidFill>
                  <a:srgbClr val="2563EB"/>
                </a:solidFill>
                <a:latin typeface="Segoe UI"/>
              </a:rPr>
              <a:t>SYSTEM ARCHITECTURE</a:t>
            </a:r>
          </a:p>
        </p:txBody>
      </p:sp>
      <p:sp>
        <p:nvSpPr>
          <p:cNvPr id="102" name="TextBox_102"/>
          <p:cNvSpPr txBox="1"/>
          <p:nvPr/>
        </p:nvSpPr>
        <p:spPr>
          <a:xfrm>
            <a:off x="731520" y="749808"/>
            <a:ext cx="10698480" cy="50292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2200" b="1" i="0">
                <a:solidFill>
                  <a:srgbClr val="0F172A"/>
                </a:solidFill>
                <a:latin typeface="Segoe UI"/>
              </a:rPr>
              <a:t>LangGraph Multi-Agent Orchestration Workflow</a:t>
            </a:r>
          </a:p>
        </p:txBody>
      </p:sp>
      <p:sp>
        <p:nvSpPr>
          <p:cNvPr id="103" name="TextBox_103"/>
          <p:cNvSpPr txBox="1"/>
          <p:nvPr/>
        </p:nvSpPr>
        <p:spPr>
          <a:xfrm>
            <a:off x="731520" y="1261872"/>
            <a:ext cx="10698480" cy="32004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1100" b="0" i="0">
                <a:solidFill>
                  <a:srgbClr val="475569"/>
                </a:solidFill>
                <a:latin typeface="Segoe UI"/>
              </a:rPr>
              <a:t>A resilient Directed Acyclic Graph (DAG) featuring conditional routing, parallel fan-out harvesting, and state reduction.</a:t>
            </a:r>
          </a:p>
        </p:txBody>
      </p:sp>
      <p:sp>
        <p:nvSpPr>
          <p:cNvPr id="104" name="Card_104"/>
          <p:cNvSpPr/>
          <p:nvPr/>
        </p:nvSpPr>
        <p:spPr>
          <a:xfrm>
            <a:off x="731520" y="1691640"/>
            <a:ext cx="210312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</p:spPr>
      </p:sp>
      <p:sp>
        <p:nvSpPr>
          <p:cNvPr id="105" name="Badge_105"/>
          <p:cNvSpPr/>
          <p:nvPr/>
        </p:nvSpPr>
        <p:spPr>
          <a:xfrm>
            <a:off x="914400" y="1874519"/>
            <a:ext cx="1737360" cy="256032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 w="9525">
            <a:solidFill>
              <a:srgbClr val="1D4ED8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en-US" sz="900" b="1">
                <a:solidFill>
                  <a:srgbClr val="1D4ED8"/>
                </a:solidFill>
                <a:latin typeface="Segoe UI"/>
              </a:rPr>
              <a:t>STAGE 1 • ENTRY</a:t>
            </a:r>
          </a:p>
        </p:txBody>
      </p:sp>
      <p:sp>
        <p:nvSpPr>
          <p:cNvPr id="106" name="TextBox_106"/>
          <p:cNvSpPr txBox="1"/>
          <p:nvPr/>
        </p:nvSpPr>
        <p:spPr>
          <a:xfrm>
            <a:off x="914400" y="2194560"/>
            <a:ext cx="1737360" cy="36576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1300" b="1" i="0">
                <a:solidFill>
                  <a:srgbClr val="0F172A"/>
                </a:solidFill>
                <a:latin typeface="Segoe UI"/>
              </a:rPr>
              <a:t>Supervisor Node</a:t>
            </a:r>
          </a:p>
        </p:txBody>
      </p:sp>
      <p:sp>
        <p:nvSpPr>
          <p:cNvPr id="107" name="TextBox_107"/>
          <p:cNvSpPr txBox="1"/>
          <p:nvPr/>
        </p:nvSpPr>
        <p:spPr>
          <a:xfrm>
            <a:off x="914400" y="2606040"/>
            <a:ext cx="1737360" cy="347472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950" b="1" i="0">
                <a:solidFill>
                  <a:srgbClr val="1E293B"/>
                </a:solidFill>
                <a:latin typeface="Segoe UI"/>
              </a:rPr>
              <a:t>Key Responsibilities: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900" b="0" i="0">
                <a:solidFill>
                  <a:srgbClr val="475569"/>
                </a:solidFill>
                <a:latin typeface="Segoe UI"/>
              </a:rPr>
              <a:t>• Validates legal company name via GLEIF API.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900" b="0" i="0">
                <a:solidFill>
                  <a:srgbClr val="475569"/>
                </a:solidFill>
                <a:latin typeface="Segoe UI"/>
              </a:rPr>
              <a:t>• Checks multi-tier cache database to avoid duplicate queries.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900" b="0" i="0">
                <a:solidFill>
                  <a:srgbClr val="475569"/>
                </a:solidFill>
                <a:latin typeface="Segoe UI"/>
              </a:rPr>
              <a:t>• Classifies company as SEC vs. Non-SEC / Private.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900" b="0" i="0">
                <a:solidFill>
                  <a:srgbClr val="475569"/>
                </a:solidFill>
                <a:latin typeface="Segoe UI"/>
              </a:rPr>
              <a:t>• Dynamic DAG routing based on company type.</a:t>
            </a:r>
          </a:p>
        </p:txBody>
      </p:sp>
      <p:sp>
        <p:nvSpPr>
          <p:cNvPr id="108" name="Arrow_108"/>
          <p:cNvSpPr/>
          <p:nvPr/>
        </p:nvSpPr>
        <p:spPr>
          <a:xfrm>
            <a:off x="2907792" y="3794760"/>
            <a:ext cx="320040" cy="228600"/>
          </a:xfrm>
          <a:prstGeom prst="rightArrow">
            <a:avLst/>
          </a:prstGeom>
          <a:solidFill>
            <a:srgbClr val="2563EB"/>
          </a:solidFill>
        </p:spPr>
      </p:sp>
      <p:sp>
        <p:nvSpPr>
          <p:cNvPr id="109" name="Card_109"/>
          <p:cNvSpPr/>
          <p:nvPr/>
        </p:nvSpPr>
        <p:spPr>
          <a:xfrm>
            <a:off x="3291840" y="1691640"/>
            <a:ext cx="3200400" cy="457200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</p:spPr>
      </p:sp>
      <p:sp>
        <p:nvSpPr>
          <p:cNvPr id="110" name="Badge_110"/>
          <p:cNvSpPr/>
          <p:nvPr/>
        </p:nvSpPr>
        <p:spPr>
          <a:xfrm>
            <a:off x="3474720" y="1874519"/>
            <a:ext cx="2834640" cy="256032"/>
          </a:xfrm>
          <a:prstGeom prst="roundRect">
            <a:avLst>
              <a:gd name="adj" fmla="val 25000"/>
            </a:avLst>
          </a:prstGeom>
          <a:solidFill>
            <a:srgbClr val="F0FDFA"/>
          </a:solidFill>
          <a:ln w="9525">
            <a:solidFill>
              <a:srgbClr val="0D9488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en-US" sz="900" b="1">
                <a:solidFill>
                  <a:srgbClr val="0D9488"/>
                </a:solidFill>
                <a:latin typeface="Segoe UI"/>
              </a:rPr>
              <a:t>STAGE 2 • FAN-OUT (PARALLEL AGENTS)</a:t>
            </a:r>
          </a:p>
        </p:txBody>
      </p:sp>
      <p:sp>
        <p:nvSpPr>
          <p:cNvPr id="111" name="TextBox_111"/>
          <p:cNvSpPr txBox="1"/>
          <p:nvPr/>
        </p:nvSpPr>
        <p:spPr>
          <a:xfrm>
            <a:off x="3474720" y="2194560"/>
            <a:ext cx="2834640" cy="32004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1300" b="1" i="0">
                <a:solidFill>
                  <a:srgbClr val="0F172A"/>
                </a:solidFill>
                <a:latin typeface="Segoe UI"/>
              </a:rPr>
              <a:t>6 Specialized Collectors</a:t>
            </a:r>
          </a:p>
        </p:txBody>
      </p:sp>
      <p:sp>
        <p:nvSpPr>
          <p:cNvPr id="112" name="Card_112"/>
          <p:cNvSpPr/>
          <p:nvPr/>
        </p:nvSpPr>
        <p:spPr>
          <a:xfrm>
            <a:off x="3474720" y="2606040"/>
            <a:ext cx="2834640" cy="512064"/>
          </a:xfrm>
          <a:prstGeom prst="roundRect">
            <a:avLst>
              <a:gd name="adj" fmla="val 1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13" name="TextBox_113"/>
          <p:cNvSpPr txBox="1"/>
          <p:nvPr/>
        </p:nvSpPr>
        <p:spPr>
          <a:xfrm>
            <a:off x="3566160" y="2642616"/>
            <a:ext cx="2651760" cy="438912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950" b="1" i="0">
                <a:solidFill>
                  <a:srgbClr val="2563EB"/>
                </a:solidFill>
                <a:latin typeface="Segoe UI"/>
              </a:rPr>
              <a:t>SEC EDGAR XBRL</a:t>
            </a:r>
          </a:p>
          <a:p>
            <a:pPr algn="l">
              <a:buNone/>
            </a:pPr>
            <a:r>
              <a:rPr lang="en-US" sz="800" b="0" i="0">
                <a:solidFill>
                  <a:srgbClr val="475569"/>
                </a:solidFill>
                <a:latin typeface="Segoe UI"/>
              </a:rPr>
              <a:t>Annual 10-K &amp; Quarterly 10-Q Financials</a:t>
            </a:r>
          </a:p>
        </p:txBody>
      </p:sp>
      <p:sp>
        <p:nvSpPr>
          <p:cNvPr id="114" name="Card_114"/>
          <p:cNvSpPr/>
          <p:nvPr/>
        </p:nvSpPr>
        <p:spPr>
          <a:xfrm>
            <a:off x="3474720" y="3191256"/>
            <a:ext cx="2834640" cy="512064"/>
          </a:xfrm>
          <a:prstGeom prst="roundRect">
            <a:avLst>
              <a:gd name="adj" fmla="val 1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15" name="TextBox_115"/>
          <p:cNvSpPr txBox="1"/>
          <p:nvPr/>
        </p:nvSpPr>
        <p:spPr>
          <a:xfrm>
            <a:off x="3566160" y="3227832"/>
            <a:ext cx="2651760" cy="438912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950" b="1" i="0">
                <a:solidFill>
                  <a:srgbClr val="0D9488"/>
                </a:solidFill>
                <a:latin typeface="Segoe UI"/>
              </a:rPr>
              <a:t>Wikidata SPARQL</a:t>
            </a:r>
          </a:p>
          <a:p>
            <a:pPr algn="l">
              <a:buNone/>
            </a:pPr>
            <a:r>
              <a:rPr lang="en-US" sz="800" b="0" i="0">
                <a:solidFill>
                  <a:srgbClr val="475569"/>
                </a:solidFill>
                <a:latin typeface="Segoe UI"/>
              </a:rPr>
              <a:t>Subsidiary trees, inception &amp; HQ</a:t>
            </a:r>
          </a:p>
        </p:txBody>
      </p:sp>
      <p:sp>
        <p:nvSpPr>
          <p:cNvPr id="116" name="Card_116"/>
          <p:cNvSpPr/>
          <p:nvPr/>
        </p:nvSpPr>
        <p:spPr>
          <a:xfrm>
            <a:off x="3474720" y="3776472"/>
            <a:ext cx="2834640" cy="512064"/>
          </a:xfrm>
          <a:prstGeom prst="roundRect">
            <a:avLst>
              <a:gd name="adj" fmla="val 1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17" name="TextBox_117"/>
          <p:cNvSpPr txBox="1"/>
          <p:nvPr/>
        </p:nvSpPr>
        <p:spPr>
          <a:xfrm>
            <a:off x="3566160" y="3813048"/>
            <a:ext cx="2651760" cy="438912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950" b="1" i="0">
                <a:solidFill>
                  <a:srgbClr val="7C3AED"/>
                </a:solidFill>
                <a:latin typeface="Segoe UI"/>
              </a:rPr>
              <a:t>Wikipedia API</a:t>
            </a:r>
          </a:p>
          <a:p>
            <a:pPr algn="l">
              <a:buNone/>
            </a:pPr>
            <a:r>
              <a:rPr lang="en-US" sz="800" b="0" i="0">
                <a:solidFill>
                  <a:srgbClr val="475569"/>
                </a:solidFill>
                <a:latin typeface="Segoe UI"/>
              </a:rPr>
              <a:t>Nature of services &amp; brand history</a:t>
            </a:r>
          </a:p>
        </p:txBody>
      </p:sp>
      <p:sp>
        <p:nvSpPr>
          <p:cNvPr id="118" name="Card_118"/>
          <p:cNvSpPr/>
          <p:nvPr/>
        </p:nvSpPr>
        <p:spPr>
          <a:xfrm>
            <a:off x="3474720" y="4361688"/>
            <a:ext cx="2834640" cy="512064"/>
          </a:xfrm>
          <a:prstGeom prst="roundRect">
            <a:avLst>
              <a:gd name="adj" fmla="val 1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19" name="TextBox_119"/>
          <p:cNvSpPr txBox="1"/>
          <p:nvPr/>
        </p:nvSpPr>
        <p:spPr>
          <a:xfrm>
            <a:off x="3566160" y="4398264"/>
            <a:ext cx="2651760" cy="438912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950" b="1" i="0">
                <a:solidFill>
                  <a:srgbClr val="D97706"/>
                </a:solidFill>
                <a:latin typeface="Segoe UI"/>
              </a:rPr>
              <a:t>D&amp;B / GLEIF Registry</a:t>
            </a:r>
          </a:p>
          <a:p>
            <a:pPr algn="l">
              <a:buNone/>
            </a:pPr>
            <a:r>
              <a:rPr lang="en-US" sz="800" b="0" i="0">
                <a:solidFill>
                  <a:srgbClr val="475569"/>
                </a:solidFill>
                <a:latin typeface="Segoe UI"/>
              </a:rPr>
              <a:t>Legal entity jurisdiction &amp; LEI status</a:t>
            </a:r>
          </a:p>
        </p:txBody>
      </p:sp>
      <p:sp>
        <p:nvSpPr>
          <p:cNvPr id="120" name="Card_120"/>
          <p:cNvSpPr/>
          <p:nvPr/>
        </p:nvSpPr>
        <p:spPr>
          <a:xfrm>
            <a:off x="3474720" y="4946904"/>
            <a:ext cx="2834640" cy="512064"/>
          </a:xfrm>
          <a:prstGeom prst="roundRect">
            <a:avLst>
              <a:gd name="adj" fmla="val 1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21" name="TextBox_121"/>
          <p:cNvSpPr txBox="1"/>
          <p:nvPr/>
        </p:nvSpPr>
        <p:spPr>
          <a:xfrm>
            <a:off x="3566160" y="4983480"/>
            <a:ext cx="2651760" cy="438912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950" b="1" i="0">
                <a:solidFill>
                  <a:srgbClr val="DC2626"/>
                </a:solidFill>
                <a:latin typeface="Segoe UI"/>
              </a:rPr>
              <a:t>SerpAPI / Tavily Search</a:t>
            </a:r>
          </a:p>
          <a:p>
            <a:pPr algn="l">
              <a:buNone/>
            </a:pPr>
            <a:r>
              <a:rPr lang="en-US" sz="800" b="0" i="0">
                <a:solidFill>
                  <a:srgbClr val="475569"/>
                </a:solidFill>
                <a:latin typeface="Segoe UI"/>
              </a:rPr>
              <a:t>Breach news &amp; financial validation</a:t>
            </a:r>
          </a:p>
        </p:txBody>
      </p:sp>
      <p:sp>
        <p:nvSpPr>
          <p:cNvPr id="122" name="Card_122"/>
          <p:cNvSpPr/>
          <p:nvPr/>
        </p:nvSpPr>
        <p:spPr>
          <a:xfrm>
            <a:off x="3474720" y="5532120"/>
            <a:ext cx="2834640" cy="512064"/>
          </a:xfrm>
          <a:prstGeom prst="roundRect">
            <a:avLst>
              <a:gd name="adj" fmla="val 1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23" name="TextBox_123"/>
          <p:cNvSpPr txBox="1"/>
          <p:nvPr/>
        </p:nvSpPr>
        <p:spPr>
          <a:xfrm>
            <a:off x="3566160" y="5568696"/>
            <a:ext cx="2651760" cy="438912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950" b="1" i="0">
                <a:solidFill>
                  <a:srgbClr val="059669"/>
                </a:solidFill>
                <a:latin typeface="Segoe UI"/>
              </a:rPr>
              <a:t>Domain Scraper (Sequential)</a:t>
            </a:r>
          </a:p>
          <a:p>
            <a:pPr algn="l">
              <a:buNone/>
            </a:pPr>
            <a:r>
              <a:rPr lang="en-US" sz="800" b="0" i="0">
                <a:solidFill>
                  <a:srgbClr val="475569"/>
                </a:solidFill>
                <a:latin typeface="Segoe UI"/>
              </a:rPr>
              <a:t>SSL Grade, HTML compliance &amp; e-comm</a:t>
            </a:r>
          </a:p>
        </p:txBody>
      </p:sp>
      <p:sp>
        <p:nvSpPr>
          <p:cNvPr id="124" name="Arrow_124"/>
          <p:cNvSpPr/>
          <p:nvPr/>
        </p:nvSpPr>
        <p:spPr>
          <a:xfrm>
            <a:off x="6565392" y="3794760"/>
            <a:ext cx="320040" cy="228600"/>
          </a:xfrm>
          <a:prstGeom prst="rightArrow">
            <a:avLst/>
          </a:prstGeom>
          <a:solidFill>
            <a:srgbClr val="0D9488"/>
          </a:solidFill>
        </p:spPr>
      </p:sp>
      <p:sp>
        <p:nvSpPr>
          <p:cNvPr id="125" name="Card_125"/>
          <p:cNvSpPr/>
          <p:nvPr/>
        </p:nvSpPr>
        <p:spPr>
          <a:xfrm>
            <a:off x="6949440" y="1691640"/>
            <a:ext cx="219456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7C3AED"/>
            </a:solidFill>
          </a:ln>
        </p:spPr>
      </p:sp>
      <p:sp>
        <p:nvSpPr>
          <p:cNvPr id="126" name="Badge_126"/>
          <p:cNvSpPr/>
          <p:nvPr/>
        </p:nvSpPr>
        <p:spPr>
          <a:xfrm>
            <a:off x="7132320" y="1874519"/>
            <a:ext cx="1828800" cy="256032"/>
          </a:xfrm>
          <a:prstGeom prst="roundRect">
            <a:avLst>
              <a:gd name="adj" fmla="val 25000"/>
            </a:avLst>
          </a:prstGeom>
          <a:solidFill>
            <a:srgbClr val="FAF5FF"/>
          </a:solidFill>
          <a:ln w="9525">
            <a:solidFill>
              <a:srgbClr val="7C3AED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en-US" sz="900" b="1">
                <a:solidFill>
                  <a:srgbClr val="7C3AED"/>
                </a:solidFill>
                <a:latin typeface="Segoe UI"/>
              </a:rPr>
              <a:t>STAGE 3 • FAN-IN</a:t>
            </a:r>
          </a:p>
        </p:txBody>
      </p:sp>
      <p:sp>
        <p:nvSpPr>
          <p:cNvPr id="127" name="Card_127"/>
          <p:cNvSpPr/>
          <p:nvPr/>
        </p:nvSpPr>
        <p:spPr>
          <a:xfrm>
            <a:off x="7132320" y="2240280"/>
            <a:ext cx="1828800" cy="1691640"/>
          </a:xfrm>
          <a:prstGeom prst="roundRect">
            <a:avLst>
              <a:gd name="adj" fmla="val 12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</p:sp>
      <p:sp>
        <p:nvSpPr>
          <p:cNvPr id="128" name="TextBox_128"/>
          <p:cNvSpPr txBox="1"/>
          <p:nvPr/>
        </p:nvSpPr>
        <p:spPr>
          <a:xfrm>
            <a:off x="7223760" y="2331720"/>
            <a:ext cx="1645920" cy="155448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1100" b="1" i="0">
                <a:solidFill>
                  <a:srgbClr val="7C3AED"/>
                </a:solidFill>
                <a:latin typeface="Segoe UI"/>
              </a:rPr>
              <a:t>Coordinator Agent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Priority-merge logic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Resolves field conflicts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Zero data loss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Fallback SIC inference</a:t>
            </a:r>
          </a:p>
        </p:txBody>
      </p:sp>
      <p:sp>
        <p:nvSpPr>
          <p:cNvPr id="129" name="Card_129"/>
          <p:cNvSpPr/>
          <p:nvPr/>
        </p:nvSpPr>
        <p:spPr>
          <a:xfrm>
            <a:off x="7132320" y="4069080"/>
            <a:ext cx="1828800" cy="2011680"/>
          </a:xfrm>
          <a:prstGeom prst="roundRect">
            <a:avLst>
              <a:gd name="adj" fmla="val 12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</p:sp>
      <p:sp>
        <p:nvSpPr>
          <p:cNvPr id="130" name="TextBox_130"/>
          <p:cNvSpPr txBox="1"/>
          <p:nvPr/>
        </p:nvSpPr>
        <p:spPr>
          <a:xfrm>
            <a:off x="7223760" y="4160520"/>
            <a:ext cx="1645920" cy="182880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1100" b="1" i="0">
                <a:solidFill>
                  <a:srgbClr val="D97706"/>
                </a:solidFill>
                <a:latin typeface="Segoe UI"/>
              </a:rPr>
              <a:t>Fact-Checker Agent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Cross-source consensus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Accuracy scoring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Live HTML verification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Escalation triggers</a:t>
            </a:r>
          </a:p>
        </p:txBody>
      </p:sp>
      <p:sp>
        <p:nvSpPr>
          <p:cNvPr id="131" name="Arrow_131"/>
          <p:cNvSpPr/>
          <p:nvPr/>
        </p:nvSpPr>
        <p:spPr>
          <a:xfrm>
            <a:off x="9217152" y="3794760"/>
            <a:ext cx="320040" cy="228600"/>
          </a:xfrm>
          <a:prstGeom prst="rightArrow">
            <a:avLst/>
          </a:prstGeom>
          <a:solidFill>
            <a:srgbClr val="7C3AED"/>
          </a:solidFill>
        </p:spPr>
      </p:sp>
      <p:sp>
        <p:nvSpPr>
          <p:cNvPr id="132" name="Card_132"/>
          <p:cNvSpPr/>
          <p:nvPr/>
        </p:nvSpPr>
        <p:spPr>
          <a:xfrm>
            <a:off x="9601200" y="1691640"/>
            <a:ext cx="182880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059669"/>
            </a:solidFill>
          </a:ln>
        </p:spPr>
      </p:sp>
      <p:sp>
        <p:nvSpPr>
          <p:cNvPr id="133" name="Badge_133"/>
          <p:cNvSpPr/>
          <p:nvPr/>
        </p:nvSpPr>
        <p:spPr>
          <a:xfrm>
            <a:off x="9738360" y="1874519"/>
            <a:ext cx="1554480" cy="256032"/>
          </a:xfrm>
          <a:prstGeom prst="roundRect">
            <a:avLst>
              <a:gd name="adj" fmla="val 25000"/>
            </a:avLst>
          </a:prstGeom>
          <a:solidFill>
            <a:srgbClr val="ECFDF5"/>
          </a:solidFill>
          <a:ln w="9525">
            <a:solidFill>
              <a:srgbClr val="059669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en-US" sz="900" b="1">
                <a:solidFill>
                  <a:srgbClr val="059669"/>
                </a:solidFill>
                <a:latin typeface="Segoe UI"/>
              </a:rPr>
              <a:t>STAGE 4 • VERDICT</a:t>
            </a:r>
          </a:p>
        </p:txBody>
      </p:sp>
      <p:sp>
        <p:nvSpPr>
          <p:cNvPr id="134" name="TextBox_134"/>
          <p:cNvSpPr txBox="1"/>
          <p:nvPr/>
        </p:nvSpPr>
        <p:spPr>
          <a:xfrm>
            <a:off x="9738360" y="2194560"/>
            <a:ext cx="1554480" cy="36576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1300" b="1" i="0">
                <a:solidFill>
                  <a:srgbClr val="0F172A"/>
                </a:solidFill>
                <a:latin typeface="Segoe UI"/>
              </a:rPr>
              <a:t>Underwriter</a:t>
            </a:r>
          </a:p>
        </p:txBody>
      </p:sp>
      <p:sp>
        <p:nvSpPr>
          <p:cNvPr id="135" name="TextBox_135"/>
          <p:cNvSpPr txBox="1"/>
          <p:nvPr/>
        </p:nvSpPr>
        <p:spPr>
          <a:xfrm>
            <a:off x="9738360" y="2606040"/>
            <a:ext cx="1554480" cy="347472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950" b="1" i="0">
                <a:solidFill>
                  <a:srgbClr val="1E293B"/>
                </a:solidFill>
                <a:latin typeface="Segoe UI"/>
              </a:rPr>
              <a:t>15 Actuarial Modifiers: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M&amp;A Activity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Geographic Spread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Revenue Stability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Nature of Services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Domain Encryption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Breach History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900" b="1" i="0">
                <a:solidFill>
                  <a:srgbClr val="059669"/>
                </a:solidFill>
                <a:latin typeface="Segoe UI"/>
              </a:rPr>
              <a:t>• Final Rate Modifier</a:t>
            </a:r>
          </a:p>
        </p:txBody>
      </p:sp>
      <p:sp>
        <p:nvSpPr>
          <p:cNvPr id="999" name="SlideNum"/>
          <p:cNvSpPr txBox="1"/>
          <p:nvPr/>
        </p:nvSpPr>
        <p:spPr>
          <a:xfrm>
            <a:off x="10241280" y="6446520"/>
            <a:ext cx="1188720" cy="32004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algn="r"/>
            <a:r>
              <a:rPr lang="en-US" sz="800" b="1">
                <a:solidFill>
                  <a:srgbClr val="94A3B8"/>
                </a:solidFill>
                <a:latin typeface="Segoe UI"/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adge_101"/>
          <p:cNvSpPr/>
          <p:nvPr/>
        </p:nvSpPr>
        <p:spPr>
          <a:xfrm>
            <a:off x="731520" y="411480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 w="9525">
            <a:solidFill>
              <a:srgbClr val="2563EB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en-US" sz="900" b="1">
                <a:solidFill>
                  <a:srgbClr val="2563EB"/>
                </a:solidFill>
                <a:latin typeface="Segoe UI"/>
              </a:rPr>
              <a:t>DATA HARVESTING</a:t>
            </a:r>
          </a:p>
        </p:txBody>
      </p:sp>
      <p:sp>
        <p:nvSpPr>
          <p:cNvPr id="102" name="TextBox_102"/>
          <p:cNvSpPr txBox="1"/>
          <p:nvPr/>
        </p:nvSpPr>
        <p:spPr>
          <a:xfrm>
            <a:off x="731520" y="749808"/>
            <a:ext cx="10698480" cy="50292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2200" b="1" i="0">
                <a:solidFill>
                  <a:srgbClr val="0F172A"/>
                </a:solidFill>
                <a:latin typeface="Segoe UI"/>
              </a:rPr>
              <a:t>360° Corporate Data Ingestion Across 6+ Live Public Tiers</a:t>
            </a:r>
          </a:p>
        </p:txBody>
      </p:sp>
      <p:sp>
        <p:nvSpPr>
          <p:cNvPr id="103" name="TextBox_103"/>
          <p:cNvSpPr txBox="1"/>
          <p:nvPr/>
        </p:nvSpPr>
        <p:spPr>
          <a:xfrm>
            <a:off x="731520" y="1261872"/>
            <a:ext cx="10698480" cy="32004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1100" b="0" i="0">
                <a:solidFill>
                  <a:srgbClr val="475569"/>
                </a:solidFill>
                <a:latin typeface="Segoe UI"/>
              </a:rPr>
              <a:t>Automated harvesting combines financial filings, entity registries, technical posture, and brand intelligence.</a:t>
            </a:r>
          </a:p>
        </p:txBody>
      </p:sp>
      <p:sp>
        <p:nvSpPr>
          <p:cNvPr id="104" name="Card_104"/>
          <p:cNvSpPr/>
          <p:nvPr/>
        </p:nvSpPr>
        <p:spPr>
          <a:xfrm>
            <a:off x="731520" y="1691640"/>
            <a:ext cx="3474720" cy="21488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05" name="Badge_105"/>
          <p:cNvSpPr/>
          <p:nvPr/>
        </p:nvSpPr>
        <p:spPr>
          <a:xfrm>
            <a:off x="960120" y="1856232"/>
            <a:ext cx="2011680" cy="237744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 w="9525">
            <a:solidFill>
              <a:srgbClr val="2563EB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en-US" sz="800" b="1">
                <a:solidFill>
                  <a:srgbClr val="2563EB"/>
                </a:solidFill>
                <a:latin typeface="Segoe UI"/>
              </a:rPr>
              <a:t>FINANCIAL FILINGS</a:t>
            </a:r>
          </a:p>
        </p:txBody>
      </p:sp>
      <p:sp>
        <p:nvSpPr>
          <p:cNvPr id="106" name="TextBox_106"/>
          <p:cNvSpPr txBox="1"/>
          <p:nvPr/>
        </p:nvSpPr>
        <p:spPr>
          <a:xfrm>
            <a:off x="960120" y="2130552"/>
            <a:ext cx="3017520" cy="32004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1200" b="1" i="0">
                <a:solidFill>
                  <a:srgbClr val="0F172A"/>
                </a:solidFill>
                <a:latin typeface="Segoe UI"/>
              </a:rPr>
              <a:t>SEC EDGAR XBRL API</a:t>
            </a:r>
          </a:p>
        </p:txBody>
      </p:sp>
      <p:sp>
        <p:nvSpPr>
          <p:cNvPr id="107" name="TextBox_107"/>
          <p:cNvSpPr txBox="1"/>
          <p:nvPr/>
        </p:nvSpPr>
        <p:spPr>
          <a:xfrm>
            <a:off x="960120" y="2441448"/>
            <a:ext cx="3017520" cy="100584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spcBef>
                <a:spcPts val="100"/>
              </a:spcBef>
              <a:buNone/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Annual 10-K &amp; Quarterly 10-Q Revenue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SIC Industry Classification Code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Employee Counts &amp; Fiscal Cycles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PremiumsEarned fallback for Insurers</a:t>
            </a:r>
          </a:p>
        </p:txBody>
      </p:sp>
      <p:sp>
        <p:nvSpPr>
          <p:cNvPr id="108" name="Badge_108"/>
          <p:cNvSpPr/>
          <p:nvPr/>
        </p:nvSpPr>
        <p:spPr>
          <a:xfrm>
            <a:off x="960120" y="3474720"/>
            <a:ext cx="1188720" cy="219456"/>
          </a:xfrm>
          <a:prstGeom prst="roundRect">
            <a:avLst>
              <a:gd name="adj" fmla="val 25000"/>
            </a:avLst>
          </a:prstGeom>
          <a:solidFill>
            <a:srgbClr val="F1F5F9"/>
          </a:solidFill>
          <a:ln w="9525">
            <a:solidFill>
              <a:srgbClr val="334155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en-US" sz="750" b="0">
                <a:solidFill>
                  <a:srgbClr val="334155"/>
                </a:solidFill>
                <a:latin typeface="Segoe UI"/>
              </a:rPr>
              <a:t>Latency: ~1.2s</a:t>
            </a:r>
          </a:p>
        </p:txBody>
      </p:sp>
      <p:sp>
        <p:nvSpPr>
          <p:cNvPr id="109" name="Badge_109"/>
          <p:cNvSpPr/>
          <p:nvPr/>
        </p:nvSpPr>
        <p:spPr>
          <a:xfrm>
            <a:off x="2240280" y="3474720"/>
            <a:ext cx="1737360" cy="219456"/>
          </a:xfrm>
          <a:prstGeom prst="roundRect">
            <a:avLst>
              <a:gd name="adj" fmla="val 25000"/>
            </a:avLst>
          </a:prstGeom>
          <a:solidFill>
            <a:srgbClr val="F1F5F9"/>
          </a:solidFill>
          <a:ln w="9525">
            <a:solidFill>
              <a:srgbClr val="2563EB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en-US" sz="750" b="1">
                <a:solidFill>
                  <a:srgbClr val="2563EB"/>
                </a:solidFill>
                <a:latin typeface="Segoe UI"/>
              </a:rPr>
              <a:t>99.9% (US Public)</a:t>
            </a:r>
          </a:p>
        </p:txBody>
      </p:sp>
      <p:sp>
        <p:nvSpPr>
          <p:cNvPr id="110" name="Card_110"/>
          <p:cNvSpPr/>
          <p:nvPr/>
        </p:nvSpPr>
        <p:spPr>
          <a:xfrm>
            <a:off x="4370832" y="1691640"/>
            <a:ext cx="3474720" cy="21488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11" name="Badge_111"/>
          <p:cNvSpPr/>
          <p:nvPr/>
        </p:nvSpPr>
        <p:spPr>
          <a:xfrm>
            <a:off x="4599432" y="1856232"/>
            <a:ext cx="2011680" cy="237744"/>
          </a:xfrm>
          <a:prstGeom prst="roundRect">
            <a:avLst>
              <a:gd name="adj" fmla="val 25000"/>
            </a:avLst>
          </a:prstGeom>
          <a:solidFill>
            <a:srgbClr val="F0FDFA"/>
          </a:solidFill>
          <a:ln w="9525">
            <a:solidFill>
              <a:srgbClr val="0D9488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en-US" sz="800" b="1">
                <a:solidFill>
                  <a:srgbClr val="0D9488"/>
                </a:solidFill>
                <a:latin typeface="Segoe UI"/>
              </a:rPr>
              <a:t>CORPORATE ONTOLOGY</a:t>
            </a:r>
          </a:p>
        </p:txBody>
      </p:sp>
      <p:sp>
        <p:nvSpPr>
          <p:cNvPr id="112" name="TextBox_112"/>
          <p:cNvSpPr txBox="1"/>
          <p:nvPr/>
        </p:nvSpPr>
        <p:spPr>
          <a:xfrm>
            <a:off x="4599432" y="2130552"/>
            <a:ext cx="3017520" cy="32004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1200" b="1" i="0">
                <a:solidFill>
                  <a:srgbClr val="0F172A"/>
                </a:solidFill>
                <a:latin typeface="Segoe UI"/>
              </a:rPr>
              <a:t>Wikidata SPARQL Engine</a:t>
            </a:r>
          </a:p>
        </p:txBody>
      </p:sp>
      <p:sp>
        <p:nvSpPr>
          <p:cNvPr id="113" name="TextBox_113"/>
          <p:cNvSpPr txBox="1"/>
          <p:nvPr/>
        </p:nvSpPr>
        <p:spPr>
          <a:xfrm>
            <a:off x="4599432" y="2441448"/>
            <a:ext cx="3017520" cy="100584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spcBef>
                <a:spcPts val="100"/>
              </a:spcBef>
              <a:buNone/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Parent Corporation &amp; Inception Date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Global Subsidiary Tree &amp; Headcount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HQ Country &amp; Geographic Locations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Dynamic Industry Claims</a:t>
            </a:r>
          </a:p>
        </p:txBody>
      </p:sp>
      <p:sp>
        <p:nvSpPr>
          <p:cNvPr id="114" name="Badge_114"/>
          <p:cNvSpPr/>
          <p:nvPr/>
        </p:nvSpPr>
        <p:spPr>
          <a:xfrm>
            <a:off x="4599432" y="3474720"/>
            <a:ext cx="1188720" cy="219456"/>
          </a:xfrm>
          <a:prstGeom prst="roundRect">
            <a:avLst>
              <a:gd name="adj" fmla="val 25000"/>
            </a:avLst>
          </a:prstGeom>
          <a:solidFill>
            <a:srgbClr val="F1F5F9"/>
          </a:solidFill>
          <a:ln w="9525">
            <a:solidFill>
              <a:srgbClr val="334155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en-US" sz="750" b="0">
                <a:solidFill>
                  <a:srgbClr val="334155"/>
                </a:solidFill>
                <a:latin typeface="Segoe UI"/>
              </a:rPr>
              <a:t>Latency: ~0.8s</a:t>
            </a:r>
          </a:p>
        </p:txBody>
      </p:sp>
      <p:sp>
        <p:nvSpPr>
          <p:cNvPr id="115" name="Badge_115"/>
          <p:cNvSpPr/>
          <p:nvPr/>
        </p:nvSpPr>
        <p:spPr>
          <a:xfrm>
            <a:off x="5879592" y="3474720"/>
            <a:ext cx="1737360" cy="219456"/>
          </a:xfrm>
          <a:prstGeom prst="roundRect">
            <a:avLst>
              <a:gd name="adj" fmla="val 25000"/>
            </a:avLst>
          </a:prstGeom>
          <a:solidFill>
            <a:srgbClr val="F1F5F9"/>
          </a:solidFill>
          <a:ln w="9525">
            <a:solidFill>
              <a:srgbClr val="0D9488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en-US" sz="750" b="1">
                <a:solidFill>
                  <a:srgbClr val="0D9488"/>
                </a:solidFill>
                <a:latin typeface="Segoe UI"/>
              </a:rPr>
              <a:t>Global Coverage</a:t>
            </a:r>
          </a:p>
        </p:txBody>
      </p:sp>
      <p:sp>
        <p:nvSpPr>
          <p:cNvPr id="116" name="Card_116"/>
          <p:cNvSpPr/>
          <p:nvPr/>
        </p:nvSpPr>
        <p:spPr>
          <a:xfrm>
            <a:off x="8010144" y="1691640"/>
            <a:ext cx="3474720" cy="21488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17" name="Badge_117"/>
          <p:cNvSpPr/>
          <p:nvPr/>
        </p:nvSpPr>
        <p:spPr>
          <a:xfrm>
            <a:off x="8238744" y="1856232"/>
            <a:ext cx="2011680" cy="237744"/>
          </a:xfrm>
          <a:prstGeom prst="roundRect">
            <a:avLst>
              <a:gd name="adj" fmla="val 25000"/>
            </a:avLst>
          </a:prstGeom>
          <a:solidFill>
            <a:srgbClr val="FAF5FF"/>
          </a:solidFill>
          <a:ln w="9525">
            <a:solidFill>
              <a:srgbClr val="7C3AED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en-US" sz="800" b="1">
                <a:solidFill>
                  <a:srgbClr val="7C3AED"/>
                </a:solidFill>
                <a:latin typeface="Segoe UI"/>
              </a:rPr>
              <a:t>BRAND &amp; SERVICES</a:t>
            </a:r>
          </a:p>
        </p:txBody>
      </p:sp>
      <p:sp>
        <p:nvSpPr>
          <p:cNvPr id="118" name="TextBox_118"/>
          <p:cNvSpPr txBox="1"/>
          <p:nvPr/>
        </p:nvSpPr>
        <p:spPr>
          <a:xfrm>
            <a:off x="8238744" y="2130552"/>
            <a:ext cx="3017520" cy="32004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1200" b="1" i="0">
                <a:solidFill>
                  <a:srgbClr val="0F172A"/>
                </a:solidFill>
                <a:latin typeface="Segoe UI"/>
              </a:rPr>
              <a:t>Wikipedia REST API</a:t>
            </a:r>
          </a:p>
        </p:txBody>
      </p:sp>
      <p:sp>
        <p:nvSpPr>
          <p:cNvPr id="119" name="TextBox_119"/>
          <p:cNvSpPr txBox="1"/>
          <p:nvPr/>
        </p:nvSpPr>
        <p:spPr>
          <a:xfrm>
            <a:off x="8238744" y="2441448"/>
            <a:ext cx="3017520" cy="100584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spcBef>
                <a:spcPts val="100"/>
              </a:spcBef>
              <a:buNone/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Nature of Business &amp; Primary Services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Major M&amp;A Acquisitions &amp; Divestitures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Historical Breach &amp; Crisis Events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B2C vs. B2B Product Mentions</a:t>
            </a:r>
          </a:p>
        </p:txBody>
      </p:sp>
      <p:sp>
        <p:nvSpPr>
          <p:cNvPr id="120" name="Badge_120"/>
          <p:cNvSpPr/>
          <p:nvPr/>
        </p:nvSpPr>
        <p:spPr>
          <a:xfrm>
            <a:off x="8238744" y="3474720"/>
            <a:ext cx="1188720" cy="219456"/>
          </a:xfrm>
          <a:prstGeom prst="roundRect">
            <a:avLst>
              <a:gd name="adj" fmla="val 25000"/>
            </a:avLst>
          </a:prstGeom>
          <a:solidFill>
            <a:srgbClr val="F1F5F9"/>
          </a:solidFill>
          <a:ln w="9525">
            <a:solidFill>
              <a:srgbClr val="334155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en-US" sz="750" b="0">
                <a:solidFill>
                  <a:srgbClr val="334155"/>
                </a:solidFill>
                <a:latin typeface="Segoe UI"/>
              </a:rPr>
              <a:t>Latency: ~0.5s</a:t>
            </a:r>
          </a:p>
        </p:txBody>
      </p:sp>
      <p:sp>
        <p:nvSpPr>
          <p:cNvPr id="121" name="Badge_121"/>
          <p:cNvSpPr/>
          <p:nvPr/>
        </p:nvSpPr>
        <p:spPr>
          <a:xfrm>
            <a:off x="9518904" y="3474720"/>
            <a:ext cx="1737360" cy="219456"/>
          </a:xfrm>
          <a:prstGeom prst="roundRect">
            <a:avLst>
              <a:gd name="adj" fmla="val 25000"/>
            </a:avLst>
          </a:prstGeom>
          <a:solidFill>
            <a:srgbClr val="F1F5F9"/>
          </a:solidFill>
          <a:ln w="9525">
            <a:solidFill>
              <a:srgbClr val="7C3AED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en-US" sz="750" b="1">
                <a:solidFill>
                  <a:srgbClr val="7C3AED"/>
                </a:solidFill>
                <a:latin typeface="Segoe UI"/>
              </a:rPr>
              <a:t>High Precision</a:t>
            </a:r>
          </a:p>
        </p:txBody>
      </p:sp>
      <p:sp>
        <p:nvSpPr>
          <p:cNvPr id="122" name="Card_122"/>
          <p:cNvSpPr/>
          <p:nvPr/>
        </p:nvSpPr>
        <p:spPr>
          <a:xfrm>
            <a:off x="731520" y="3977639"/>
            <a:ext cx="3474720" cy="21488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23" name="Badge_123"/>
          <p:cNvSpPr/>
          <p:nvPr/>
        </p:nvSpPr>
        <p:spPr>
          <a:xfrm>
            <a:off x="960120" y="4142231"/>
            <a:ext cx="2011680" cy="237744"/>
          </a:xfrm>
          <a:prstGeom prst="roundRect">
            <a:avLst>
              <a:gd name="adj" fmla="val 25000"/>
            </a:avLst>
          </a:prstGeom>
          <a:solidFill>
            <a:srgbClr val="FFFBEB"/>
          </a:solidFill>
          <a:ln w="9525">
            <a:solidFill>
              <a:srgbClr val="D97706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en-US" sz="800" b="1">
                <a:solidFill>
                  <a:srgbClr val="D97706"/>
                </a:solidFill>
                <a:latin typeface="Segoe UI"/>
              </a:rPr>
              <a:t>LEGAL ENTITY VALIDATION</a:t>
            </a:r>
          </a:p>
        </p:txBody>
      </p:sp>
      <p:sp>
        <p:nvSpPr>
          <p:cNvPr id="124" name="TextBox_124"/>
          <p:cNvSpPr txBox="1"/>
          <p:nvPr/>
        </p:nvSpPr>
        <p:spPr>
          <a:xfrm>
            <a:off x="960120" y="4416552"/>
            <a:ext cx="3017520" cy="32004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1200" b="1" i="0">
                <a:solidFill>
                  <a:srgbClr val="0F172A"/>
                </a:solidFill>
                <a:latin typeface="Segoe UI"/>
              </a:rPr>
              <a:t>D&amp;B / GLEIF Registries</a:t>
            </a:r>
          </a:p>
        </p:txBody>
      </p:sp>
      <p:sp>
        <p:nvSpPr>
          <p:cNvPr id="125" name="TextBox_125"/>
          <p:cNvSpPr txBox="1"/>
          <p:nvPr/>
        </p:nvSpPr>
        <p:spPr>
          <a:xfrm>
            <a:off x="960120" y="4727448"/>
            <a:ext cx="3017520" cy="100584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spcBef>
                <a:spcPts val="100"/>
              </a:spcBef>
              <a:buNone/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Legal Entity Identifier (LEI) Code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Jurisdiction of Incorporation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Active Registration &amp; Legal Status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Official Trading Name Matching</a:t>
            </a:r>
          </a:p>
        </p:txBody>
      </p:sp>
      <p:sp>
        <p:nvSpPr>
          <p:cNvPr id="126" name="Badge_126"/>
          <p:cNvSpPr/>
          <p:nvPr/>
        </p:nvSpPr>
        <p:spPr>
          <a:xfrm>
            <a:off x="960120" y="5760720"/>
            <a:ext cx="1188720" cy="219456"/>
          </a:xfrm>
          <a:prstGeom prst="roundRect">
            <a:avLst>
              <a:gd name="adj" fmla="val 25000"/>
            </a:avLst>
          </a:prstGeom>
          <a:solidFill>
            <a:srgbClr val="F1F5F9"/>
          </a:solidFill>
          <a:ln w="9525">
            <a:solidFill>
              <a:srgbClr val="334155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en-US" sz="750" b="0">
                <a:solidFill>
                  <a:srgbClr val="334155"/>
                </a:solidFill>
                <a:latin typeface="Segoe UI"/>
              </a:rPr>
              <a:t>Latency: ~0.7s</a:t>
            </a:r>
          </a:p>
        </p:txBody>
      </p:sp>
      <p:sp>
        <p:nvSpPr>
          <p:cNvPr id="127" name="Badge_127"/>
          <p:cNvSpPr/>
          <p:nvPr/>
        </p:nvSpPr>
        <p:spPr>
          <a:xfrm>
            <a:off x="2240280" y="5760720"/>
            <a:ext cx="1737360" cy="219456"/>
          </a:xfrm>
          <a:prstGeom prst="roundRect">
            <a:avLst>
              <a:gd name="adj" fmla="val 25000"/>
            </a:avLst>
          </a:prstGeom>
          <a:solidFill>
            <a:srgbClr val="F1F5F9"/>
          </a:solidFill>
          <a:ln w="9525">
            <a:solidFill>
              <a:srgbClr val="D97706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en-US" sz="750" b="1">
                <a:solidFill>
                  <a:srgbClr val="D97706"/>
                </a:solidFill>
                <a:latin typeface="Segoe UI"/>
              </a:rPr>
              <a:t>Official Registry</a:t>
            </a:r>
          </a:p>
        </p:txBody>
      </p:sp>
      <p:sp>
        <p:nvSpPr>
          <p:cNvPr id="128" name="Card_128"/>
          <p:cNvSpPr/>
          <p:nvPr/>
        </p:nvSpPr>
        <p:spPr>
          <a:xfrm>
            <a:off x="4370832" y="3977639"/>
            <a:ext cx="3474720" cy="21488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29" name="Badge_129"/>
          <p:cNvSpPr/>
          <p:nvPr/>
        </p:nvSpPr>
        <p:spPr>
          <a:xfrm>
            <a:off x="4599432" y="4142231"/>
            <a:ext cx="2011680" cy="237744"/>
          </a:xfrm>
          <a:prstGeom prst="roundRect">
            <a:avLst>
              <a:gd name="adj" fmla="val 25000"/>
            </a:avLst>
          </a:prstGeom>
          <a:solidFill>
            <a:srgbClr val="ECFDF5"/>
          </a:solidFill>
          <a:ln w="9525">
            <a:solidFill>
              <a:srgbClr val="059669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en-US" sz="800" b="1">
                <a:solidFill>
                  <a:srgbClr val="059669"/>
                </a:solidFill>
                <a:latin typeface="Segoe UI"/>
              </a:rPr>
              <a:t>TECHNICAL POSTURE</a:t>
            </a:r>
          </a:p>
        </p:txBody>
      </p:sp>
      <p:sp>
        <p:nvSpPr>
          <p:cNvPr id="130" name="TextBox_130"/>
          <p:cNvSpPr txBox="1"/>
          <p:nvPr/>
        </p:nvSpPr>
        <p:spPr>
          <a:xfrm>
            <a:off x="4599432" y="4416552"/>
            <a:ext cx="3017520" cy="32004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1200" b="1" i="0">
                <a:solidFill>
                  <a:srgbClr val="0F172A"/>
                </a:solidFill>
                <a:latin typeface="Segoe UI"/>
              </a:rPr>
              <a:t>Live SSL &amp; HTML Scraper</a:t>
            </a:r>
          </a:p>
        </p:txBody>
      </p:sp>
      <p:sp>
        <p:nvSpPr>
          <p:cNvPr id="131" name="TextBox_131"/>
          <p:cNvSpPr txBox="1"/>
          <p:nvPr/>
        </p:nvSpPr>
        <p:spPr>
          <a:xfrm>
            <a:off x="4599432" y="4727448"/>
            <a:ext cx="3017520" cy="100584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spcBef>
                <a:spcPts val="100"/>
              </a:spcBef>
              <a:buNone/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TLS / SSL Certificate Cipher &amp; Grade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Privacy Policy &amp; GDPR/CCPA Detection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SOC2 / ISO 27001 Compliance Badges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Active E-commerce Payment Gateways</a:t>
            </a:r>
          </a:p>
        </p:txBody>
      </p:sp>
      <p:sp>
        <p:nvSpPr>
          <p:cNvPr id="132" name="Badge_132"/>
          <p:cNvSpPr/>
          <p:nvPr/>
        </p:nvSpPr>
        <p:spPr>
          <a:xfrm>
            <a:off x="4599432" y="5760720"/>
            <a:ext cx="1188720" cy="219456"/>
          </a:xfrm>
          <a:prstGeom prst="roundRect">
            <a:avLst>
              <a:gd name="adj" fmla="val 25000"/>
            </a:avLst>
          </a:prstGeom>
          <a:solidFill>
            <a:srgbClr val="F1F5F9"/>
          </a:solidFill>
          <a:ln w="9525">
            <a:solidFill>
              <a:srgbClr val="334155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en-US" sz="750" b="0">
                <a:solidFill>
                  <a:srgbClr val="334155"/>
                </a:solidFill>
                <a:latin typeface="Segoe UI"/>
              </a:rPr>
              <a:t>Latency: ~1.8s</a:t>
            </a:r>
          </a:p>
        </p:txBody>
      </p:sp>
      <p:sp>
        <p:nvSpPr>
          <p:cNvPr id="133" name="Badge_133"/>
          <p:cNvSpPr/>
          <p:nvPr/>
        </p:nvSpPr>
        <p:spPr>
          <a:xfrm>
            <a:off x="5879592" y="5760720"/>
            <a:ext cx="1737360" cy="219456"/>
          </a:xfrm>
          <a:prstGeom prst="roundRect">
            <a:avLst>
              <a:gd name="adj" fmla="val 25000"/>
            </a:avLst>
          </a:prstGeom>
          <a:solidFill>
            <a:srgbClr val="F1F5F9"/>
          </a:solidFill>
          <a:ln w="9525">
            <a:solidFill>
              <a:srgbClr val="059669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en-US" sz="750" b="1">
                <a:solidFill>
                  <a:srgbClr val="059669"/>
                </a:solidFill>
                <a:latin typeface="Segoe UI"/>
              </a:rPr>
              <a:t>Live Web Proof</a:t>
            </a:r>
          </a:p>
        </p:txBody>
      </p:sp>
      <p:sp>
        <p:nvSpPr>
          <p:cNvPr id="134" name="Card_134"/>
          <p:cNvSpPr/>
          <p:nvPr/>
        </p:nvSpPr>
        <p:spPr>
          <a:xfrm>
            <a:off x="8010144" y="3977639"/>
            <a:ext cx="3474720" cy="21488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35" name="Badge_135"/>
          <p:cNvSpPr/>
          <p:nvPr/>
        </p:nvSpPr>
        <p:spPr>
          <a:xfrm>
            <a:off x="8238744" y="4142231"/>
            <a:ext cx="2011680" cy="237744"/>
          </a:xfrm>
          <a:prstGeom prst="roundRect">
            <a:avLst>
              <a:gd name="adj" fmla="val 25000"/>
            </a:avLst>
          </a:prstGeom>
          <a:solidFill>
            <a:srgbClr val="FEF2F2"/>
          </a:solidFill>
          <a:ln w="9525">
            <a:solidFill>
              <a:srgbClr val="DC2626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en-US" sz="800" b="1">
                <a:solidFill>
                  <a:srgbClr val="DC2626"/>
                </a:solidFill>
                <a:latin typeface="Segoe UI"/>
              </a:rPr>
              <a:t>NEWS &amp; CYBER BREACH</a:t>
            </a:r>
          </a:p>
        </p:txBody>
      </p:sp>
      <p:sp>
        <p:nvSpPr>
          <p:cNvPr id="136" name="TextBox_136"/>
          <p:cNvSpPr txBox="1"/>
          <p:nvPr/>
        </p:nvSpPr>
        <p:spPr>
          <a:xfrm>
            <a:off x="8238744" y="4416552"/>
            <a:ext cx="3017520" cy="32004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1200" b="1" i="0">
                <a:solidFill>
                  <a:srgbClr val="0F172A"/>
                </a:solidFill>
                <a:latin typeface="Segoe UI"/>
              </a:rPr>
              <a:t>SerpAPI / Tavily Search</a:t>
            </a:r>
          </a:p>
        </p:txBody>
      </p:sp>
      <p:sp>
        <p:nvSpPr>
          <p:cNvPr id="137" name="TextBox_137"/>
          <p:cNvSpPr txBox="1"/>
          <p:nvPr/>
        </p:nvSpPr>
        <p:spPr>
          <a:xfrm>
            <a:off x="8238744" y="4727448"/>
            <a:ext cx="3017520" cy="100584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spcBef>
                <a:spcPts val="100"/>
              </a:spcBef>
              <a:buNone/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Recent Cyber Breach &amp; Ransomware Events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Active Litigation &amp; FTC Regulatory Actions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Discovered Alternate Domains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50" b="0" i="0">
                <a:solidFill>
                  <a:srgbClr val="475569"/>
                </a:solidFill>
                <a:latin typeface="Segoe UI"/>
              </a:rPr>
              <a:t>• Cross-Source Revenue Corroboration</a:t>
            </a:r>
          </a:p>
        </p:txBody>
      </p:sp>
      <p:sp>
        <p:nvSpPr>
          <p:cNvPr id="138" name="Badge_138"/>
          <p:cNvSpPr/>
          <p:nvPr/>
        </p:nvSpPr>
        <p:spPr>
          <a:xfrm>
            <a:off x="8238744" y="5760720"/>
            <a:ext cx="1188720" cy="219456"/>
          </a:xfrm>
          <a:prstGeom prst="roundRect">
            <a:avLst>
              <a:gd name="adj" fmla="val 25000"/>
            </a:avLst>
          </a:prstGeom>
          <a:solidFill>
            <a:srgbClr val="F1F5F9"/>
          </a:solidFill>
          <a:ln w="9525">
            <a:solidFill>
              <a:srgbClr val="334155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en-US" sz="750" b="0">
                <a:solidFill>
                  <a:srgbClr val="334155"/>
                </a:solidFill>
                <a:latin typeface="Segoe UI"/>
              </a:rPr>
              <a:t>Latency: ~1.5s</a:t>
            </a:r>
          </a:p>
        </p:txBody>
      </p:sp>
      <p:sp>
        <p:nvSpPr>
          <p:cNvPr id="139" name="Badge_139"/>
          <p:cNvSpPr/>
          <p:nvPr/>
        </p:nvSpPr>
        <p:spPr>
          <a:xfrm>
            <a:off x="9518904" y="5760720"/>
            <a:ext cx="1737360" cy="219456"/>
          </a:xfrm>
          <a:prstGeom prst="roundRect">
            <a:avLst>
              <a:gd name="adj" fmla="val 25000"/>
            </a:avLst>
          </a:prstGeom>
          <a:solidFill>
            <a:srgbClr val="F1F5F9"/>
          </a:solidFill>
          <a:ln w="9525">
            <a:solidFill>
              <a:srgbClr val="DC2626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en-US" sz="750" b="1">
                <a:solidFill>
                  <a:srgbClr val="DC2626"/>
                </a:solidFill>
                <a:latin typeface="Segoe UI"/>
              </a:rPr>
              <a:t>Live Real-Time</a:t>
            </a:r>
          </a:p>
        </p:txBody>
      </p:sp>
      <p:sp>
        <p:nvSpPr>
          <p:cNvPr id="999" name="SlideNum"/>
          <p:cNvSpPr txBox="1"/>
          <p:nvPr/>
        </p:nvSpPr>
        <p:spPr>
          <a:xfrm>
            <a:off x="10241280" y="6446520"/>
            <a:ext cx="1188720" cy="32004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algn="r"/>
            <a:r>
              <a:rPr lang="en-US" sz="800" b="1">
                <a:solidFill>
                  <a:srgbClr val="94A3B8"/>
                </a:solidFill>
                <a:latin typeface="Segoe UI"/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adge_101"/>
          <p:cNvSpPr/>
          <p:nvPr/>
        </p:nvSpPr>
        <p:spPr>
          <a:xfrm>
            <a:off x="731520" y="411480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 w="9525">
            <a:solidFill>
              <a:srgbClr val="2563EB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en-US" sz="900" b="1">
                <a:solidFill>
                  <a:srgbClr val="2563EB"/>
                </a:solidFill>
                <a:latin typeface="Segoe UI"/>
              </a:rPr>
              <a:t>GOVERNANCE &amp; TRUST</a:t>
            </a:r>
          </a:p>
        </p:txBody>
      </p:sp>
      <p:sp>
        <p:nvSpPr>
          <p:cNvPr id="102" name="TextBox_102"/>
          <p:cNvSpPr txBox="1"/>
          <p:nvPr/>
        </p:nvSpPr>
        <p:spPr>
          <a:xfrm>
            <a:off x="731520" y="749808"/>
            <a:ext cx="10698480" cy="50292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2200" b="1" i="0">
                <a:solidFill>
                  <a:srgbClr val="0F172A"/>
                </a:solidFill>
                <a:latin typeface="Segoe UI"/>
              </a:rPr>
              <a:t>Consensus Fact-Checking &amp; Evidence Lineage</a:t>
            </a:r>
          </a:p>
        </p:txBody>
      </p:sp>
      <p:sp>
        <p:nvSpPr>
          <p:cNvPr id="103" name="TextBox_103"/>
          <p:cNvSpPr txBox="1"/>
          <p:nvPr/>
        </p:nvSpPr>
        <p:spPr>
          <a:xfrm>
            <a:off x="731520" y="1261872"/>
            <a:ext cx="10698480" cy="32004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1100" b="0" i="0">
                <a:solidFill>
                  <a:srgbClr val="475569"/>
                </a:solidFill>
                <a:latin typeface="Segoe UI"/>
              </a:rPr>
              <a:t>Cross-validating harvested claims across independent public sources to guarantee data integrity and eliminate hallucinations.</a:t>
            </a:r>
          </a:p>
        </p:txBody>
      </p:sp>
      <p:sp>
        <p:nvSpPr>
          <p:cNvPr id="104" name="Card_104"/>
          <p:cNvSpPr/>
          <p:nvPr/>
        </p:nvSpPr>
        <p:spPr>
          <a:xfrm>
            <a:off x="731520" y="1691640"/>
            <a:ext cx="7132320" cy="4572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05" name="Badge_105"/>
          <p:cNvSpPr/>
          <p:nvPr/>
        </p:nvSpPr>
        <p:spPr>
          <a:xfrm>
            <a:off x="1005840" y="1874519"/>
            <a:ext cx="2377440" cy="256032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 w="9525">
            <a:solidFill>
              <a:srgbClr val="1D4ED8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en-US" sz="900" b="1">
                <a:solidFill>
                  <a:srgbClr val="1D4ED8"/>
                </a:solidFill>
                <a:latin typeface="Segoe UI"/>
              </a:rPr>
              <a:t>LIVE VERIFICATION MATRIX</a:t>
            </a:r>
          </a:p>
        </p:txBody>
      </p:sp>
      <p:sp>
        <p:nvSpPr>
          <p:cNvPr id="106" name="TextBox_106"/>
          <p:cNvSpPr txBox="1"/>
          <p:nvPr/>
        </p:nvSpPr>
        <p:spPr>
          <a:xfrm>
            <a:off x="1005840" y="2194560"/>
            <a:ext cx="6583680" cy="32004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1300" b="1" i="0">
                <a:solidFill>
                  <a:srgbClr val="0F172A"/>
                </a:solidFill>
                <a:latin typeface="Segoe UI"/>
              </a:rPr>
              <a:t>Cross-Source Agreement Sample (Liberty Mutual Insurance)</a:t>
            </a:r>
          </a:p>
        </p:txBody>
      </p:sp>
      <p:graphicFrame>
        <p:nvGraphicFramePr>
          <p:cNvPr id="107" name="Table_10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3944640"/>
              </p:ext>
            </p:extLst>
          </p:nvPr>
        </p:nvGraphicFramePr>
        <p:xfrm>
          <a:off x="883663" y="2606168"/>
          <a:ext cx="6931297" cy="2834640"/>
        </p:xfrm>
        <a:graphic>
          <a:graphicData uri="http://schemas.openxmlformats.org/drawingml/2006/table">
            <a:tbl>
              <a:tblPr firstRow="1"/>
              <a:tblGrid>
                <a:gridCol w="14172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97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66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7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lang="en-US" sz="900" b="1">
                          <a:solidFill>
                            <a:srgbClr val="FFFFFF"/>
                          </a:solidFill>
                          <a:latin typeface="Segoe UI"/>
                        </a:rPr>
                        <a:t>Claimed Field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1">
                          <a:solidFill>
                            <a:srgbClr val="FFFFFF"/>
                          </a:solidFill>
                          <a:latin typeface="Segoe UI"/>
                        </a:rPr>
                        <a:t>Primary Extracted Value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1">
                          <a:solidFill>
                            <a:srgbClr val="FFFFFF"/>
                          </a:solidFill>
                          <a:latin typeface="Segoe UI"/>
                        </a:rPr>
                        <a:t>Corroborating Sources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1">
                          <a:solidFill>
                            <a:srgbClr val="FFFFFF"/>
                          </a:solidFill>
                          <a:latin typeface="Segoe UI"/>
                        </a:rPr>
                        <a:t>Status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US" sz="850" b="0">
                          <a:solidFill>
                            <a:srgbClr val="334155"/>
                          </a:solidFill>
                          <a:latin typeface="Segoe UI"/>
                        </a:rPr>
                        <a:t>Annual 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50" b="0">
                          <a:solidFill>
                            <a:srgbClr val="334155"/>
                          </a:solidFill>
                          <a:latin typeface="Segoe UI"/>
                        </a:rPr>
                        <a:t>$49.5 Billion (FY2023)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50" b="0" dirty="0">
                          <a:solidFill>
                            <a:srgbClr val="334155"/>
                          </a:solidFill>
                          <a:latin typeface="Segoe UI"/>
                        </a:rPr>
                        <a:t>SEC 10-K + </a:t>
                      </a:r>
                      <a:r>
                        <a:rPr lang="en-US" sz="850" b="0" dirty="0" err="1">
                          <a:solidFill>
                            <a:srgbClr val="334155"/>
                          </a:solidFill>
                          <a:latin typeface="Segoe UI"/>
                        </a:rPr>
                        <a:t>Wikidata</a:t>
                      </a:r>
                      <a:r>
                        <a:rPr lang="en-US" sz="850" b="0" dirty="0">
                          <a:solidFill>
                            <a:srgbClr val="334155"/>
                          </a:solidFill>
                          <a:latin typeface="Segoe UI"/>
                        </a:rPr>
                        <a:t> + Search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u="none" strike="noStrike" noProof="0">
                          <a:solidFill>
                            <a:srgbClr val="059669"/>
                          </a:solidFill>
                          <a:latin typeface="Segoe UI"/>
                          <a:cs typeface="Segoe UI"/>
                        </a:rPr>
                        <a:t>[VERIFIED] 3 Sources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US" sz="850" b="0">
                          <a:solidFill>
                            <a:srgbClr val="334155"/>
                          </a:solidFill>
                          <a:latin typeface="Segoe UI"/>
                        </a:rPr>
                        <a:t>Employee Count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50" b="0">
                          <a:solidFill>
                            <a:srgbClr val="334155"/>
                          </a:solidFill>
                          <a:latin typeface="Segoe UI"/>
                        </a:rPr>
                        <a:t>45,000+ Full-Time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50" b="0">
                          <a:solidFill>
                            <a:srgbClr val="334155"/>
                          </a:solidFill>
                          <a:latin typeface="Segoe UI"/>
                        </a:rPr>
                        <a:t>SEC 10-K + Wikipedia + D&amp;B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u="none" strike="noStrike" noProof="0">
                          <a:solidFill>
                            <a:srgbClr val="059669"/>
                          </a:solidFill>
                          <a:latin typeface="Segoe UI"/>
                          <a:cs typeface="Segoe UI"/>
                        </a:rPr>
                        <a:t>[VERIFIED] 3 Sources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US" sz="850" b="0">
                          <a:solidFill>
                            <a:srgbClr val="334155"/>
                          </a:solidFill>
                          <a:latin typeface="Segoe UI"/>
                        </a:rPr>
                        <a:t>Inception 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50" b="0">
                          <a:solidFill>
                            <a:srgbClr val="334155"/>
                          </a:solidFill>
                          <a:latin typeface="Segoe UI"/>
                        </a:rPr>
                        <a:t>1912 (112 Years in Business)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50" b="0" dirty="0" err="1">
                          <a:solidFill>
                            <a:srgbClr val="334155"/>
                          </a:solidFill>
                          <a:latin typeface="Segoe UI"/>
                        </a:rPr>
                        <a:t>Wikidata</a:t>
                      </a:r>
                      <a:r>
                        <a:rPr lang="en-US" sz="850" b="0" dirty="0">
                          <a:solidFill>
                            <a:srgbClr val="334155"/>
                          </a:solidFill>
                          <a:latin typeface="Segoe UI"/>
                        </a:rPr>
                        <a:t> + Wikipedia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u="none" strike="noStrike" noProof="0">
                          <a:solidFill>
                            <a:srgbClr val="2563EB"/>
                          </a:solidFill>
                          <a:latin typeface="Segoe UI"/>
                          <a:cs typeface="Segoe UI"/>
                        </a:rPr>
                        <a:t>[CONFIRMED] 2 Sources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US" sz="850" b="0">
                          <a:solidFill>
                            <a:srgbClr val="334155"/>
                          </a:solidFill>
                          <a:latin typeface="Segoe UI"/>
                        </a:rPr>
                        <a:t>Primary HQ Country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50" b="0">
                          <a:solidFill>
                            <a:srgbClr val="334155"/>
                          </a:solidFill>
                          <a:latin typeface="Segoe UI"/>
                        </a:rPr>
                        <a:t>United States (Boston, MA)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50" b="0">
                          <a:solidFill>
                            <a:srgbClr val="334155"/>
                          </a:solidFill>
                          <a:latin typeface="Segoe UI"/>
                        </a:rPr>
                        <a:t>GLEIF + SEC + Wikipedia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u="none" strike="noStrike" noProof="0">
                          <a:solidFill>
                            <a:srgbClr val="059669"/>
                          </a:solidFill>
                          <a:latin typeface="Segoe UI"/>
                          <a:cs typeface="Segoe UI"/>
                        </a:rPr>
                        <a:t>[VERIFIED] 3 Sources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US" sz="850" b="0">
                          <a:solidFill>
                            <a:srgbClr val="334155"/>
                          </a:solidFill>
                          <a:latin typeface="Segoe UI"/>
                        </a:rPr>
                        <a:t>Active Subsidiaries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50" b="0">
                          <a:solidFill>
                            <a:srgbClr val="334155"/>
                          </a:solidFill>
                          <a:latin typeface="Segoe UI"/>
                        </a:rPr>
                        <a:t>60+ Global Entities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50" b="0" dirty="0" err="1">
                          <a:solidFill>
                            <a:srgbClr val="334155"/>
                          </a:solidFill>
                          <a:latin typeface="Segoe UI"/>
                        </a:rPr>
                        <a:t>Wikidata</a:t>
                      </a:r>
                      <a:r>
                        <a:rPr lang="en-US" sz="850" b="0" dirty="0">
                          <a:solidFill>
                            <a:srgbClr val="334155"/>
                          </a:solidFill>
                          <a:latin typeface="Segoe UI"/>
                        </a:rPr>
                        <a:t> SPARQL + </a:t>
                      </a:r>
                      <a:r>
                        <a:rPr lang="en-US" sz="850" b="0" dirty="0" err="1">
                          <a:solidFill>
                            <a:srgbClr val="334155"/>
                          </a:solidFill>
                          <a:latin typeface="Segoe UI"/>
                        </a:rPr>
                        <a:t>OpenCorp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u="none" strike="noStrike" noProof="0">
                          <a:solidFill>
                            <a:srgbClr val="2563EB"/>
                          </a:solidFill>
                          <a:latin typeface="Segoe UI"/>
                          <a:cs typeface="Segoe UI"/>
                        </a:rPr>
                        <a:t>[CONFIRMED] 2 Sources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US" sz="850" b="0">
                          <a:solidFill>
                            <a:srgbClr val="334155"/>
                          </a:solidFill>
                          <a:latin typeface="Segoe UI"/>
                        </a:rPr>
                        <a:t>Domain TLS Security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50" b="0">
                          <a:solidFill>
                            <a:srgbClr val="334155"/>
                          </a:solidFill>
                          <a:latin typeface="Segoe UI"/>
                        </a:rPr>
                        <a:t>Grade A (HTTPS Enforced)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50" b="0">
                          <a:solidFill>
                            <a:srgbClr val="334155"/>
                          </a:solidFill>
                          <a:latin typeface="Segoe UI"/>
                        </a:rPr>
                        <a:t>Direct SSL Live Handshake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u="none" strike="noStrike" noProof="0">
                          <a:solidFill>
                            <a:srgbClr val="2563EB"/>
                          </a:solidFill>
                          <a:latin typeface="Segoe UI"/>
                          <a:cs typeface="Segoe UI"/>
                        </a:rPr>
                        <a:t>[CONFIRMED] Verified</a:t>
                      </a:r>
                      <a:endParaRPr lang="en-US" sz="1000" b="0" i="0" u="none" strike="noStrike" noProof="0">
                        <a:solidFill>
                          <a:srgbClr val="000000"/>
                        </a:solidFill>
                        <a:latin typeface="Segoe UI"/>
                        <a:cs typeface="Segoe UI"/>
                      </a:endParaRP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US" sz="850" b="0">
                          <a:solidFill>
                            <a:srgbClr val="334155"/>
                          </a:solidFill>
                          <a:latin typeface="Segoe UI"/>
                        </a:rPr>
                        <a:t>Privacy Policy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50" b="0">
                          <a:solidFill>
                            <a:srgbClr val="334155"/>
                          </a:solidFill>
                          <a:latin typeface="Segoe UI"/>
                        </a:rPr>
                        <a:t>GDPR / CCPA / Notice Found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50" b="0">
                          <a:solidFill>
                            <a:srgbClr val="334155"/>
                          </a:solidFill>
                          <a:latin typeface="Segoe UI"/>
                        </a:rPr>
                        <a:t>Live HTML Scraper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u="none" strike="noStrike" noProof="0">
                          <a:solidFill>
                            <a:srgbClr val="2563EB"/>
                          </a:solidFill>
                          <a:latin typeface="Segoe UI"/>
                          <a:cs typeface="Segoe UI"/>
                        </a:rPr>
                        <a:t>[CONFIRMED] Verified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US" sz="850" b="0">
                          <a:solidFill>
                            <a:srgbClr val="334155"/>
                          </a:solidFill>
                          <a:latin typeface="Segoe UI"/>
                        </a:rPr>
                        <a:t>Past Cyber Breaches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50" b="0">
                          <a:solidFill>
                            <a:srgbClr val="334155"/>
                          </a:solidFill>
                          <a:latin typeface="Segoe UI"/>
                        </a:rPr>
                        <a:t>No catastrophic breach in 36m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50" b="0" dirty="0" err="1">
                          <a:solidFill>
                            <a:srgbClr val="334155"/>
                          </a:solidFill>
                          <a:latin typeface="Segoe UI"/>
                        </a:rPr>
                        <a:t>SerpAPI</a:t>
                      </a:r>
                      <a:r>
                        <a:rPr lang="en-US" sz="850" b="0" dirty="0">
                          <a:solidFill>
                            <a:srgbClr val="334155"/>
                          </a:solidFill>
                          <a:latin typeface="Segoe UI"/>
                        </a:rPr>
                        <a:t> + FTC + News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u="none" strike="noStrike" noProof="0">
                          <a:solidFill>
                            <a:srgbClr val="059669"/>
                          </a:solidFill>
                          <a:latin typeface="Segoe UI"/>
                          <a:cs typeface="Segoe UI"/>
                        </a:rPr>
                        <a:t>[VERIFIED] No Action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8" name="Card_108"/>
          <p:cNvSpPr/>
          <p:nvPr/>
        </p:nvSpPr>
        <p:spPr>
          <a:xfrm>
            <a:off x="8046720" y="1691640"/>
            <a:ext cx="3383280" cy="21945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059669"/>
            </a:solidFill>
          </a:ln>
        </p:spPr>
      </p:sp>
      <p:sp>
        <p:nvSpPr>
          <p:cNvPr id="109" name="Badge_109"/>
          <p:cNvSpPr/>
          <p:nvPr/>
        </p:nvSpPr>
        <p:spPr>
          <a:xfrm>
            <a:off x="8229600" y="1874519"/>
            <a:ext cx="1828800" cy="237744"/>
          </a:xfrm>
          <a:prstGeom prst="roundRect">
            <a:avLst>
              <a:gd name="adj" fmla="val 25000"/>
            </a:avLst>
          </a:prstGeom>
          <a:solidFill>
            <a:srgbClr val="ECFDF5"/>
          </a:solidFill>
          <a:ln w="9525">
            <a:solidFill>
              <a:srgbClr val="059669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en-US" sz="800" b="1">
                <a:solidFill>
                  <a:srgbClr val="059669"/>
                </a:solidFill>
                <a:latin typeface="Segoe UI"/>
              </a:rPr>
              <a:t>CONSENSUS ACCURACY</a:t>
            </a:r>
          </a:p>
        </p:txBody>
      </p:sp>
      <p:sp>
        <p:nvSpPr>
          <p:cNvPr id="110" name="TextBox_110"/>
          <p:cNvSpPr txBox="1"/>
          <p:nvPr/>
        </p:nvSpPr>
        <p:spPr>
          <a:xfrm>
            <a:off x="8229600" y="2194560"/>
            <a:ext cx="3017520" cy="32004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1200" b="1" i="0">
                <a:solidFill>
                  <a:srgbClr val="0F172A"/>
                </a:solidFill>
                <a:latin typeface="Segoe UI"/>
              </a:rPr>
              <a:t>Quantitative Confidence Score</a:t>
            </a:r>
          </a:p>
        </p:txBody>
      </p:sp>
      <p:sp>
        <p:nvSpPr>
          <p:cNvPr id="111" name="TextBox_111"/>
          <p:cNvSpPr txBox="1"/>
          <p:nvPr/>
        </p:nvSpPr>
        <p:spPr>
          <a:xfrm>
            <a:off x="8229600" y="2560320"/>
            <a:ext cx="3017520" cy="118872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900" b="0" i="0">
                <a:solidFill>
                  <a:srgbClr val="475569"/>
                </a:solidFill>
                <a:latin typeface="Segoe UI"/>
              </a:rPr>
              <a:t>• Accuracy score consistently achieves &gt;90% across fully scraped corporate profiles.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900" b="0" i="0">
                <a:solidFill>
                  <a:srgbClr val="475569"/>
                </a:solidFill>
                <a:latin typeface="Segoe UI"/>
              </a:rPr>
              <a:t>• Claims verified by 3+ independent sources receive automatic high confidence rating.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900" b="0" i="0">
                <a:solidFill>
                  <a:srgbClr val="475569"/>
                </a:solidFill>
                <a:latin typeface="Segoe UI"/>
              </a:rPr>
              <a:t>• Conflicting evidence triggers automated source-priority reconciliation hierarchy.</a:t>
            </a:r>
          </a:p>
        </p:txBody>
      </p:sp>
      <p:sp>
        <p:nvSpPr>
          <p:cNvPr id="112" name="Card_112"/>
          <p:cNvSpPr/>
          <p:nvPr/>
        </p:nvSpPr>
        <p:spPr>
          <a:xfrm>
            <a:off x="8046720" y="4069080"/>
            <a:ext cx="3383280" cy="21945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97706"/>
            </a:solidFill>
          </a:ln>
        </p:spPr>
      </p:sp>
      <p:sp>
        <p:nvSpPr>
          <p:cNvPr id="113" name="Badge_113"/>
          <p:cNvSpPr/>
          <p:nvPr/>
        </p:nvSpPr>
        <p:spPr>
          <a:xfrm>
            <a:off x="8229600" y="4251960"/>
            <a:ext cx="2194560" cy="237744"/>
          </a:xfrm>
          <a:prstGeom prst="roundRect">
            <a:avLst>
              <a:gd name="adj" fmla="val 25000"/>
            </a:avLst>
          </a:prstGeom>
          <a:solidFill>
            <a:srgbClr val="FFFBEB"/>
          </a:solidFill>
          <a:ln w="9525">
            <a:solidFill>
              <a:srgbClr val="D97706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en-US" sz="800" b="1">
                <a:solidFill>
                  <a:srgbClr val="D97706"/>
                </a:solidFill>
                <a:latin typeface="Segoe UI"/>
              </a:rPr>
              <a:t>HUMAN-IN-THE-LOOP (HITL)</a:t>
            </a:r>
          </a:p>
        </p:txBody>
      </p:sp>
      <p:sp>
        <p:nvSpPr>
          <p:cNvPr id="114" name="TextBox_114"/>
          <p:cNvSpPr txBox="1"/>
          <p:nvPr/>
        </p:nvSpPr>
        <p:spPr>
          <a:xfrm>
            <a:off x="8229600" y="4572000"/>
            <a:ext cx="3017520" cy="32004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1200" b="1" i="0">
                <a:solidFill>
                  <a:srgbClr val="0F172A"/>
                </a:solidFill>
                <a:latin typeface="Segoe UI"/>
              </a:rPr>
              <a:t>Automated Escalation Guardrails</a:t>
            </a:r>
          </a:p>
        </p:txBody>
      </p:sp>
      <p:sp>
        <p:nvSpPr>
          <p:cNvPr id="115" name="TextBox_115"/>
          <p:cNvSpPr txBox="1"/>
          <p:nvPr/>
        </p:nvSpPr>
        <p:spPr>
          <a:xfrm>
            <a:off x="8229600" y="4937760"/>
            <a:ext cx="3017520" cy="118872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900" b="0" i="0">
                <a:solidFill>
                  <a:srgbClr val="475569"/>
                </a:solidFill>
                <a:latin typeface="Segoe UI"/>
              </a:rPr>
              <a:t>• Consensus below 50% automatically flags submission for senior underwriter manual review.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900" b="0" i="0">
                <a:solidFill>
                  <a:srgbClr val="475569"/>
                </a:solidFill>
                <a:latin typeface="Segoe UI"/>
              </a:rPr>
              <a:t>• Every data point links directly to source evidence URL &amp; timestamp snippet.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900" b="0" i="0">
                <a:solidFill>
                  <a:srgbClr val="475569"/>
                </a:solidFill>
                <a:latin typeface="Segoe UI"/>
              </a:rPr>
              <a:t>• Zero black-box outputs: total explainability for regulatory and audit compliance.</a:t>
            </a:r>
          </a:p>
        </p:txBody>
      </p:sp>
      <p:sp>
        <p:nvSpPr>
          <p:cNvPr id="999" name="SlideNum"/>
          <p:cNvSpPr txBox="1"/>
          <p:nvPr/>
        </p:nvSpPr>
        <p:spPr>
          <a:xfrm>
            <a:off x="10241280" y="6446520"/>
            <a:ext cx="1188720" cy="32004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algn="r"/>
            <a:r>
              <a:rPr lang="en-US" sz="800" b="1">
                <a:solidFill>
                  <a:srgbClr val="94A3B8"/>
                </a:solidFill>
                <a:latin typeface="Segoe UI"/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adge_101"/>
          <p:cNvSpPr/>
          <p:nvPr/>
        </p:nvSpPr>
        <p:spPr>
          <a:xfrm>
            <a:off x="731520" y="411480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 w="9525">
            <a:solidFill>
              <a:srgbClr val="2563EB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en-US" sz="900" b="1">
                <a:solidFill>
                  <a:srgbClr val="2563EB"/>
                </a:solidFill>
                <a:latin typeface="Segoe UI"/>
              </a:rPr>
              <a:t>UNDERWRITING ENGINE</a:t>
            </a:r>
          </a:p>
        </p:txBody>
      </p:sp>
      <p:sp>
        <p:nvSpPr>
          <p:cNvPr id="102" name="TextBox_102"/>
          <p:cNvSpPr txBox="1"/>
          <p:nvPr/>
        </p:nvSpPr>
        <p:spPr>
          <a:xfrm>
            <a:off x="731520" y="749808"/>
            <a:ext cx="10698480" cy="50292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2200" b="1" i="0">
                <a:solidFill>
                  <a:srgbClr val="0F172A"/>
                </a:solidFill>
                <a:latin typeface="Segoe UI"/>
              </a:rPr>
              <a:t>15 Deterministic Cyber Risk Underwriting Modifiers</a:t>
            </a:r>
          </a:p>
        </p:txBody>
      </p:sp>
      <p:sp>
        <p:nvSpPr>
          <p:cNvPr id="103" name="TextBox_103"/>
          <p:cNvSpPr txBox="1"/>
          <p:nvPr/>
        </p:nvSpPr>
        <p:spPr>
          <a:xfrm>
            <a:off x="731520" y="1261872"/>
            <a:ext cx="10698480" cy="32004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1100" b="0" i="0">
                <a:solidFill>
                  <a:srgbClr val="475569"/>
                </a:solidFill>
                <a:latin typeface="Segoe UI"/>
              </a:rPr>
              <a:t>Raw company facts are programmatically mapped to 15 standard commercial cyber underwriting risk dimensions.</a:t>
            </a:r>
          </a:p>
        </p:txBody>
      </p:sp>
      <p:sp>
        <p:nvSpPr>
          <p:cNvPr id="104" name="Card_104"/>
          <p:cNvSpPr/>
          <p:nvPr/>
        </p:nvSpPr>
        <p:spPr>
          <a:xfrm>
            <a:off x="731520" y="1691640"/>
            <a:ext cx="260604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05" name="Badge_105"/>
          <p:cNvSpPr/>
          <p:nvPr/>
        </p:nvSpPr>
        <p:spPr>
          <a:xfrm>
            <a:off x="868680" y="1874519"/>
            <a:ext cx="2331720" cy="237744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 w="9525">
            <a:solidFill>
              <a:srgbClr val="2563EB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en-US" sz="750" b="1">
                <a:solidFill>
                  <a:srgbClr val="2563EB"/>
                </a:solidFill>
                <a:latin typeface="Segoe UI"/>
              </a:rPr>
              <a:t>1. CORPORATE PROFILE &amp; SCALE</a:t>
            </a:r>
          </a:p>
        </p:txBody>
      </p:sp>
      <p:sp>
        <p:nvSpPr>
          <p:cNvPr id="106" name="TextBox_106"/>
          <p:cNvSpPr txBox="1"/>
          <p:nvPr/>
        </p:nvSpPr>
        <p:spPr>
          <a:xfrm>
            <a:off x="868680" y="2194560"/>
            <a:ext cx="2331720" cy="301752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spcBef>
                <a:spcPts val="200"/>
              </a:spcBef>
              <a:buNone/>
            </a:pPr>
            <a:r>
              <a:rPr lang="en-US" sz="950" b="1" i="0">
                <a:solidFill>
                  <a:srgbClr val="0F172A"/>
                </a:solidFill>
                <a:latin typeface="Segoe UI"/>
              </a:rPr>
              <a:t>• Years in Business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00" b="0" i="0">
                <a:solidFill>
                  <a:srgbClr val="475569"/>
                </a:solidFill>
                <a:latin typeface="Segoe UI"/>
              </a:rPr>
              <a:t>  Decades of operation establish operational resilience (&gt;10 yrs = Favourable).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950" b="1" i="0">
                <a:solidFill>
                  <a:srgbClr val="0F172A"/>
                </a:solidFill>
                <a:latin typeface="Segoe UI"/>
              </a:rPr>
              <a:t>• Geographic Spread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00" b="0" i="0">
                <a:solidFill>
                  <a:srgbClr val="475569"/>
                </a:solidFill>
                <a:latin typeface="Segoe UI"/>
              </a:rPr>
              <a:t>  Presence across global jurisdictions increases regulatory surface.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950" b="1" i="0">
                <a:solidFill>
                  <a:srgbClr val="0F172A"/>
                </a:solidFill>
                <a:latin typeface="Segoe UI"/>
              </a:rPr>
              <a:t>• Organizational Complexity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00" b="0" i="0">
                <a:solidFill>
                  <a:srgbClr val="475569"/>
                </a:solidFill>
                <a:latin typeface="Segoe UI"/>
              </a:rPr>
              <a:t>  Large subsidiary trees &amp; multi-tier parent structures.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950" b="1" i="0">
                <a:solidFill>
                  <a:srgbClr val="0F172A"/>
                </a:solidFill>
                <a:latin typeface="Segoe UI"/>
              </a:rPr>
              <a:t>• Mergers &amp; Acquisitions (M&amp;A)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00" b="0" i="0">
                <a:solidFill>
                  <a:srgbClr val="475569"/>
                </a:solidFill>
                <a:latin typeface="Segoe UI"/>
              </a:rPr>
              <a:t>  Recent acquisitions introduce unvetted IT legacy risks.</a:t>
            </a:r>
          </a:p>
        </p:txBody>
      </p:sp>
      <p:sp>
        <p:nvSpPr>
          <p:cNvPr id="107" name="Card_107"/>
          <p:cNvSpPr/>
          <p:nvPr/>
        </p:nvSpPr>
        <p:spPr>
          <a:xfrm>
            <a:off x="3456432" y="1691640"/>
            <a:ext cx="260604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08" name="Badge_108"/>
          <p:cNvSpPr/>
          <p:nvPr/>
        </p:nvSpPr>
        <p:spPr>
          <a:xfrm>
            <a:off x="3593592" y="1874519"/>
            <a:ext cx="2331720" cy="237744"/>
          </a:xfrm>
          <a:prstGeom prst="roundRect">
            <a:avLst>
              <a:gd name="adj" fmla="val 25000"/>
            </a:avLst>
          </a:prstGeom>
          <a:solidFill>
            <a:srgbClr val="F0FDFA"/>
          </a:solidFill>
          <a:ln w="9525">
            <a:solidFill>
              <a:srgbClr val="0D9488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en-US" sz="750" b="1">
                <a:solidFill>
                  <a:srgbClr val="0D9488"/>
                </a:solidFill>
                <a:latin typeface="Segoe UI"/>
              </a:rPr>
              <a:t>2. FINANCIAL STABILITY</a:t>
            </a:r>
          </a:p>
        </p:txBody>
      </p:sp>
      <p:sp>
        <p:nvSpPr>
          <p:cNvPr id="109" name="TextBox_109"/>
          <p:cNvSpPr txBox="1"/>
          <p:nvPr/>
        </p:nvSpPr>
        <p:spPr>
          <a:xfrm>
            <a:off x="3593592" y="2194560"/>
            <a:ext cx="2331720" cy="301752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spcBef>
                <a:spcPts val="200"/>
              </a:spcBef>
              <a:buNone/>
            </a:pPr>
            <a:r>
              <a:rPr lang="en-US" sz="950" b="1" i="0">
                <a:solidFill>
                  <a:srgbClr val="0F172A"/>
                </a:solidFill>
                <a:latin typeface="Segoe UI"/>
              </a:rPr>
              <a:t>• Seasonality of Sales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00" b="0" i="0">
                <a:solidFill>
                  <a:srgbClr val="475569"/>
                </a:solidFill>
                <a:latin typeface="Segoe UI"/>
              </a:rPr>
              <a:t>  High revenue spikes (Q4 peaks) create ransomware vulnerability windows.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950" b="1" i="0">
                <a:solidFill>
                  <a:srgbClr val="0F172A"/>
                </a:solidFill>
                <a:latin typeface="Segoe UI"/>
              </a:rPr>
              <a:t>• Volatility &amp; Recovery in Sales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00" b="0" i="0">
                <a:solidFill>
                  <a:srgbClr val="475569"/>
                </a:solidFill>
                <a:latin typeface="Segoe UI"/>
              </a:rPr>
              <a:t>  Erratic YoY revenue swings indicate cashflow risk during incident recovery.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950" b="1" i="0">
                <a:solidFill>
                  <a:srgbClr val="0F172A"/>
                </a:solidFill>
                <a:latin typeface="Segoe UI"/>
              </a:rPr>
              <a:t>• Nature of Services (SIC)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00" b="0" i="0">
                <a:solidFill>
                  <a:srgbClr val="475569"/>
                </a:solidFill>
                <a:latin typeface="Segoe UI"/>
              </a:rPr>
              <a:t>  High-risk vs. low-risk industry classifications mapped from SEC SIC codes.</a:t>
            </a:r>
          </a:p>
        </p:txBody>
      </p:sp>
      <p:sp>
        <p:nvSpPr>
          <p:cNvPr id="110" name="Card_110"/>
          <p:cNvSpPr/>
          <p:nvPr/>
        </p:nvSpPr>
        <p:spPr>
          <a:xfrm>
            <a:off x="6181344" y="1691640"/>
            <a:ext cx="260604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11" name="Badge_111"/>
          <p:cNvSpPr/>
          <p:nvPr/>
        </p:nvSpPr>
        <p:spPr>
          <a:xfrm>
            <a:off x="6318504" y="1874519"/>
            <a:ext cx="2331720" cy="237744"/>
          </a:xfrm>
          <a:prstGeom prst="roundRect">
            <a:avLst>
              <a:gd name="adj" fmla="val 25000"/>
            </a:avLst>
          </a:prstGeom>
          <a:solidFill>
            <a:srgbClr val="FAF5FF"/>
          </a:solidFill>
          <a:ln w="9525">
            <a:solidFill>
              <a:srgbClr val="7C3AED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en-US" sz="750" b="1">
                <a:solidFill>
                  <a:srgbClr val="7C3AED"/>
                </a:solidFill>
                <a:latin typeface="Segoe UI"/>
              </a:rPr>
              <a:t>3. TECHNICAL &amp; CYBER SURFACE</a:t>
            </a:r>
          </a:p>
        </p:txBody>
      </p:sp>
      <p:sp>
        <p:nvSpPr>
          <p:cNvPr id="112" name="TextBox_112"/>
          <p:cNvSpPr txBox="1"/>
          <p:nvPr/>
        </p:nvSpPr>
        <p:spPr>
          <a:xfrm>
            <a:off x="6318504" y="2194560"/>
            <a:ext cx="2331720" cy="301752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spcBef>
                <a:spcPts val="200"/>
              </a:spcBef>
              <a:buNone/>
            </a:pPr>
            <a:r>
              <a:rPr lang="en-US" sz="950" b="1" i="0">
                <a:solidFill>
                  <a:srgbClr val="0F172A"/>
                </a:solidFill>
                <a:latin typeface="Segoe UI"/>
              </a:rPr>
              <a:t>• Domain Encryption &amp; SSL Grade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00" b="0" i="0">
                <a:solidFill>
                  <a:srgbClr val="475569"/>
                </a:solidFill>
                <a:latin typeface="Segoe UI"/>
              </a:rPr>
              <a:t>  TLS cipher grade (A vs C/F) and HTTPS enforcement.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950" b="1" i="0">
                <a:solidFill>
                  <a:srgbClr val="0F172A"/>
                </a:solidFill>
                <a:latin typeface="Segoe UI"/>
              </a:rPr>
              <a:t>• Internet Footprint &amp; Discovered Domains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00" b="0" i="0">
                <a:solidFill>
                  <a:srgbClr val="475569"/>
                </a:solidFill>
                <a:latin typeface="Segoe UI"/>
              </a:rPr>
              <a:t>  Total online brand assets and exposed public web properties.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950" b="1" i="0">
                <a:solidFill>
                  <a:srgbClr val="0F172A"/>
                </a:solidFill>
                <a:latin typeface="Segoe UI"/>
              </a:rPr>
              <a:t>• B2C End Products &amp; Payment Portals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00" b="0" i="0">
                <a:solidFill>
                  <a:srgbClr val="475569"/>
                </a:solidFill>
                <a:latin typeface="Segoe UI"/>
              </a:rPr>
              <a:t>  Direct consumer transactions increase PCI-DSS attack vector.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950" b="1" i="0">
                <a:solidFill>
                  <a:srgbClr val="0F172A"/>
                </a:solidFill>
                <a:latin typeface="Segoe UI"/>
              </a:rPr>
              <a:t>• Cybersecurity Posture &amp; SOC2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00" b="0" i="0">
                <a:solidFill>
                  <a:srgbClr val="475569"/>
                </a:solidFill>
                <a:latin typeface="Segoe UI"/>
              </a:rPr>
              <a:t>  Publicly verifiable security compliance attestations.</a:t>
            </a:r>
          </a:p>
        </p:txBody>
      </p:sp>
      <p:sp>
        <p:nvSpPr>
          <p:cNvPr id="113" name="Card_113"/>
          <p:cNvSpPr/>
          <p:nvPr/>
        </p:nvSpPr>
        <p:spPr>
          <a:xfrm>
            <a:off x="8906256" y="1691640"/>
            <a:ext cx="260604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14" name="Badge_114"/>
          <p:cNvSpPr/>
          <p:nvPr/>
        </p:nvSpPr>
        <p:spPr>
          <a:xfrm>
            <a:off x="9043416" y="1874519"/>
            <a:ext cx="2331720" cy="237744"/>
          </a:xfrm>
          <a:prstGeom prst="roundRect">
            <a:avLst>
              <a:gd name="adj" fmla="val 25000"/>
            </a:avLst>
          </a:prstGeom>
          <a:solidFill>
            <a:srgbClr val="FEF2F2"/>
          </a:solidFill>
          <a:ln w="9525">
            <a:solidFill>
              <a:srgbClr val="DC2626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en-US" sz="750" b="1">
                <a:solidFill>
                  <a:srgbClr val="DC2626"/>
                </a:solidFill>
                <a:latin typeface="Segoe UI"/>
              </a:rPr>
              <a:t>4. COMPLIANCE, PRIVACY &amp; BREACH</a:t>
            </a:r>
          </a:p>
        </p:txBody>
      </p:sp>
      <p:sp>
        <p:nvSpPr>
          <p:cNvPr id="115" name="TextBox_115"/>
          <p:cNvSpPr txBox="1"/>
          <p:nvPr/>
        </p:nvSpPr>
        <p:spPr>
          <a:xfrm>
            <a:off x="9043416" y="2194560"/>
            <a:ext cx="2331720" cy="301752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spcBef>
                <a:spcPts val="200"/>
              </a:spcBef>
              <a:buNone/>
            </a:pPr>
            <a:r>
              <a:rPr lang="en-US" sz="950" b="1" i="0">
                <a:solidFill>
                  <a:srgbClr val="0F172A"/>
                </a:solidFill>
                <a:latin typeface="Segoe UI"/>
              </a:rPr>
              <a:t>• Sensitive Information Handled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00" b="0" i="0">
                <a:solidFill>
                  <a:srgbClr val="475569"/>
                </a:solidFill>
                <a:latin typeface="Segoe UI"/>
              </a:rPr>
              <a:t>  PII, PHI, financial records, or biometric consumer data.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950" b="1" i="0">
                <a:solidFill>
                  <a:srgbClr val="0F172A"/>
                </a:solidFill>
                <a:latin typeface="Segoe UI"/>
              </a:rPr>
              <a:t>• Privacy Regulation (GDPR / CCPA)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00" b="0" i="0">
                <a:solidFill>
                  <a:srgbClr val="475569"/>
                </a:solidFill>
                <a:latin typeface="Segoe UI"/>
              </a:rPr>
              <a:t>  Subject to stringent state/global statutory privacy penalties.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950" b="1" i="0">
                <a:solidFill>
                  <a:srgbClr val="0F172A"/>
                </a:solidFill>
                <a:latin typeface="Segoe UI"/>
              </a:rPr>
              <a:t>• Company &amp; Industry Breach History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00" b="0" i="0">
                <a:solidFill>
                  <a:srgbClr val="475569"/>
                </a:solidFill>
                <a:latin typeface="Segoe UI"/>
              </a:rPr>
              <a:t>  Past ransomware incidents, public disclosures, or FTC enforcement actions.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950" b="1" i="0">
                <a:solidFill>
                  <a:srgbClr val="0F172A"/>
                </a:solidFill>
                <a:latin typeface="Segoe UI"/>
              </a:rPr>
              <a:t>• Active Litigation &amp; Legal Actions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00" b="0" i="0">
                <a:solidFill>
                  <a:srgbClr val="475569"/>
                </a:solidFill>
                <a:latin typeface="Segoe UI"/>
              </a:rPr>
              <a:t>  Ongoing court disputes regarding data exposure or IP theft.</a:t>
            </a:r>
          </a:p>
        </p:txBody>
      </p:sp>
      <p:sp>
        <p:nvSpPr>
          <p:cNvPr id="116" name="Card_116"/>
          <p:cNvSpPr/>
          <p:nvPr/>
        </p:nvSpPr>
        <p:spPr>
          <a:xfrm>
            <a:off x="731520" y="5486400"/>
            <a:ext cx="10725912" cy="777240"/>
          </a:xfrm>
          <a:prstGeom prst="roundRect">
            <a:avLst>
              <a:gd name="adj" fmla="val 1500"/>
            </a:avLst>
          </a:prstGeom>
          <a:solidFill>
            <a:srgbClr val="0F172A"/>
          </a:solidFill>
          <a:ln w="12700">
            <a:solidFill>
              <a:srgbClr val="1E293B"/>
            </a:solidFill>
          </a:ln>
        </p:spPr>
      </p:sp>
      <p:sp>
        <p:nvSpPr>
          <p:cNvPr id="117" name="TextBox_117"/>
          <p:cNvSpPr txBox="1"/>
          <p:nvPr/>
        </p:nvSpPr>
        <p:spPr>
          <a:xfrm>
            <a:off x="1005840" y="5532120"/>
            <a:ext cx="10241280" cy="68580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1000" b="1" i="0">
                <a:solidFill>
                  <a:srgbClr val="FFFFFF"/>
                </a:solidFill>
                <a:latin typeface="Segoe UI"/>
              </a:rPr>
              <a:t>DETERMINISTIC SCORING FORMULA: Evidence → Modifier Rules Engine → Category Score (1.0 to 6.0) → Final Rating Modifier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900" b="0" i="0">
                <a:solidFill>
                  <a:srgbClr val="38BDF8"/>
                </a:solidFill>
                <a:latin typeface="Segoe UI"/>
              </a:rPr>
              <a:t>• Very Favourable (1.0 - 2.0 / Credit)   • Favourable (2.1 - 3.5)   • Average / Neutral (3.6 - 4.5)   • Unfavourable (4.6 - 6.0 / Debit)</a:t>
            </a:r>
          </a:p>
        </p:txBody>
      </p:sp>
      <p:sp>
        <p:nvSpPr>
          <p:cNvPr id="999" name="SlideNum"/>
          <p:cNvSpPr txBox="1"/>
          <p:nvPr/>
        </p:nvSpPr>
        <p:spPr>
          <a:xfrm>
            <a:off x="10241280" y="6446520"/>
            <a:ext cx="1188720" cy="32004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algn="r"/>
            <a:r>
              <a:rPr lang="en-US" sz="800" b="1">
                <a:solidFill>
                  <a:srgbClr val="94A3B8"/>
                </a:solidFill>
                <a:latin typeface="Segoe UI"/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C2AC26-818D-0A68-AF5B-5A0B6DF7A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adge_101">
            <a:extLst>
              <a:ext uri="{FF2B5EF4-FFF2-40B4-BE49-F238E27FC236}">
                <a16:creationId xmlns:a16="http://schemas.microsoft.com/office/drawing/2014/main" id="{1D21DE12-8770-BDBF-6A66-8BDE32FB7D58}"/>
              </a:ext>
            </a:extLst>
          </p:cNvPr>
          <p:cNvSpPr/>
          <p:nvPr/>
        </p:nvSpPr>
        <p:spPr>
          <a:xfrm>
            <a:off x="731520" y="411480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 w="9525">
            <a:solidFill>
              <a:srgbClr val="2563EB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en-US" sz="900" b="1">
                <a:solidFill>
                  <a:srgbClr val="2563EB"/>
                </a:solidFill>
                <a:latin typeface="Segoe UI"/>
              </a:rPr>
              <a:t>ACTUARIAL BUSINESS LOGIC</a:t>
            </a:r>
          </a:p>
        </p:txBody>
      </p:sp>
      <p:sp>
        <p:nvSpPr>
          <p:cNvPr id="102" name="TextBox_102">
            <a:extLst>
              <a:ext uri="{FF2B5EF4-FFF2-40B4-BE49-F238E27FC236}">
                <a16:creationId xmlns:a16="http://schemas.microsoft.com/office/drawing/2014/main" id="{7106724F-7930-15CC-4CCC-6B7CCBD3B191}"/>
              </a:ext>
            </a:extLst>
          </p:cNvPr>
          <p:cNvSpPr txBox="1"/>
          <p:nvPr/>
        </p:nvSpPr>
        <p:spPr>
          <a:xfrm>
            <a:off x="731520" y="749808"/>
            <a:ext cx="10698480" cy="50292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2200" b="1" i="0">
                <a:solidFill>
                  <a:srgbClr val="0F172A"/>
                </a:solidFill>
                <a:latin typeface="Segoe UI"/>
              </a:rPr>
              <a:t>Deep-Dive: Mathematical Formulas &amp; Underwriting Rules for Key Modifiers</a:t>
            </a:r>
          </a:p>
        </p:txBody>
      </p:sp>
      <p:sp>
        <p:nvSpPr>
          <p:cNvPr id="103" name="TextBox_103">
            <a:extLst>
              <a:ext uri="{FF2B5EF4-FFF2-40B4-BE49-F238E27FC236}">
                <a16:creationId xmlns:a16="http://schemas.microsoft.com/office/drawing/2014/main" id="{B821240E-4153-AD21-8FF6-2AB90C378459}"/>
              </a:ext>
            </a:extLst>
          </p:cNvPr>
          <p:cNvSpPr txBox="1"/>
          <p:nvPr/>
        </p:nvSpPr>
        <p:spPr>
          <a:xfrm>
            <a:off x="731520" y="1261872"/>
            <a:ext cx="10698480" cy="32004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1100" b="0" i="0">
                <a:solidFill>
                  <a:srgbClr val="475569"/>
                </a:solidFill>
                <a:latin typeface="Segoe UI"/>
              </a:rPr>
              <a:t>Demonstrating how extracted corporate evidence is converted into deterministic risk scores without LLM hallucination.</a:t>
            </a:r>
          </a:p>
        </p:txBody>
      </p:sp>
      <p:sp>
        <p:nvSpPr>
          <p:cNvPr id="104" name="Card_104">
            <a:extLst>
              <a:ext uri="{FF2B5EF4-FFF2-40B4-BE49-F238E27FC236}">
                <a16:creationId xmlns:a16="http://schemas.microsoft.com/office/drawing/2014/main" id="{1F5C86E1-C107-C59D-2E25-2A7EE648312E}"/>
              </a:ext>
            </a:extLst>
          </p:cNvPr>
          <p:cNvSpPr/>
          <p:nvPr/>
        </p:nvSpPr>
        <p:spPr>
          <a:xfrm>
            <a:off x="731520" y="1691640"/>
            <a:ext cx="3474720" cy="4572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05" name="Badge_105">
            <a:extLst>
              <a:ext uri="{FF2B5EF4-FFF2-40B4-BE49-F238E27FC236}">
                <a16:creationId xmlns:a16="http://schemas.microsoft.com/office/drawing/2014/main" id="{3723446B-839D-7AD0-E69D-B935934F692D}"/>
              </a:ext>
            </a:extLst>
          </p:cNvPr>
          <p:cNvSpPr/>
          <p:nvPr/>
        </p:nvSpPr>
        <p:spPr>
          <a:xfrm>
            <a:off x="914400" y="1874519"/>
            <a:ext cx="3108960" cy="256032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 w="9525">
            <a:solidFill>
              <a:srgbClr val="2563EB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en-US" sz="800" b="1">
                <a:solidFill>
                  <a:srgbClr val="2563EB"/>
                </a:solidFill>
                <a:latin typeface="Segoe UI"/>
              </a:rPr>
              <a:t>MODIFIER 1 • M&amp;A INTEGRATION RISK</a:t>
            </a:r>
          </a:p>
        </p:txBody>
      </p:sp>
      <p:sp>
        <p:nvSpPr>
          <p:cNvPr id="106" name="TextBox_106">
            <a:extLst>
              <a:ext uri="{FF2B5EF4-FFF2-40B4-BE49-F238E27FC236}">
                <a16:creationId xmlns:a16="http://schemas.microsoft.com/office/drawing/2014/main" id="{C123522E-FE48-A3FB-32AF-5D97CCD30181}"/>
              </a:ext>
            </a:extLst>
          </p:cNvPr>
          <p:cNvSpPr txBox="1"/>
          <p:nvPr/>
        </p:nvSpPr>
        <p:spPr>
          <a:xfrm>
            <a:off x="914400" y="2194560"/>
            <a:ext cx="3108960" cy="32004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1300" b="1" i="0">
                <a:solidFill>
                  <a:srgbClr val="0F172A"/>
                </a:solidFill>
                <a:latin typeface="Segoe UI"/>
              </a:rPr>
              <a:t>Mergers &amp; Acquisitions Activity</a:t>
            </a:r>
          </a:p>
        </p:txBody>
      </p:sp>
      <p:sp>
        <p:nvSpPr>
          <p:cNvPr id="107" name="Card_107">
            <a:extLst>
              <a:ext uri="{FF2B5EF4-FFF2-40B4-BE49-F238E27FC236}">
                <a16:creationId xmlns:a16="http://schemas.microsoft.com/office/drawing/2014/main" id="{92776718-46B1-4849-DF84-C306B5CFD36C}"/>
              </a:ext>
            </a:extLst>
          </p:cNvPr>
          <p:cNvSpPr/>
          <p:nvPr/>
        </p:nvSpPr>
        <p:spPr>
          <a:xfrm>
            <a:off x="914400" y="2560320"/>
            <a:ext cx="3108960" cy="960120"/>
          </a:xfrm>
          <a:prstGeom prst="roundRect">
            <a:avLst>
              <a:gd name="adj" fmla="val 12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</p:sp>
      <p:sp>
        <p:nvSpPr>
          <p:cNvPr id="108" name="TextBox_108">
            <a:extLst>
              <a:ext uri="{FF2B5EF4-FFF2-40B4-BE49-F238E27FC236}">
                <a16:creationId xmlns:a16="http://schemas.microsoft.com/office/drawing/2014/main" id="{1CEFF33C-DF6A-971F-791D-342FF59D8DB8}"/>
              </a:ext>
            </a:extLst>
          </p:cNvPr>
          <p:cNvSpPr txBox="1"/>
          <p:nvPr/>
        </p:nvSpPr>
        <p:spPr>
          <a:xfrm>
            <a:off x="960120" y="2606040"/>
            <a:ext cx="3017520" cy="86868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850" b="1" i="0">
                <a:solidFill>
                  <a:srgbClr val="1E293B"/>
                </a:solidFill>
                <a:latin typeface="Segoe UI"/>
              </a:rPr>
              <a:t>Underwriting Rationale: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00" b="0" i="0">
                <a:solidFill>
                  <a:srgbClr val="475569"/>
                </a:solidFill>
                <a:latin typeface="Segoe UI"/>
              </a:rPr>
              <a:t>Unintegrated legacy networks, shadow IT infrastructure, disparate IAM directories (AD/Okta), and inherited vulnerabilities exponentially increase ransomware and breach exposure within 3-5 years post-deal.</a:t>
            </a:r>
          </a:p>
        </p:txBody>
      </p:sp>
      <p:sp>
        <p:nvSpPr>
          <p:cNvPr id="109" name="Card_109">
            <a:extLst>
              <a:ext uri="{FF2B5EF4-FFF2-40B4-BE49-F238E27FC236}">
                <a16:creationId xmlns:a16="http://schemas.microsoft.com/office/drawing/2014/main" id="{A227B9CF-8732-B311-DA35-5F2929F2F7EE}"/>
              </a:ext>
            </a:extLst>
          </p:cNvPr>
          <p:cNvSpPr/>
          <p:nvPr/>
        </p:nvSpPr>
        <p:spPr>
          <a:xfrm>
            <a:off x="914400" y="3611880"/>
            <a:ext cx="3108960" cy="1143000"/>
          </a:xfrm>
          <a:prstGeom prst="roundRect">
            <a:avLst>
              <a:gd name="adj" fmla="val 1200"/>
            </a:avLst>
          </a:prstGeom>
          <a:solidFill>
            <a:srgbClr val="EFF6FF"/>
          </a:solidFill>
          <a:ln w="12700">
            <a:solidFill>
              <a:srgbClr val="E2E8F0"/>
            </a:solidFill>
          </a:ln>
        </p:spPr>
      </p:sp>
      <p:sp>
        <p:nvSpPr>
          <p:cNvPr id="110" name="TextBox_110">
            <a:extLst>
              <a:ext uri="{FF2B5EF4-FFF2-40B4-BE49-F238E27FC236}">
                <a16:creationId xmlns:a16="http://schemas.microsoft.com/office/drawing/2014/main" id="{49439C48-A975-0235-97C0-E8A0542E7E2C}"/>
              </a:ext>
            </a:extLst>
          </p:cNvPr>
          <p:cNvSpPr txBox="1"/>
          <p:nvPr/>
        </p:nvSpPr>
        <p:spPr>
          <a:xfrm>
            <a:off x="960120" y="3657600"/>
            <a:ext cx="3017520" cy="105156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850" b="1" i="0">
                <a:solidFill>
                  <a:srgbClr val="2563EB"/>
                </a:solidFill>
                <a:latin typeface="Segoe UI"/>
              </a:rPr>
              <a:t>Mathematical Scoring Formula: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00" b="1" i="0">
                <a:solidFill>
                  <a:srgbClr val="1E293B"/>
                </a:solidFill>
                <a:latin typeface="Segoe UI"/>
              </a:rPr>
              <a:t>Score = 1.0 + ∑ [ DealWeight_i × e^(-Δt_i / τ) ]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00" b="0" i="0">
                <a:solidFill>
                  <a:srgbClr val="1E293B"/>
                </a:solidFill>
                <a:latin typeface="Segoe UI"/>
              </a:rPr>
              <a:t>• Material Deal (&gt;$1B / core merger): Weight = 3.0, Half-life τ = 5.0 yrs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00" b="0" i="0">
                <a:solidFill>
                  <a:srgbClr val="1E293B"/>
                </a:solidFill>
                <a:latin typeface="Segoe UI"/>
              </a:rPr>
              <a:t>• Minor Bolt-on: Weight = 1.0, Half-life τ = 3.0 yrs</a:t>
            </a:r>
          </a:p>
        </p:txBody>
      </p:sp>
      <p:sp>
        <p:nvSpPr>
          <p:cNvPr id="111" name="TextBox_111">
            <a:extLst>
              <a:ext uri="{FF2B5EF4-FFF2-40B4-BE49-F238E27FC236}">
                <a16:creationId xmlns:a16="http://schemas.microsoft.com/office/drawing/2014/main" id="{1EBE6381-CA62-9E19-F8FB-80010E8210F4}"/>
              </a:ext>
            </a:extLst>
          </p:cNvPr>
          <p:cNvSpPr txBox="1"/>
          <p:nvPr/>
        </p:nvSpPr>
        <p:spPr>
          <a:xfrm>
            <a:off x="914400" y="4846320"/>
            <a:ext cx="3108960" cy="132588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850" b="1" i="0">
                <a:solidFill>
                  <a:srgbClr val="0F172A"/>
                </a:solidFill>
                <a:latin typeface="Segoe UI"/>
              </a:rPr>
              <a:t>Deterministic Rating Tiers: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00" b="0" i="0">
                <a:solidFill>
                  <a:srgbClr val="334155"/>
                </a:solidFill>
                <a:latin typeface="Segoe UI"/>
              </a:rPr>
              <a:t>• 0 Acquisitions (Past 5 yrs) → 1.0 (Very Favourable Credit)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00" b="0" i="0">
                <a:solidFill>
                  <a:srgbClr val="334155"/>
                </a:solidFill>
                <a:latin typeface="Segoe UI"/>
              </a:rPr>
              <a:t>• 1 Minor Bolt-on (&gt;3 yrs ago) → 3.0 (Favourable)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00" b="0" i="0">
                <a:solidFill>
                  <a:srgbClr val="334155"/>
                </a:solidFill>
                <a:latin typeface="Segoe UI"/>
              </a:rPr>
              <a:t>• ≥2 Minor or 1 Material Deal (&lt;3 yrs) → 4.0 - 4.5 (Average)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00" b="0" i="0">
                <a:solidFill>
                  <a:srgbClr val="334155"/>
                </a:solidFill>
                <a:latin typeface="Segoe UI"/>
              </a:rPr>
              <a:t>• Multiple Material Deals (&lt;2 yrs) → 5.5 - 6.0 (Unfavourable Debit)</a:t>
            </a:r>
          </a:p>
        </p:txBody>
      </p:sp>
      <p:sp>
        <p:nvSpPr>
          <p:cNvPr id="112" name="Card_112">
            <a:extLst>
              <a:ext uri="{FF2B5EF4-FFF2-40B4-BE49-F238E27FC236}">
                <a16:creationId xmlns:a16="http://schemas.microsoft.com/office/drawing/2014/main" id="{E9FF997F-034B-32E8-F479-DB1043DDC9F9}"/>
              </a:ext>
            </a:extLst>
          </p:cNvPr>
          <p:cNvSpPr/>
          <p:nvPr/>
        </p:nvSpPr>
        <p:spPr>
          <a:xfrm>
            <a:off x="4370832" y="1691640"/>
            <a:ext cx="3474720" cy="4572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13" name="Badge_113">
            <a:extLst>
              <a:ext uri="{FF2B5EF4-FFF2-40B4-BE49-F238E27FC236}">
                <a16:creationId xmlns:a16="http://schemas.microsoft.com/office/drawing/2014/main" id="{021FF9B2-5733-2AB3-E194-BE916AFA05BD}"/>
              </a:ext>
            </a:extLst>
          </p:cNvPr>
          <p:cNvSpPr/>
          <p:nvPr/>
        </p:nvSpPr>
        <p:spPr>
          <a:xfrm>
            <a:off x="4553712" y="1874519"/>
            <a:ext cx="3108960" cy="256032"/>
          </a:xfrm>
          <a:prstGeom prst="roundRect">
            <a:avLst>
              <a:gd name="adj" fmla="val 25000"/>
            </a:avLst>
          </a:prstGeom>
          <a:solidFill>
            <a:srgbClr val="FAF5FF"/>
          </a:solidFill>
          <a:ln w="9525">
            <a:solidFill>
              <a:srgbClr val="7C3AED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en-US" sz="800" b="1">
                <a:solidFill>
                  <a:srgbClr val="7C3AED"/>
                </a:solidFill>
                <a:latin typeface="Segoe UI"/>
              </a:rPr>
              <a:t>MODIFIER 2 • ATTACK SURFACE EXPOSURE</a:t>
            </a:r>
          </a:p>
        </p:txBody>
      </p:sp>
      <p:sp>
        <p:nvSpPr>
          <p:cNvPr id="114" name="TextBox_114">
            <a:extLst>
              <a:ext uri="{FF2B5EF4-FFF2-40B4-BE49-F238E27FC236}">
                <a16:creationId xmlns:a16="http://schemas.microsoft.com/office/drawing/2014/main" id="{3100DC35-4363-B9FE-C0A0-B2998A399198}"/>
              </a:ext>
            </a:extLst>
          </p:cNvPr>
          <p:cNvSpPr txBox="1"/>
          <p:nvPr/>
        </p:nvSpPr>
        <p:spPr>
          <a:xfrm>
            <a:off x="4553712" y="2194560"/>
            <a:ext cx="3108960" cy="32004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1300" b="1" i="0">
                <a:solidFill>
                  <a:srgbClr val="0F172A"/>
                </a:solidFill>
                <a:latin typeface="Segoe UI"/>
              </a:rPr>
              <a:t>Internet Footprint &amp; Digital Assets</a:t>
            </a:r>
          </a:p>
        </p:txBody>
      </p:sp>
      <p:sp>
        <p:nvSpPr>
          <p:cNvPr id="115" name="Card_115">
            <a:extLst>
              <a:ext uri="{FF2B5EF4-FFF2-40B4-BE49-F238E27FC236}">
                <a16:creationId xmlns:a16="http://schemas.microsoft.com/office/drawing/2014/main" id="{ECA9F6AD-FE18-2D2A-37C3-F2FEDD841720}"/>
              </a:ext>
            </a:extLst>
          </p:cNvPr>
          <p:cNvSpPr/>
          <p:nvPr/>
        </p:nvSpPr>
        <p:spPr>
          <a:xfrm>
            <a:off x="4553712" y="2560320"/>
            <a:ext cx="3108960" cy="960120"/>
          </a:xfrm>
          <a:prstGeom prst="roundRect">
            <a:avLst>
              <a:gd name="adj" fmla="val 12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</p:sp>
      <p:sp>
        <p:nvSpPr>
          <p:cNvPr id="116" name="TextBox_116">
            <a:extLst>
              <a:ext uri="{FF2B5EF4-FFF2-40B4-BE49-F238E27FC236}">
                <a16:creationId xmlns:a16="http://schemas.microsoft.com/office/drawing/2014/main" id="{85FE8C55-2061-C535-BD89-6C207C15F0FE}"/>
              </a:ext>
            </a:extLst>
          </p:cNvPr>
          <p:cNvSpPr txBox="1"/>
          <p:nvPr/>
        </p:nvSpPr>
        <p:spPr>
          <a:xfrm>
            <a:off x="4599432" y="2606040"/>
            <a:ext cx="3017520" cy="86868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850" b="1" i="0">
                <a:solidFill>
                  <a:srgbClr val="1E293B"/>
                </a:solidFill>
                <a:latin typeface="Segoe UI"/>
              </a:rPr>
              <a:t>Underwriting Rationale: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00" b="0" i="0">
                <a:solidFill>
                  <a:srgbClr val="475569"/>
                </a:solidFill>
                <a:latin typeface="Segoe UI"/>
              </a:rPr>
              <a:t>Total public-facing perimeter (apex domains, subdomains, payment gateways) directly expands adversary target surface for automated port scanning, bot credential stuffing, and perimeter breaches.</a:t>
            </a:r>
          </a:p>
        </p:txBody>
      </p:sp>
      <p:sp>
        <p:nvSpPr>
          <p:cNvPr id="117" name="Card_117">
            <a:extLst>
              <a:ext uri="{FF2B5EF4-FFF2-40B4-BE49-F238E27FC236}">
                <a16:creationId xmlns:a16="http://schemas.microsoft.com/office/drawing/2014/main" id="{C7CA99AD-0A2D-1547-3CCC-A6037C341EFC}"/>
              </a:ext>
            </a:extLst>
          </p:cNvPr>
          <p:cNvSpPr/>
          <p:nvPr/>
        </p:nvSpPr>
        <p:spPr>
          <a:xfrm>
            <a:off x="4553712" y="3611880"/>
            <a:ext cx="3108960" cy="1143000"/>
          </a:xfrm>
          <a:prstGeom prst="roundRect">
            <a:avLst>
              <a:gd name="adj" fmla="val 1200"/>
            </a:avLst>
          </a:prstGeom>
          <a:solidFill>
            <a:srgbClr val="FAF5FF"/>
          </a:solidFill>
          <a:ln w="12700">
            <a:solidFill>
              <a:srgbClr val="E2E8F0"/>
            </a:solidFill>
          </a:ln>
        </p:spPr>
      </p:sp>
      <p:sp>
        <p:nvSpPr>
          <p:cNvPr id="118" name="TextBox_118">
            <a:extLst>
              <a:ext uri="{FF2B5EF4-FFF2-40B4-BE49-F238E27FC236}">
                <a16:creationId xmlns:a16="http://schemas.microsoft.com/office/drawing/2014/main" id="{D3AF2198-B9FE-9D16-05AC-4295CB505735}"/>
              </a:ext>
            </a:extLst>
          </p:cNvPr>
          <p:cNvSpPr txBox="1"/>
          <p:nvPr/>
        </p:nvSpPr>
        <p:spPr>
          <a:xfrm>
            <a:off x="4599432" y="3657600"/>
            <a:ext cx="3017520" cy="105156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850" b="1" i="0">
                <a:solidFill>
                  <a:srgbClr val="7C3AED"/>
                </a:solidFill>
                <a:latin typeface="Segoe UI"/>
              </a:rPr>
              <a:t>Mathematical Scoring Formula: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00" b="1" i="0">
                <a:solidFill>
                  <a:srgbClr val="1E293B"/>
                </a:solidFill>
                <a:latin typeface="Segoe UI"/>
              </a:rPr>
              <a:t>Exposure = DomainTier × CustomerScaleMult + E-CommPenalty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00" b="0" i="0">
                <a:solidFill>
                  <a:srgbClr val="1E293B"/>
                </a:solidFill>
                <a:latin typeface="Segoe UI"/>
              </a:rPr>
              <a:t>• Domains: ≤2 → 1.0 | 3-5 → 2.0 | 6-15 → 3.0 | &gt;15 → 4.0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00" b="0" i="0">
                <a:solidFill>
                  <a:srgbClr val="1E293B"/>
                </a:solidFill>
                <a:latin typeface="Segoe UI"/>
              </a:rPr>
              <a:t>• Scale Mult: B2B (1.0x) | B2C Large (1.25x) | Enterprise 100M+ (1.5x)</a:t>
            </a:r>
          </a:p>
        </p:txBody>
      </p:sp>
      <p:sp>
        <p:nvSpPr>
          <p:cNvPr id="119" name="TextBox_119">
            <a:extLst>
              <a:ext uri="{FF2B5EF4-FFF2-40B4-BE49-F238E27FC236}">
                <a16:creationId xmlns:a16="http://schemas.microsoft.com/office/drawing/2014/main" id="{0B672735-1842-7906-C06E-4CE1F8368CDA}"/>
              </a:ext>
            </a:extLst>
          </p:cNvPr>
          <p:cNvSpPr txBox="1"/>
          <p:nvPr/>
        </p:nvSpPr>
        <p:spPr>
          <a:xfrm>
            <a:off x="4553712" y="4846320"/>
            <a:ext cx="3108960" cy="132588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850" b="1" i="0">
                <a:solidFill>
                  <a:srgbClr val="0F172A"/>
                </a:solidFill>
                <a:latin typeface="Segoe UI"/>
              </a:rPr>
              <a:t>Deterministic Rating Tiers: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00" b="0" i="0">
                <a:solidFill>
                  <a:srgbClr val="334155"/>
                </a:solidFill>
                <a:latin typeface="Segoe UI"/>
              </a:rPr>
              <a:t>• 1-2 Domains + No Checkout Portal → 1.0 (Very Favourable)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00" b="0" i="0">
                <a:solidFill>
                  <a:srgbClr val="334155"/>
                </a:solidFill>
                <a:latin typeface="Segoe UI"/>
              </a:rPr>
              <a:t>• 3-5 Domains + B2B Portal → 3.0 (Favourable)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00" b="0" i="0">
                <a:solidFill>
                  <a:srgbClr val="334155"/>
                </a:solidFill>
                <a:latin typeface="Segoe UI"/>
              </a:rPr>
              <a:t>• 6-15 Domains + Active E-Commerce → 4.0 - 4.5 (Average)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00" b="0" i="0">
                <a:solidFill>
                  <a:srgbClr val="334155"/>
                </a:solidFill>
                <a:latin typeface="Segoe UI"/>
              </a:rPr>
              <a:t>• &gt;15 Domains + Consumer Payment Portals → 5.5 - 6.0 (Debit)</a:t>
            </a:r>
          </a:p>
        </p:txBody>
      </p:sp>
      <p:sp>
        <p:nvSpPr>
          <p:cNvPr id="120" name="Card_120">
            <a:extLst>
              <a:ext uri="{FF2B5EF4-FFF2-40B4-BE49-F238E27FC236}">
                <a16:creationId xmlns:a16="http://schemas.microsoft.com/office/drawing/2014/main" id="{36CDF00F-11A7-BB24-D791-9C8C27B743F8}"/>
              </a:ext>
            </a:extLst>
          </p:cNvPr>
          <p:cNvSpPr/>
          <p:nvPr/>
        </p:nvSpPr>
        <p:spPr>
          <a:xfrm>
            <a:off x="8010144" y="1691640"/>
            <a:ext cx="3474720" cy="4572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21" name="Badge_121">
            <a:extLst>
              <a:ext uri="{FF2B5EF4-FFF2-40B4-BE49-F238E27FC236}">
                <a16:creationId xmlns:a16="http://schemas.microsoft.com/office/drawing/2014/main" id="{082673C7-3D08-1F49-7F78-94CFBD4713AA}"/>
              </a:ext>
            </a:extLst>
          </p:cNvPr>
          <p:cNvSpPr/>
          <p:nvPr/>
        </p:nvSpPr>
        <p:spPr>
          <a:xfrm>
            <a:off x="8193023" y="1874519"/>
            <a:ext cx="3108960" cy="256032"/>
          </a:xfrm>
          <a:prstGeom prst="roundRect">
            <a:avLst>
              <a:gd name="adj" fmla="val 25000"/>
            </a:avLst>
          </a:prstGeom>
          <a:solidFill>
            <a:srgbClr val="ECFDF5"/>
          </a:solidFill>
          <a:ln w="9525">
            <a:solidFill>
              <a:srgbClr val="059669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en-US" sz="800" b="1">
                <a:solidFill>
                  <a:srgbClr val="059669"/>
                </a:solidFill>
                <a:latin typeface="Segoe UI"/>
              </a:rPr>
              <a:t>MODIFIER 3 • TECHNICAL DEFENSE &amp; BREACHES</a:t>
            </a:r>
          </a:p>
        </p:txBody>
      </p:sp>
      <p:sp>
        <p:nvSpPr>
          <p:cNvPr id="122" name="TextBox_122">
            <a:extLst>
              <a:ext uri="{FF2B5EF4-FFF2-40B4-BE49-F238E27FC236}">
                <a16:creationId xmlns:a16="http://schemas.microsoft.com/office/drawing/2014/main" id="{78CB8F15-B369-BEC2-EB59-8F6EE34DECC7}"/>
              </a:ext>
            </a:extLst>
          </p:cNvPr>
          <p:cNvSpPr txBox="1"/>
          <p:nvPr/>
        </p:nvSpPr>
        <p:spPr>
          <a:xfrm>
            <a:off x="8193023" y="2194560"/>
            <a:ext cx="3108960" cy="32004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r>
              <a:rPr lang="en-US" sz="1200" b="1" i="0" dirty="0">
                <a:solidFill>
                  <a:srgbClr val="0F172A"/>
                </a:solidFill>
                <a:latin typeface="Segoe UI"/>
              </a:rPr>
              <a:t>Cybersecurity Posture &amp; </a:t>
            </a:r>
            <a:r>
              <a:rPr lang="en-US" sz="1200" b="1">
                <a:solidFill>
                  <a:srgbClr val="0F172A"/>
                </a:solidFill>
                <a:latin typeface="Segoe UI"/>
              </a:rPr>
              <a:t>Past Incidents</a:t>
            </a:r>
            <a:endParaRPr lang="en-US" sz="1200" b="1" i="0" dirty="0">
              <a:solidFill>
                <a:srgbClr val="0F172A"/>
              </a:solidFill>
              <a:latin typeface="Segoe UI"/>
              <a:cs typeface="Segoe UI"/>
            </a:endParaRPr>
          </a:p>
        </p:txBody>
      </p:sp>
      <p:sp>
        <p:nvSpPr>
          <p:cNvPr id="123" name="Card_123">
            <a:extLst>
              <a:ext uri="{FF2B5EF4-FFF2-40B4-BE49-F238E27FC236}">
                <a16:creationId xmlns:a16="http://schemas.microsoft.com/office/drawing/2014/main" id="{A5C2E72E-F524-BDD3-A17A-A2903AA470AA}"/>
              </a:ext>
            </a:extLst>
          </p:cNvPr>
          <p:cNvSpPr/>
          <p:nvPr/>
        </p:nvSpPr>
        <p:spPr>
          <a:xfrm>
            <a:off x="8193023" y="2560320"/>
            <a:ext cx="3108960" cy="960120"/>
          </a:xfrm>
          <a:prstGeom prst="roundRect">
            <a:avLst>
              <a:gd name="adj" fmla="val 12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</p:sp>
      <p:sp>
        <p:nvSpPr>
          <p:cNvPr id="124" name="TextBox_124">
            <a:extLst>
              <a:ext uri="{FF2B5EF4-FFF2-40B4-BE49-F238E27FC236}">
                <a16:creationId xmlns:a16="http://schemas.microsoft.com/office/drawing/2014/main" id="{DC5DCEC6-F7D5-D483-EA23-289968ADED91}"/>
              </a:ext>
            </a:extLst>
          </p:cNvPr>
          <p:cNvSpPr txBox="1"/>
          <p:nvPr/>
        </p:nvSpPr>
        <p:spPr>
          <a:xfrm>
            <a:off x="8238744" y="2606040"/>
            <a:ext cx="3017520" cy="86868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850" b="1" i="0">
                <a:solidFill>
                  <a:srgbClr val="1E293B"/>
                </a:solidFill>
                <a:latin typeface="Segoe UI"/>
              </a:rPr>
              <a:t>Underwriting Rationale: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00" b="0" i="0">
                <a:solidFill>
                  <a:srgbClr val="475569"/>
                </a:solidFill>
                <a:latin typeface="Segoe UI"/>
              </a:rPr>
              <a:t>Live technical controls (DMARC email protection, A-grade TLS, SOC 2 / ISO 27001 attestations, CISO disclosure) directly mitigate catastrophic loss severity, offsetting baseline sector breach rates.</a:t>
            </a:r>
          </a:p>
        </p:txBody>
      </p:sp>
      <p:sp>
        <p:nvSpPr>
          <p:cNvPr id="125" name="Card_125">
            <a:extLst>
              <a:ext uri="{FF2B5EF4-FFF2-40B4-BE49-F238E27FC236}">
                <a16:creationId xmlns:a16="http://schemas.microsoft.com/office/drawing/2014/main" id="{E54F07E4-7A69-4689-8C5D-F115A61D00CC}"/>
              </a:ext>
            </a:extLst>
          </p:cNvPr>
          <p:cNvSpPr/>
          <p:nvPr/>
        </p:nvSpPr>
        <p:spPr>
          <a:xfrm>
            <a:off x="8193023" y="3611880"/>
            <a:ext cx="3108960" cy="1143000"/>
          </a:xfrm>
          <a:prstGeom prst="roundRect">
            <a:avLst>
              <a:gd name="adj" fmla="val 1200"/>
            </a:avLst>
          </a:prstGeom>
          <a:solidFill>
            <a:srgbClr val="ECFDF5"/>
          </a:solidFill>
          <a:ln w="12700">
            <a:solidFill>
              <a:srgbClr val="E2E8F0"/>
            </a:solidFill>
          </a:ln>
        </p:spPr>
      </p:sp>
      <p:sp>
        <p:nvSpPr>
          <p:cNvPr id="126" name="TextBox_126">
            <a:extLst>
              <a:ext uri="{FF2B5EF4-FFF2-40B4-BE49-F238E27FC236}">
                <a16:creationId xmlns:a16="http://schemas.microsoft.com/office/drawing/2014/main" id="{8B78ECEC-2261-BBC7-71BB-70359B305E7D}"/>
              </a:ext>
            </a:extLst>
          </p:cNvPr>
          <p:cNvSpPr txBox="1"/>
          <p:nvPr/>
        </p:nvSpPr>
        <p:spPr>
          <a:xfrm>
            <a:off x="8238744" y="3657600"/>
            <a:ext cx="3017520" cy="105156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850" b="1" i="0">
                <a:solidFill>
                  <a:srgbClr val="059669"/>
                </a:solidFill>
                <a:latin typeface="Segoe UI"/>
              </a:rPr>
              <a:t>Mathematical Scoring Formula: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00" b="1" i="0">
                <a:solidFill>
                  <a:srgbClr val="1E293B"/>
                </a:solidFill>
                <a:latin typeface="Segoe UI"/>
              </a:rPr>
              <a:t>Posture = 0.40(Frameworks) + 0.40(Live Web Controls) + 0.20(Gov)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00" b="0" i="0">
                <a:solidFill>
                  <a:srgbClr val="1E293B"/>
                </a:solidFill>
                <a:latin typeface="Segoe UI"/>
              </a:rPr>
              <a:t>• DMARC/SPF (+1.0) | Security Headers (+1.0) | security.txt (+0.5)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00" b="0" i="0">
                <a:solidFill>
                  <a:srgbClr val="1E293B"/>
                </a:solidFill>
                <a:latin typeface="Segoe UI"/>
              </a:rPr>
              <a:t>• SOC2/ISO (+1.5) | CISO (+1.0) | Breach in &lt;24m: +2.5 Debit Penalty</a:t>
            </a:r>
          </a:p>
        </p:txBody>
      </p:sp>
      <p:sp>
        <p:nvSpPr>
          <p:cNvPr id="127" name="TextBox_127">
            <a:extLst>
              <a:ext uri="{FF2B5EF4-FFF2-40B4-BE49-F238E27FC236}">
                <a16:creationId xmlns:a16="http://schemas.microsoft.com/office/drawing/2014/main" id="{41C5995B-ED3E-B9C4-7345-FD0EE82F3B3A}"/>
              </a:ext>
            </a:extLst>
          </p:cNvPr>
          <p:cNvSpPr txBox="1"/>
          <p:nvPr/>
        </p:nvSpPr>
        <p:spPr>
          <a:xfrm>
            <a:off x="8193023" y="4846320"/>
            <a:ext cx="3108960" cy="132588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850" b="1" i="0">
                <a:solidFill>
                  <a:srgbClr val="0F172A"/>
                </a:solidFill>
                <a:latin typeface="Segoe UI"/>
              </a:rPr>
              <a:t>Deterministic Rating Tiers: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00" b="0" i="0">
                <a:solidFill>
                  <a:srgbClr val="334155"/>
                </a:solidFill>
                <a:latin typeface="Segoe UI"/>
              </a:rPr>
              <a:t>• Full Attestations + DMARC + 0 Breaches in 36m → 1.0 (Credit)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00" b="0" i="0">
                <a:solidFill>
                  <a:srgbClr val="334155"/>
                </a:solidFill>
                <a:latin typeface="Segoe UI"/>
              </a:rPr>
              <a:t>• Grade A SSL + Partial Policies + 0 Breaches → 3.0 (Favourable)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00" b="0" i="0">
                <a:solidFill>
                  <a:srgbClr val="334155"/>
                </a:solidFill>
                <a:latin typeface="Segoe UI"/>
              </a:rPr>
              <a:t>• Missing DMARC or Grade B/C SSL → 4.0 - 4.5 (Average)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800" b="0" i="0">
                <a:solidFill>
                  <a:srgbClr val="334155"/>
                </a:solidFill>
                <a:latin typeface="Segoe UI"/>
              </a:rPr>
              <a:t>• Unpatched Vulns or Catastrophic Breach in &lt;24m → 6.0 (Debit)</a:t>
            </a:r>
          </a:p>
        </p:txBody>
      </p:sp>
      <p:sp>
        <p:nvSpPr>
          <p:cNvPr id="999" name="SlideNum">
            <a:extLst>
              <a:ext uri="{FF2B5EF4-FFF2-40B4-BE49-F238E27FC236}">
                <a16:creationId xmlns:a16="http://schemas.microsoft.com/office/drawing/2014/main" id="{9C4D0B8E-D473-D110-1AD6-FDB80BF9A7DB}"/>
              </a:ext>
            </a:extLst>
          </p:cNvPr>
          <p:cNvSpPr txBox="1"/>
          <p:nvPr/>
        </p:nvSpPr>
        <p:spPr>
          <a:xfrm>
            <a:off x="10241280" y="6446520"/>
            <a:ext cx="1188720" cy="32004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algn="r"/>
            <a:r>
              <a:rPr lang="en-US" sz="800" b="1">
                <a:solidFill>
                  <a:srgbClr val="94A3B8"/>
                </a:solidFill>
                <a:latin typeface="Segoe UI"/>
              </a:rPr>
              <a:t>8 / 9</a:t>
            </a:r>
          </a:p>
        </p:txBody>
      </p:sp>
    </p:spTree>
    <p:extLst>
      <p:ext uri="{BB962C8B-B14F-4D97-AF65-F5344CB8AC3E}">
        <p14:creationId xmlns:p14="http://schemas.microsoft.com/office/powerpoint/2010/main" val="42145287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adge_101"/>
          <p:cNvSpPr/>
          <p:nvPr/>
        </p:nvSpPr>
        <p:spPr>
          <a:xfrm>
            <a:off x="731520" y="411480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 w="9525">
            <a:solidFill>
              <a:srgbClr val="2563EB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en-US" sz="900" b="1">
                <a:solidFill>
                  <a:srgbClr val="2563EB"/>
                </a:solidFill>
                <a:latin typeface="Segoe UI"/>
              </a:rPr>
              <a:t>BUSINESS ROI &amp; IMPACT</a:t>
            </a:r>
          </a:p>
        </p:txBody>
      </p:sp>
      <p:sp>
        <p:nvSpPr>
          <p:cNvPr id="102" name="TextBox_102"/>
          <p:cNvSpPr txBox="1"/>
          <p:nvPr/>
        </p:nvSpPr>
        <p:spPr>
          <a:xfrm>
            <a:off x="731520" y="749808"/>
            <a:ext cx="10698480" cy="50292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2200" b="1" i="0">
                <a:solidFill>
                  <a:srgbClr val="0F172A"/>
                </a:solidFill>
                <a:latin typeface="Segoe UI"/>
              </a:rPr>
              <a:t>Quantified Business Impact &amp; Proven Accuracy</a:t>
            </a:r>
          </a:p>
        </p:txBody>
      </p:sp>
      <p:sp>
        <p:nvSpPr>
          <p:cNvPr id="103" name="TextBox_103"/>
          <p:cNvSpPr txBox="1"/>
          <p:nvPr/>
        </p:nvSpPr>
        <p:spPr>
          <a:xfrm>
            <a:off x="731520" y="1261872"/>
            <a:ext cx="10698480" cy="320040"/>
          </a:xfrm>
          <a:prstGeom prst="rect">
            <a:avLst/>
          </a:prstGeom>
          <a:noFill/>
        </p:spPr>
        <p:txBody>
          <a:bodyPr lIns="72000" tIns="72000" rIns="72000" bIns="72000" anchor="t"/>
          <a:lstStyle/>
          <a:p>
            <a:pPr algn="l">
              <a:buNone/>
            </a:pPr>
            <a:r>
              <a:rPr lang="en-US" sz="1100" b="0" i="0">
                <a:solidFill>
                  <a:srgbClr val="475569"/>
                </a:solidFill>
                <a:latin typeface="Segoe UI"/>
              </a:rPr>
              <a:t>Production-tested metrics demonstrating dramatic turnaround time reduction, cost savings, and high audit precision.</a:t>
            </a:r>
          </a:p>
        </p:txBody>
      </p:sp>
      <p:sp>
        <p:nvSpPr>
          <p:cNvPr id="104" name="Card_104"/>
          <p:cNvSpPr/>
          <p:nvPr/>
        </p:nvSpPr>
        <p:spPr>
          <a:xfrm>
            <a:off x="731520" y="1691640"/>
            <a:ext cx="2514600" cy="15544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05" name="TopBar_105"/>
          <p:cNvSpPr/>
          <p:nvPr/>
        </p:nvSpPr>
        <p:spPr>
          <a:xfrm>
            <a:off x="731520" y="1691640"/>
            <a:ext cx="2514600" cy="73152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106" name="TextBox_106"/>
          <p:cNvSpPr txBox="1"/>
          <p:nvPr/>
        </p:nvSpPr>
        <p:spPr>
          <a:xfrm>
            <a:off x="731520" y="1874520"/>
            <a:ext cx="2514600" cy="1325880"/>
          </a:xfrm>
          <a:prstGeom prst="rect">
            <a:avLst/>
          </a:prstGeom>
          <a:noFill/>
        </p:spPr>
        <p:txBody>
          <a:bodyPr lIns="72000" tIns="72000" rIns="72000" bIns="72000" anchor="ctr"/>
          <a:lstStyle/>
          <a:p>
            <a:pPr algn="ctr">
              <a:buNone/>
            </a:pPr>
            <a:r>
              <a:rPr lang="en-US" sz="2800" b="1" i="0">
                <a:solidFill>
                  <a:srgbClr val="2563EB"/>
                </a:solidFill>
                <a:latin typeface="Segoe UI"/>
              </a:rPr>
              <a:t>99%</a:t>
            </a:r>
          </a:p>
          <a:p>
            <a:pPr algn="ctr">
              <a:spcBef>
                <a:spcPts val="200"/>
              </a:spcBef>
              <a:buNone/>
            </a:pPr>
            <a:r>
              <a:rPr lang="en-US" sz="1100" b="1" i="0">
                <a:solidFill>
                  <a:srgbClr val="0F172A"/>
                </a:solidFill>
                <a:latin typeface="Segoe UI"/>
              </a:rPr>
              <a:t>Turnaround Time Reduction</a:t>
            </a:r>
          </a:p>
          <a:p>
            <a:pPr algn="ctr">
              <a:spcBef>
                <a:spcPts val="100"/>
              </a:spcBef>
              <a:buNone/>
            </a:pPr>
            <a:r>
              <a:rPr lang="en-US" sz="900" b="0" i="0">
                <a:solidFill>
                  <a:srgbClr val="475569"/>
                </a:solidFill>
                <a:latin typeface="Segoe UI"/>
              </a:rPr>
              <a:t>3-4 Hours → ~90 Seconds</a:t>
            </a:r>
          </a:p>
        </p:txBody>
      </p:sp>
      <p:sp>
        <p:nvSpPr>
          <p:cNvPr id="107" name="Card_107"/>
          <p:cNvSpPr/>
          <p:nvPr/>
        </p:nvSpPr>
        <p:spPr>
          <a:xfrm>
            <a:off x="3456432" y="1691640"/>
            <a:ext cx="2514600" cy="15544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08" name="TopBar_108"/>
          <p:cNvSpPr/>
          <p:nvPr/>
        </p:nvSpPr>
        <p:spPr>
          <a:xfrm>
            <a:off x="3456432" y="1691640"/>
            <a:ext cx="2514600" cy="73152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109" name="TextBox_109"/>
          <p:cNvSpPr txBox="1"/>
          <p:nvPr/>
        </p:nvSpPr>
        <p:spPr>
          <a:xfrm>
            <a:off x="3456432" y="1874520"/>
            <a:ext cx="2514600" cy="1325880"/>
          </a:xfrm>
          <a:prstGeom prst="rect">
            <a:avLst/>
          </a:prstGeom>
          <a:noFill/>
        </p:spPr>
        <p:txBody>
          <a:bodyPr lIns="72000" tIns="72000" rIns="72000" bIns="72000" anchor="ctr"/>
          <a:lstStyle/>
          <a:p>
            <a:pPr algn="ctr">
              <a:buNone/>
            </a:pPr>
            <a:r>
              <a:rPr lang="en-US" sz="2800" b="1" i="0">
                <a:solidFill>
                  <a:srgbClr val="059669"/>
                </a:solidFill>
                <a:latin typeface="Segoe UI"/>
              </a:rPr>
              <a:t>100%</a:t>
            </a:r>
          </a:p>
          <a:p>
            <a:pPr algn="ctr">
              <a:spcBef>
                <a:spcPts val="200"/>
              </a:spcBef>
              <a:buNone/>
            </a:pPr>
            <a:r>
              <a:rPr lang="en-US" sz="1100" b="1" i="0">
                <a:solidFill>
                  <a:srgbClr val="0F172A"/>
                </a:solidFill>
                <a:latin typeface="Segoe UI"/>
              </a:rPr>
              <a:t>Scoring Consistency</a:t>
            </a:r>
          </a:p>
          <a:p>
            <a:pPr algn="ctr">
              <a:spcBef>
                <a:spcPts val="100"/>
              </a:spcBef>
              <a:buNone/>
            </a:pPr>
            <a:r>
              <a:rPr lang="en-US" sz="900" b="0" i="0">
                <a:solidFill>
                  <a:srgbClr val="475569"/>
                </a:solidFill>
                <a:latin typeface="Segoe UI"/>
              </a:rPr>
              <a:t>15 Standardized Risk Modifiers</a:t>
            </a:r>
          </a:p>
        </p:txBody>
      </p:sp>
      <p:sp>
        <p:nvSpPr>
          <p:cNvPr id="110" name="Card_110"/>
          <p:cNvSpPr/>
          <p:nvPr/>
        </p:nvSpPr>
        <p:spPr>
          <a:xfrm>
            <a:off x="6181344" y="1691640"/>
            <a:ext cx="2514600" cy="15544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11" name="TopBar_111"/>
          <p:cNvSpPr/>
          <p:nvPr/>
        </p:nvSpPr>
        <p:spPr>
          <a:xfrm>
            <a:off x="6181344" y="1691640"/>
            <a:ext cx="2514600" cy="73152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112" name="TextBox_112"/>
          <p:cNvSpPr txBox="1"/>
          <p:nvPr/>
        </p:nvSpPr>
        <p:spPr>
          <a:xfrm>
            <a:off x="6181344" y="1874520"/>
            <a:ext cx="2514600" cy="1325880"/>
          </a:xfrm>
          <a:prstGeom prst="rect">
            <a:avLst/>
          </a:prstGeom>
          <a:noFill/>
        </p:spPr>
        <p:txBody>
          <a:bodyPr lIns="72000" tIns="72000" rIns="72000" bIns="72000" anchor="ctr"/>
          <a:lstStyle/>
          <a:p>
            <a:pPr algn="ctr">
              <a:buNone/>
            </a:pPr>
            <a:r>
              <a:rPr lang="en-US" sz="2800" b="1" i="0">
                <a:solidFill>
                  <a:srgbClr val="7C3AED"/>
                </a:solidFill>
                <a:latin typeface="Segoe UI"/>
              </a:rPr>
              <a:t>&gt;90%</a:t>
            </a:r>
          </a:p>
          <a:p>
            <a:pPr algn="ctr">
              <a:spcBef>
                <a:spcPts val="200"/>
              </a:spcBef>
              <a:buNone/>
            </a:pPr>
            <a:r>
              <a:rPr lang="en-US" sz="1100" b="1" i="0">
                <a:solidFill>
                  <a:srgbClr val="0F172A"/>
                </a:solidFill>
                <a:latin typeface="Segoe UI"/>
              </a:rPr>
              <a:t>Fact Consensus Accuracy</a:t>
            </a:r>
          </a:p>
          <a:p>
            <a:pPr algn="ctr">
              <a:spcBef>
                <a:spcPts val="100"/>
              </a:spcBef>
              <a:buNone/>
            </a:pPr>
            <a:r>
              <a:rPr lang="en-US" sz="900" b="0" i="0">
                <a:solidFill>
                  <a:srgbClr val="475569"/>
                </a:solidFill>
                <a:latin typeface="Segoe UI"/>
              </a:rPr>
              <a:t>Cross-verified against 6+ sources</a:t>
            </a:r>
          </a:p>
        </p:txBody>
      </p:sp>
      <p:sp>
        <p:nvSpPr>
          <p:cNvPr id="113" name="Card_113"/>
          <p:cNvSpPr/>
          <p:nvPr/>
        </p:nvSpPr>
        <p:spPr>
          <a:xfrm>
            <a:off x="8906256" y="1691640"/>
            <a:ext cx="2514600" cy="15544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14" name="TopBar_114"/>
          <p:cNvSpPr/>
          <p:nvPr/>
        </p:nvSpPr>
        <p:spPr>
          <a:xfrm>
            <a:off x="8906256" y="1691640"/>
            <a:ext cx="2514600" cy="73152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115" name="TextBox_115"/>
          <p:cNvSpPr txBox="1"/>
          <p:nvPr/>
        </p:nvSpPr>
        <p:spPr>
          <a:xfrm>
            <a:off x="8906256" y="1874520"/>
            <a:ext cx="2514600" cy="1325880"/>
          </a:xfrm>
          <a:prstGeom prst="rect">
            <a:avLst/>
          </a:prstGeom>
          <a:noFill/>
        </p:spPr>
        <p:txBody>
          <a:bodyPr lIns="72000" tIns="72000" rIns="72000" bIns="72000" anchor="ctr"/>
          <a:lstStyle/>
          <a:p>
            <a:pPr algn="ctr">
              <a:buNone/>
            </a:pPr>
            <a:r>
              <a:rPr lang="en-US" sz="2800" b="1" i="0">
                <a:solidFill>
                  <a:srgbClr val="D97706"/>
                </a:solidFill>
                <a:latin typeface="Segoe UI"/>
              </a:rPr>
              <a:t>$0.15</a:t>
            </a:r>
          </a:p>
          <a:p>
            <a:pPr algn="ctr">
              <a:spcBef>
                <a:spcPts val="200"/>
              </a:spcBef>
              <a:buNone/>
            </a:pPr>
            <a:r>
              <a:rPr lang="en-US" sz="1100" b="1" i="0">
                <a:solidFill>
                  <a:srgbClr val="0F172A"/>
                </a:solidFill>
                <a:latin typeface="Segoe UI"/>
              </a:rPr>
              <a:t>Compute Cost / Submission</a:t>
            </a:r>
          </a:p>
          <a:p>
            <a:pPr algn="ctr">
              <a:spcBef>
                <a:spcPts val="100"/>
              </a:spcBef>
              <a:buNone/>
            </a:pPr>
            <a:r>
              <a:rPr lang="en-US" sz="900" b="0" i="0">
                <a:solidFill>
                  <a:srgbClr val="475569"/>
                </a:solidFill>
                <a:latin typeface="Segoe UI"/>
              </a:rPr>
              <a:t>Down from ~$150 in analyst hours</a:t>
            </a:r>
          </a:p>
        </p:txBody>
      </p:sp>
      <p:sp>
        <p:nvSpPr>
          <p:cNvPr id="116" name="Card_116"/>
          <p:cNvSpPr/>
          <p:nvPr/>
        </p:nvSpPr>
        <p:spPr>
          <a:xfrm>
            <a:off x="731520" y="3474720"/>
            <a:ext cx="10725912" cy="27889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17" name="Badge_117"/>
          <p:cNvSpPr/>
          <p:nvPr/>
        </p:nvSpPr>
        <p:spPr>
          <a:xfrm>
            <a:off x="1005840" y="3639312"/>
            <a:ext cx="2011680" cy="237744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 w="9525">
            <a:solidFill>
              <a:srgbClr val="1D4ED8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en-US" sz="900" b="1">
                <a:solidFill>
                  <a:srgbClr val="1D4ED8"/>
                </a:solidFill>
                <a:latin typeface="Segoe UI"/>
              </a:rPr>
              <a:t>BENCHMARK COMPARISON</a:t>
            </a:r>
          </a:p>
        </p:txBody>
      </p:sp>
      <p:graphicFrame>
        <p:nvGraphicFramePr>
          <p:cNvPr id="118" name="Table_118"/>
          <p:cNvGraphicFramePr>
            <a:graphicFrameLocks noGrp="1"/>
          </p:cNvGraphicFramePr>
          <p:nvPr/>
        </p:nvGraphicFramePr>
        <p:xfrm>
          <a:off x="1005840" y="3977639"/>
          <a:ext cx="10177272" cy="1901952"/>
        </p:xfrm>
        <a:graphic>
          <a:graphicData uri="http://schemas.openxmlformats.org/drawingml/2006/table">
            <a:tbl>
              <a:tblPr firstRow="1"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219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lang="en-US" sz="900" b="1">
                          <a:solidFill>
                            <a:srgbClr val="FFFFFF"/>
                          </a:solidFill>
                          <a:latin typeface="Segoe UI"/>
                        </a:rPr>
                        <a:t>Performance Dimension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1">
                          <a:solidFill>
                            <a:srgbClr val="FFFFFF"/>
                          </a:solidFill>
                          <a:latin typeface="Segoe UI"/>
                        </a:rPr>
                        <a:t>Traditional Manual Underwriting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1">
                          <a:solidFill>
                            <a:srgbClr val="FFFFFF"/>
                          </a:solidFill>
                          <a:latin typeface="Segoe UI"/>
                        </a:rPr>
                        <a:t>Agentic Cyber Rating Platform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b="1">
                          <a:solidFill>
                            <a:srgbClr val="FFFFFF"/>
                          </a:solidFill>
                          <a:latin typeface="Segoe UI"/>
                        </a:rPr>
                        <a:t>Measurable Business Lift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US" sz="850" b="0">
                          <a:solidFill>
                            <a:srgbClr val="334155"/>
                          </a:solidFill>
                          <a:latin typeface="Segoe UI"/>
                        </a:rPr>
                        <a:t>Research Time per Account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50" b="0">
                          <a:solidFill>
                            <a:srgbClr val="334155"/>
                          </a:solidFill>
                          <a:latin typeface="Segoe UI"/>
                        </a:rPr>
                        <a:t>3 to 4 hours across scattered tabs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50" b="0">
                          <a:solidFill>
                            <a:srgbClr val="334155"/>
                          </a:solidFill>
                          <a:latin typeface="Segoe UI"/>
                        </a:rPr>
                        <a:t>~90 seconds end-to-end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50" b="0">
                          <a:solidFill>
                            <a:srgbClr val="334155"/>
                          </a:solidFill>
                          <a:latin typeface="Segoe UI"/>
                        </a:rPr>
                        <a:t>99% Turnaround Time Lift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US" sz="850" b="0">
                          <a:solidFill>
                            <a:srgbClr val="334155"/>
                          </a:solidFill>
                          <a:latin typeface="Segoe UI"/>
                        </a:rPr>
                        <a:t>Public Sources Consulted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50" b="0">
                          <a:solidFill>
                            <a:srgbClr val="334155"/>
                          </a:solidFill>
                          <a:latin typeface="Segoe UI"/>
                        </a:rPr>
                        <a:t>2 to 3 sites (ad-hoc &amp; inconsistent)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50" b="0">
                          <a:solidFill>
                            <a:srgbClr val="334155"/>
                          </a:solidFill>
                          <a:latin typeface="Segoe UI"/>
                        </a:rPr>
                        <a:t>6+ live public APIs (every run)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50" b="0">
                          <a:solidFill>
                            <a:srgbClr val="334155"/>
                          </a:solidFill>
                          <a:latin typeface="Segoe UI"/>
                        </a:rPr>
                        <a:t>2-3x Broader Data Breadth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US" sz="850" b="0">
                          <a:solidFill>
                            <a:srgbClr val="334155"/>
                          </a:solidFill>
                          <a:latin typeface="Segoe UI"/>
                        </a:rPr>
                        <a:t>Fact Verification &amp; Provenance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50" b="0">
                          <a:solidFill>
                            <a:srgbClr val="334155"/>
                          </a:solidFill>
                          <a:latin typeface="Segoe UI"/>
                        </a:rPr>
                        <a:t>Subjective notes, no cross-checking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50" b="0">
                          <a:solidFill>
                            <a:srgbClr val="334155"/>
                          </a:solidFill>
                          <a:latin typeface="Segoe UI"/>
                        </a:rPr>
                        <a:t>Consensus score with full URL lineage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50" b="0">
                          <a:solidFill>
                            <a:srgbClr val="334155"/>
                          </a:solidFill>
                          <a:latin typeface="Segoe UI"/>
                        </a:rPr>
                        <a:t>Audit-ready with zero hallucinations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US" sz="850" b="0">
                          <a:solidFill>
                            <a:srgbClr val="334155"/>
                          </a:solidFill>
                          <a:latin typeface="Segoe UI"/>
                        </a:rPr>
                        <a:t>Underwriting Modifiers Evaluated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50" b="0">
                          <a:solidFill>
                            <a:srgbClr val="334155"/>
                          </a:solidFill>
                          <a:latin typeface="Segoe UI"/>
                        </a:rPr>
                        <a:t>Varies by analyst experience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50" b="0">
                          <a:solidFill>
                            <a:srgbClr val="334155"/>
                          </a:solidFill>
                          <a:latin typeface="Segoe UI"/>
                        </a:rPr>
                        <a:t>15 standardized actuarial modifier rules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50" b="0">
                          <a:solidFill>
                            <a:srgbClr val="334155"/>
                          </a:solidFill>
                          <a:latin typeface="Segoe UI"/>
                        </a:rPr>
                        <a:t>100% Pricing &amp; Risk Consistency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US" sz="850" b="0">
                          <a:solidFill>
                            <a:srgbClr val="334155"/>
                          </a:solidFill>
                          <a:latin typeface="Segoe UI"/>
                        </a:rPr>
                        <a:t>Report Generation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50" b="0">
                          <a:solidFill>
                            <a:srgbClr val="334155"/>
                          </a:solidFill>
                          <a:latin typeface="Segoe UI"/>
                        </a:rPr>
                        <a:t>Manual 30-min Word doc typing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50" b="0">
                          <a:solidFill>
                            <a:srgbClr val="334155"/>
                          </a:solidFill>
                          <a:latin typeface="Segoe UI"/>
                        </a:rPr>
                        <a:t>Auto-generated HTML &amp; PDF reports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50" b="0">
                          <a:solidFill>
                            <a:srgbClr val="334155"/>
                          </a:solidFill>
                          <a:latin typeface="Segoe UI"/>
                        </a:rPr>
                        <a:t>Instant Underwriting Committee Packets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99" name="SlideNum"/>
          <p:cNvSpPr txBox="1"/>
          <p:nvPr/>
        </p:nvSpPr>
        <p:spPr>
          <a:xfrm>
            <a:off x="10241280" y="6446520"/>
            <a:ext cx="1188720" cy="32004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algn="r"/>
            <a:r>
              <a:rPr lang="en-US" sz="800" b="1">
                <a:solidFill>
                  <a:srgbClr val="94A3B8"/>
                </a:solidFill>
                <a:latin typeface="Segoe UI"/>
              </a:rP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a069a30-f8af-4d65-b4a7-b92186a56167" xsi:nil="true"/>
    <TaxCatchAll xmlns="3ba55b54-a3f7-4b3a-9053-3dd46ab8d7b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FC12FB1F2E9314A91A08CCECF9BFDAA" ma:contentTypeVersion="10" ma:contentTypeDescription="Create a new document." ma:contentTypeScope="" ma:versionID="2c8e62afc044c6a2754e4c5f4ea94748">
  <xsd:schema xmlns:xsd="http://www.w3.org/2001/XMLSchema" xmlns:xs="http://www.w3.org/2001/XMLSchema" xmlns:p="http://schemas.microsoft.com/office/2006/metadata/properties" xmlns:ns2="aa069a30-f8af-4d65-b4a7-b92186a56167" xmlns:ns3="3ba55b54-a3f7-4b3a-9053-3dd46ab8d7b2" targetNamespace="http://schemas.microsoft.com/office/2006/metadata/properties" ma:root="true" ma:fieldsID="109d2aed1ab39be42447e287bb3c4832" ns2:_="" ns3:_="">
    <xsd:import namespace="aa069a30-f8af-4d65-b4a7-b92186a56167"/>
    <xsd:import namespace="3ba55b54-a3f7-4b3a-9053-3dd46ab8d7b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a069a30-f8af-4d65-b4a7-b92186a5616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displayName="Image Tags_0" ma:hidden="true" ma:internalName="lcf76f155ced4ddcb4097134ff3c332f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a55b54-a3f7-4b3a-9053-3dd46ab8d7b2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a4e889a0-20ea-4539-8286-c971b09a7de8}" ma:internalName="TaxCatchAll" ma:showField="CatchAllData" ma:web="3ba55b54-a3f7-4b3a-9053-3dd46ab8d7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3B4E1FD-06AB-4CE5-A207-4CC6E8B2259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A4195EF-2605-4517-8CF7-10719F7428C9}">
  <ds:schemaRefs>
    <ds:schemaRef ds:uri="http://schemas.microsoft.com/office/2006/documentManagement/types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http://purl.org/dc/dcmitype/"/>
    <ds:schemaRef ds:uri="aa069a30-f8af-4d65-b4a7-b92186a56167"/>
    <ds:schemaRef ds:uri="http://schemas.microsoft.com/office/2006/metadata/properties"/>
    <ds:schemaRef ds:uri="http://www.w3.org/XML/1998/namespace"/>
    <ds:schemaRef ds:uri="http://purl.org/dc/elements/1.1/"/>
    <ds:schemaRef ds:uri="3ba55b54-a3f7-4b3a-9053-3dd46ab8d7b2"/>
  </ds:schemaRefs>
</ds:datastoreItem>
</file>

<file path=customXml/itemProps3.xml><?xml version="1.0" encoding="utf-8"?>
<ds:datastoreItem xmlns:ds="http://schemas.openxmlformats.org/officeDocument/2006/customXml" ds:itemID="{8A3AC805-E613-4798-ADCE-A1EF02F294C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a069a30-f8af-4d65-b4a7-b92186a56167"/>
    <ds:schemaRef ds:uri="3ba55b54-a3f7-4b3a-9053-3dd46ab8d7b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880</Words>
  <Application>Microsoft Office PowerPoint</Application>
  <PresentationFormat>Widescreen</PresentationFormat>
  <Paragraphs>45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Archana Ahuja</dc:creator>
  <cp:lastModifiedBy>Archana Ahuja</cp:lastModifiedBy>
  <cp:revision>62</cp:revision>
  <dcterms:created xsi:type="dcterms:W3CDTF">2026-05-08T13:20:36Z</dcterms:created>
  <dcterms:modified xsi:type="dcterms:W3CDTF">2026-08-14T06:46:08Z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0x010100DFC12FB1F2E9314A91A08CCECF9BFDAA</vt:lpwstr>
  </property>
</Properties>
</file>