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561" r:id="rId5"/>
    <p:sldId id="592" r:id="rId6"/>
    <p:sldId id="590" r:id="rId7"/>
    <p:sldId id="25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644"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3E493E-F783-4C85-B313-DDEEDDD64C58}" type="datetimeFigureOut">
              <a:rPr lang="en-IN" smtClean="0"/>
              <a:t>11-08-2026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5758A4-6E75-4953-952C-33375927F723}" type="slidenum">
              <a:rPr lang="en-IN" smtClean="0"/>
              <a:t>‹#›</a:t>
            </a:fld>
            <a:endParaRPr lang="en-IN"/>
          </a:p>
        </p:txBody>
      </p:sp>
    </p:spTree>
    <p:extLst>
      <p:ext uri="{BB962C8B-B14F-4D97-AF65-F5344CB8AC3E}">
        <p14:creationId xmlns:p14="http://schemas.microsoft.com/office/powerpoint/2010/main" val="1825582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9EE43920-FFD8-42A7-9B50-D95F674560BE}" type="slidenum">
              <a:t>1</a:t>
            </a:fld>
            <a:endParaRPr lang="en-US"/>
          </a:p>
        </p:txBody>
      </p:sp>
    </p:spTree>
    <p:extLst>
      <p:ext uri="{BB962C8B-B14F-4D97-AF65-F5344CB8AC3E}">
        <p14:creationId xmlns:p14="http://schemas.microsoft.com/office/powerpoint/2010/main" val="3688276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399F2-B04D-CE6F-C905-FBFFE211A9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5D3F70D-5998-8CE2-F9CE-6A65772C06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770F768-2C08-E5C9-6AFD-CB69F865CFAB}"/>
              </a:ext>
            </a:extLst>
          </p:cNvPr>
          <p:cNvSpPr>
            <a:spLocks noGrp="1"/>
          </p:cNvSpPr>
          <p:nvPr>
            <p:ph type="dt" sz="half" idx="10"/>
          </p:nvPr>
        </p:nvSpPr>
        <p:spPr/>
        <p:txBody>
          <a:bodyPr/>
          <a:lstStyle/>
          <a:p>
            <a:fld id="{8852F03B-814F-4A2F-8ECF-2F12DD0261A2}" type="datetimeFigureOut">
              <a:rPr lang="en-IN" smtClean="0"/>
              <a:t>11-08-2026</a:t>
            </a:fld>
            <a:endParaRPr lang="en-IN"/>
          </a:p>
        </p:txBody>
      </p:sp>
      <p:sp>
        <p:nvSpPr>
          <p:cNvPr id="5" name="Footer Placeholder 4">
            <a:extLst>
              <a:ext uri="{FF2B5EF4-FFF2-40B4-BE49-F238E27FC236}">
                <a16:creationId xmlns:a16="http://schemas.microsoft.com/office/drawing/2014/main" id="{A2690626-27BC-FD08-9AFB-B1C39ECDEA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D2C14D-CBA7-C1F1-6302-3A5A6CD897E2}"/>
              </a:ext>
            </a:extLst>
          </p:cNvPr>
          <p:cNvSpPr>
            <a:spLocks noGrp="1"/>
          </p:cNvSpPr>
          <p:nvPr>
            <p:ph type="sldNum" sz="quarter" idx="12"/>
          </p:nvPr>
        </p:nvSpPr>
        <p:spPr/>
        <p:txBody>
          <a:bodyPr/>
          <a:lstStyle/>
          <a:p>
            <a:fld id="{66868516-7FBD-4B5D-A99E-DE90F371625E}" type="slidenum">
              <a:rPr lang="en-IN" smtClean="0"/>
              <a:t>‹#›</a:t>
            </a:fld>
            <a:endParaRPr lang="en-IN"/>
          </a:p>
        </p:txBody>
      </p:sp>
    </p:spTree>
    <p:extLst>
      <p:ext uri="{BB962C8B-B14F-4D97-AF65-F5344CB8AC3E}">
        <p14:creationId xmlns:p14="http://schemas.microsoft.com/office/powerpoint/2010/main" val="3373184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69637-5FB7-DA81-0ADB-52AE4640F9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C51B54-792B-454B-79D4-0C7BFFC09A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27CF93-1A91-3770-DE7C-EEDA6E744B4B}"/>
              </a:ext>
            </a:extLst>
          </p:cNvPr>
          <p:cNvSpPr>
            <a:spLocks noGrp="1"/>
          </p:cNvSpPr>
          <p:nvPr>
            <p:ph type="dt" sz="half" idx="10"/>
          </p:nvPr>
        </p:nvSpPr>
        <p:spPr/>
        <p:txBody>
          <a:bodyPr/>
          <a:lstStyle/>
          <a:p>
            <a:fld id="{8852F03B-814F-4A2F-8ECF-2F12DD0261A2}" type="datetimeFigureOut">
              <a:rPr lang="en-IN" smtClean="0"/>
              <a:t>11-08-2026</a:t>
            </a:fld>
            <a:endParaRPr lang="en-IN"/>
          </a:p>
        </p:txBody>
      </p:sp>
      <p:sp>
        <p:nvSpPr>
          <p:cNvPr id="5" name="Footer Placeholder 4">
            <a:extLst>
              <a:ext uri="{FF2B5EF4-FFF2-40B4-BE49-F238E27FC236}">
                <a16:creationId xmlns:a16="http://schemas.microsoft.com/office/drawing/2014/main" id="{B0E301E7-2B65-ED0B-4075-1711D7C9E8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7C5926-6723-2FF3-0230-31E0954B635A}"/>
              </a:ext>
            </a:extLst>
          </p:cNvPr>
          <p:cNvSpPr>
            <a:spLocks noGrp="1"/>
          </p:cNvSpPr>
          <p:nvPr>
            <p:ph type="sldNum" sz="quarter" idx="12"/>
          </p:nvPr>
        </p:nvSpPr>
        <p:spPr/>
        <p:txBody>
          <a:bodyPr/>
          <a:lstStyle/>
          <a:p>
            <a:fld id="{66868516-7FBD-4B5D-A99E-DE90F371625E}" type="slidenum">
              <a:rPr lang="en-IN" smtClean="0"/>
              <a:t>‹#›</a:t>
            </a:fld>
            <a:endParaRPr lang="en-IN"/>
          </a:p>
        </p:txBody>
      </p:sp>
    </p:spTree>
    <p:extLst>
      <p:ext uri="{BB962C8B-B14F-4D97-AF65-F5344CB8AC3E}">
        <p14:creationId xmlns:p14="http://schemas.microsoft.com/office/powerpoint/2010/main" val="4120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E33C-5783-8808-5C3D-36567B2CD7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445EEFB-6428-8436-F5AE-42F6A33BA9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2232A2-92C6-9EF5-A99E-61DDEC63DDE7}"/>
              </a:ext>
            </a:extLst>
          </p:cNvPr>
          <p:cNvSpPr>
            <a:spLocks noGrp="1"/>
          </p:cNvSpPr>
          <p:nvPr>
            <p:ph type="dt" sz="half" idx="10"/>
          </p:nvPr>
        </p:nvSpPr>
        <p:spPr/>
        <p:txBody>
          <a:bodyPr/>
          <a:lstStyle/>
          <a:p>
            <a:fld id="{8852F03B-814F-4A2F-8ECF-2F12DD0261A2}" type="datetimeFigureOut">
              <a:rPr lang="en-IN" smtClean="0"/>
              <a:t>11-08-2026</a:t>
            </a:fld>
            <a:endParaRPr lang="en-IN"/>
          </a:p>
        </p:txBody>
      </p:sp>
      <p:sp>
        <p:nvSpPr>
          <p:cNvPr id="5" name="Footer Placeholder 4">
            <a:extLst>
              <a:ext uri="{FF2B5EF4-FFF2-40B4-BE49-F238E27FC236}">
                <a16:creationId xmlns:a16="http://schemas.microsoft.com/office/drawing/2014/main" id="{3C6E96FD-34F8-3377-B944-78F6DBB1D4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00A462-EC0F-F35C-51F2-74ED39857603}"/>
              </a:ext>
            </a:extLst>
          </p:cNvPr>
          <p:cNvSpPr>
            <a:spLocks noGrp="1"/>
          </p:cNvSpPr>
          <p:nvPr>
            <p:ph type="sldNum" sz="quarter" idx="12"/>
          </p:nvPr>
        </p:nvSpPr>
        <p:spPr/>
        <p:txBody>
          <a:bodyPr/>
          <a:lstStyle/>
          <a:p>
            <a:fld id="{66868516-7FBD-4B5D-A99E-DE90F371625E}" type="slidenum">
              <a:rPr lang="en-IN" smtClean="0"/>
              <a:t>‹#›</a:t>
            </a:fld>
            <a:endParaRPr lang="en-IN"/>
          </a:p>
        </p:txBody>
      </p:sp>
    </p:spTree>
    <p:extLst>
      <p:ext uri="{BB962C8B-B14F-4D97-AF65-F5344CB8AC3E}">
        <p14:creationId xmlns:p14="http://schemas.microsoft.com/office/powerpoint/2010/main" val="1396014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C1707-5B16-AD68-5F3E-74C376E08A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D3E80C-DACC-CCDB-0055-2B88F2AE61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7488723-040F-A5E8-E82B-029BDC2A2B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FE39C30-4D37-3C64-1626-9FBEA00006D2}"/>
              </a:ext>
            </a:extLst>
          </p:cNvPr>
          <p:cNvSpPr>
            <a:spLocks noGrp="1"/>
          </p:cNvSpPr>
          <p:nvPr>
            <p:ph type="dt" sz="half" idx="10"/>
          </p:nvPr>
        </p:nvSpPr>
        <p:spPr/>
        <p:txBody>
          <a:bodyPr/>
          <a:lstStyle/>
          <a:p>
            <a:fld id="{8852F03B-814F-4A2F-8ECF-2F12DD0261A2}" type="datetimeFigureOut">
              <a:rPr lang="en-IN" smtClean="0"/>
              <a:t>11-08-2026</a:t>
            </a:fld>
            <a:endParaRPr lang="en-IN"/>
          </a:p>
        </p:txBody>
      </p:sp>
      <p:sp>
        <p:nvSpPr>
          <p:cNvPr id="6" name="Footer Placeholder 5">
            <a:extLst>
              <a:ext uri="{FF2B5EF4-FFF2-40B4-BE49-F238E27FC236}">
                <a16:creationId xmlns:a16="http://schemas.microsoft.com/office/drawing/2014/main" id="{C1F667D8-B953-5713-7EC7-CBFCC42E8A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C56C5B-EB5B-66DE-90F8-7031ED5DCDE3}"/>
              </a:ext>
            </a:extLst>
          </p:cNvPr>
          <p:cNvSpPr>
            <a:spLocks noGrp="1"/>
          </p:cNvSpPr>
          <p:nvPr>
            <p:ph type="sldNum" sz="quarter" idx="12"/>
          </p:nvPr>
        </p:nvSpPr>
        <p:spPr/>
        <p:txBody>
          <a:bodyPr/>
          <a:lstStyle/>
          <a:p>
            <a:fld id="{66868516-7FBD-4B5D-A99E-DE90F371625E}" type="slidenum">
              <a:rPr lang="en-IN" smtClean="0"/>
              <a:t>‹#›</a:t>
            </a:fld>
            <a:endParaRPr lang="en-IN"/>
          </a:p>
        </p:txBody>
      </p:sp>
    </p:spTree>
    <p:extLst>
      <p:ext uri="{BB962C8B-B14F-4D97-AF65-F5344CB8AC3E}">
        <p14:creationId xmlns:p14="http://schemas.microsoft.com/office/powerpoint/2010/main" val="2536541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95705-88C4-D605-34AB-B795607E136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5EF3FC-B3C9-40E6-E607-BEDF1E1998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046896-4C26-3197-D05F-33BF9F8D0F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8C89F2-F5C4-79E9-CB1E-F20233D4C4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5B1EF8-A482-6476-6B61-F75C77C5A6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3BCD364-409E-FD83-586E-E5AFC22971A9}"/>
              </a:ext>
            </a:extLst>
          </p:cNvPr>
          <p:cNvSpPr>
            <a:spLocks noGrp="1"/>
          </p:cNvSpPr>
          <p:nvPr>
            <p:ph type="dt" sz="half" idx="10"/>
          </p:nvPr>
        </p:nvSpPr>
        <p:spPr/>
        <p:txBody>
          <a:bodyPr/>
          <a:lstStyle/>
          <a:p>
            <a:fld id="{8852F03B-814F-4A2F-8ECF-2F12DD0261A2}" type="datetimeFigureOut">
              <a:rPr lang="en-IN" smtClean="0"/>
              <a:t>11-08-2026</a:t>
            </a:fld>
            <a:endParaRPr lang="en-IN"/>
          </a:p>
        </p:txBody>
      </p:sp>
      <p:sp>
        <p:nvSpPr>
          <p:cNvPr id="8" name="Footer Placeholder 7">
            <a:extLst>
              <a:ext uri="{FF2B5EF4-FFF2-40B4-BE49-F238E27FC236}">
                <a16:creationId xmlns:a16="http://schemas.microsoft.com/office/drawing/2014/main" id="{365A789C-D062-92C8-4764-7F7AEC7857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879262-6538-E063-36F3-898A6B4D22D7}"/>
              </a:ext>
            </a:extLst>
          </p:cNvPr>
          <p:cNvSpPr>
            <a:spLocks noGrp="1"/>
          </p:cNvSpPr>
          <p:nvPr>
            <p:ph type="sldNum" sz="quarter" idx="12"/>
          </p:nvPr>
        </p:nvSpPr>
        <p:spPr/>
        <p:txBody>
          <a:bodyPr/>
          <a:lstStyle/>
          <a:p>
            <a:fld id="{66868516-7FBD-4B5D-A99E-DE90F371625E}" type="slidenum">
              <a:rPr lang="en-IN" smtClean="0"/>
              <a:t>‹#›</a:t>
            </a:fld>
            <a:endParaRPr lang="en-IN"/>
          </a:p>
        </p:txBody>
      </p:sp>
    </p:spTree>
    <p:extLst>
      <p:ext uri="{BB962C8B-B14F-4D97-AF65-F5344CB8AC3E}">
        <p14:creationId xmlns:p14="http://schemas.microsoft.com/office/powerpoint/2010/main" val="3461491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2ECCA-31A1-D473-EA3F-C16D698F905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C4686BA-D0E2-DE0C-C0FC-CED36D864260}"/>
              </a:ext>
            </a:extLst>
          </p:cNvPr>
          <p:cNvSpPr>
            <a:spLocks noGrp="1"/>
          </p:cNvSpPr>
          <p:nvPr>
            <p:ph type="dt" sz="half" idx="10"/>
          </p:nvPr>
        </p:nvSpPr>
        <p:spPr/>
        <p:txBody>
          <a:bodyPr/>
          <a:lstStyle/>
          <a:p>
            <a:fld id="{8852F03B-814F-4A2F-8ECF-2F12DD0261A2}" type="datetimeFigureOut">
              <a:rPr lang="en-IN" smtClean="0"/>
              <a:t>11-08-2026</a:t>
            </a:fld>
            <a:endParaRPr lang="en-IN"/>
          </a:p>
        </p:txBody>
      </p:sp>
      <p:sp>
        <p:nvSpPr>
          <p:cNvPr id="4" name="Footer Placeholder 3">
            <a:extLst>
              <a:ext uri="{FF2B5EF4-FFF2-40B4-BE49-F238E27FC236}">
                <a16:creationId xmlns:a16="http://schemas.microsoft.com/office/drawing/2014/main" id="{FF8010D1-D5CE-A6FE-B841-392FBAC00C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9F2016-25AB-BC4E-DAC1-DFFFDC12B952}"/>
              </a:ext>
            </a:extLst>
          </p:cNvPr>
          <p:cNvSpPr>
            <a:spLocks noGrp="1"/>
          </p:cNvSpPr>
          <p:nvPr>
            <p:ph type="sldNum" sz="quarter" idx="12"/>
          </p:nvPr>
        </p:nvSpPr>
        <p:spPr/>
        <p:txBody>
          <a:bodyPr/>
          <a:lstStyle/>
          <a:p>
            <a:fld id="{66868516-7FBD-4B5D-A99E-DE90F371625E}" type="slidenum">
              <a:rPr lang="en-IN" smtClean="0"/>
              <a:t>‹#›</a:t>
            </a:fld>
            <a:endParaRPr lang="en-IN"/>
          </a:p>
        </p:txBody>
      </p:sp>
    </p:spTree>
    <p:extLst>
      <p:ext uri="{BB962C8B-B14F-4D97-AF65-F5344CB8AC3E}">
        <p14:creationId xmlns:p14="http://schemas.microsoft.com/office/powerpoint/2010/main" val="1167008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13DA79-2A8A-4551-0597-1338950E8DF6}"/>
              </a:ext>
            </a:extLst>
          </p:cNvPr>
          <p:cNvSpPr>
            <a:spLocks noGrp="1"/>
          </p:cNvSpPr>
          <p:nvPr>
            <p:ph type="dt" sz="half" idx="10"/>
          </p:nvPr>
        </p:nvSpPr>
        <p:spPr/>
        <p:txBody>
          <a:bodyPr/>
          <a:lstStyle/>
          <a:p>
            <a:fld id="{8852F03B-814F-4A2F-8ECF-2F12DD0261A2}" type="datetimeFigureOut">
              <a:rPr lang="en-IN" smtClean="0"/>
              <a:t>11-08-2026</a:t>
            </a:fld>
            <a:endParaRPr lang="en-IN"/>
          </a:p>
        </p:txBody>
      </p:sp>
      <p:sp>
        <p:nvSpPr>
          <p:cNvPr id="3" name="Footer Placeholder 2">
            <a:extLst>
              <a:ext uri="{FF2B5EF4-FFF2-40B4-BE49-F238E27FC236}">
                <a16:creationId xmlns:a16="http://schemas.microsoft.com/office/drawing/2014/main" id="{51F007AF-A668-6946-AFBB-E62FEC44133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0684624-3B90-C7B5-8CE5-69DAD9B6A21B}"/>
              </a:ext>
            </a:extLst>
          </p:cNvPr>
          <p:cNvSpPr>
            <a:spLocks noGrp="1"/>
          </p:cNvSpPr>
          <p:nvPr>
            <p:ph type="sldNum" sz="quarter" idx="12"/>
          </p:nvPr>
        </p:nvSpPr>
        <p:spPr/>
        <p:txBody>
          <a:bodyPr/>
          <a:lstStyle/>
          <a:p>
            <a:fld id="{66868516-7FBD-4B5D-A99E-DE90F371625E}" type="slidenum">
              <a:rPr lang="en-IN" smtClean="0"/>
              <a:t>‹#›</a:t>
            </a:fld>
            <a:endParaRPr lang="en-IN"/>
          </a:p>
        </p:txBody>
      </p:sp>
    </p:spTree>
    <p:extLst>
      <p:ext uri="{BB962C8B-B14F-4D97-AF65-F5344CB8AC3E}">
        <p14:creationId xmlns:p14="http://schemas.microsoft.com/office/powerpoint/2010/main" val="2608035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1B2BB-D29A-91A9-83C6-12223FC702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D779E0-D664-A6E1-3957-5F1C9C1E1F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805157-5A01-BE2B-A146-F4C20B598D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8C04A-0062-6A58-AD95-2420FB3D614B}"/>
              </a:ext>
            </a:extLst>
          </p:cNvPr>
          <p:cNvSpPr>
            <a:spLocks noGrp="1"/>
          </p:cNvSpPr>
          <p:nvPr>
            <p:ph type="dt" sz="half" idx="10"/>
          </p:nvPr>
        </p:nvSpPr>
        <p:spPr/>
        <p:txBody>
          <a:bodyPr/>
          <a:lstStyle/>
          <a:p>
            <a:fld id="{8852F03B-814F-4A2F-8ECF-2F12DD0261A2}" type="datetimeFigureOut">
              <a:rPr lang="en-IN" smtClean="0"/>
              <a:t>11-08-2026</a:t>
            </a:fld>
            <a:endParaRPr lang="en-IN"/>
          </a:p>
        </p:txBody>
      </p:sp>
      <p:sp>
        <p:nvSpPr>
          <p:cNvPr id="6" name="Footer Placeholder 5">
            <a:extLst>
              <a:ext uri="{FF2B5EF4-FFF2-40B4-BE49-F238E27FC236}">
                <a16:creationId xmlns:a16="http://schemas.microsoft.com/office/drawing/2014/main" id="{B084A229-91F0-2E09-7BDF-7078EAD0AF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5524D3-A870-A47E-D9C1-9AA72E460F3C}"/>
              </a:ext>
            </a:extLst>
          </p:cNvPr>
          <p:cNvSpPr>
            <a:spLocks noGrp="1"/>
          </p:cNvSpPr>
          <p:nvPr>
            <p:ph type="sldNum" sz="quarter" idx="12"/>
          </p:nvPr>
        </p:nvSpPr>
        <p:spPr/>
        <p:txBody>
          <a:bodyPr/>
          <a:lstStyle/>
          <a:p>
            <a:fld id="{66868516-7FBD-4B5D-A99E-DE90F371625E}" type="slidenum">
              <a:rPr lang="en-IN" smtClean="0"/>
              <a:t>‹#›</a:t>
            </a:fld>
            <a:endParaRPr lang="en-IN"/>
          </a:p>
        </p:txBody>
      </p:sp>
    </p:spTree>
    <p:extLst>
      <p:ext uri="{BB962C8B-B14F-4D97-AF65-F5344CB8AC3E}">
        <p14:creationId xmlns:p14="http://schemas.microsoft.com/office/powerpoint/2010/main" val="2111836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4126D-6CEA-9EBB-A043-E02DFA2AA3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CE4BDA-D77D-5B05-D64C-F16CCB59FA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F992432-A9DA-9120-C34D-4D44A670A7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547EA3-A07D-EBB5-D25B-7AE82A4E73E8}"/>
              </a:ext>
            </a:extLst>
          </p:cNvPr>
          <p:cNvSpPr>
            <a:spLocks noGrp="1"/>
          </p:cNvSpPr>
          <p:nvPr>
            <p:ph type="dt" sz="half" idx="10"/>
          </p:nvPr>
        </p:nvSpPr>
        <p:spPr/>
        <p:txBody>
          <a:bodyPr/>
          <a:lstStyle/>
          <a:p>
            <a:fld id="{8852F03B-814F-4A2F-8ECF-2F12DD0261A2}" type="datetimeFigureOut">
              <a:rPr lang="en-IN" smtClean="0"/>
              <a:t>11-08-2026</a:t>
            </a:fld>
            <a:endParaRPr lang="en-IN"/>
          </a:p>
        </p:txBody>
      </p:sp>
      <p:sp>
        <p:nvSpPr>
          <p:cNvPr id="6" name="Footer Placeholder 5">
            <a:extLst>
              <a:ext uri="{FF2B5EF4-FFF2-40B4-BE49-F238E27FC236}">
                <a16:creationId xmlns:a16="http://schemas.microsoft.com/office/drawing/2014/main" id="{588D49CC-54A6-C123-50DE-69EF280C6F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B76DEA-32B1-0F45-9219-CF4B27EB60D6}"/>
              </a:ext>
            </a:extLst>
          </p:cNvPr>
          <p:cNvSpPr>
            <a:spLocks noGrp="1"/>
          </p:cNvSpPr>
          <p:nvPr>
            <p:ph type="sldNum" sz="quarter" idx="12"/>
          </p:nvPr>
        </p:nvSpPr>
        <p:spPr/>
        <p:txBody>
          <a:bodyPr/>
          <a:lstStyle/>
          <a:p>
            <a:fld id="{66868516-7FBD-4B5D-A99E-DE90F371625E}" type="slidenum">
              <a:rPr lang="en-IN" smtClean="0"/>
              <a:t>‹#›</a:t>
            </a:fld>
            <a:endParaRPr lang="en-IN"/>
          </a:p>
        </p:txBody>
      </p:sp>
    </p:spTree>
    <p:extLst>
      <p:ext uri="{BB962C8B-B14F-4D97-AF65-F5344CB8AC3E}">
        <p14:creationId xmlns:p14="http://schemas.microsoft.com/office/powerpoint/2010/main" val="3246252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29DBE-6033-71D0-92C5-EA7A44B8997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A77753-7427-39A2-D2F0-2625248F5A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BA6B26-0B15-63F3-CF94-40E35BC8B5AC}"/>
              </a:ext>
            </a:extLst>
          </p:cNvPr>
          <p:cNvSpPr>
            <a:spLocks noGrp="1"/>
          </p:cNvSpPr>
          <p:nvPr>
            <p:ph type="dt" sz="half" idx="10"/>
          </p:nvPr>
        </p:nvSpPr>
        <p:spPr/>
        <p:txBody>
          <a:bodyPr/>
          <a:lstStyle/>
          <a:p>
            <a:fld id="{8852F03B-814F-4A2F-8ECF-2F12DD0261A2}" type="datetimeFigureOut">
              <a:rPr lang="en-IN" smtClean="0"/>
              <a:t>11-08-2026</a:t>
            </a:fld>
            <a:endParaRPr lang="en-IN"/>
          </a:p>
        </p:txBody>
      </p:sp>
      <p:sp>
        <p:nvSpPr>
          <p:cNvPr id="5" name="Footer Placeholder 4">
            <a:extLst>
              <a:ext uri="{FF2B5EF4-FFF2-40B4-BE49-F238E27FC236}">
                <a16:creationId xmlns:a16="http://schemas.microsoft.com/office/drawing/2014/main" id="{102206A8-5CD3-479F-3D96-B80EE528A9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CC8CD4-9411-4D10-2486-FEC1D2FDEDE8}"/>
              </a:ext>
            </a:extLst>
          </p:cNvPr>
          <p:cNvSpPr>
            <a:spLocks noGrp="1"/>
          </p:cNvSpPr>
          <p:nvPr>
            <p:ph type="sldNum" sz="quarter" idx="12"/>
          </p:nvPr>
        </p:nvSpPr>
        <p:spPr/>
        <p:txBody>
          <a:bodyPr/>
          <a:lstStyle/>
          <a:p>
            <a:fld id="{66868516-7FBD-4B5D-A99E-DE90F371625E}" type="slidenum">
              <a:rPr lang="en-IN" smtClean="0"/>
              <a:t>‹#›</a:t>
            </a:fld>
            <a:endParaRPr lang="en-IN"/>
          </a:p>
        </p:txBody>
      </p:sp>
    </p:spTree>
    <p:extLst>
      <p:ext uri="{BB962C8B-B14F-4D97-AF65-F5344CB8AC3E}">
        <p14:creationId xmlns:p14="http://schemas.microsoft.com/office/powerpoint/2010/main" val="2128406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AC8BF3-7540-0D6C-BFC8-E673A34037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0A0770-90DA-CEBF-3153-4283374320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31860A-E062-83BA-FA06-EC23398F6857}"/>
              </a:ext>
            </a:extLst>
          </p:cNvPr>
          <p:cNvSpPr>
            <a:spLocks noGrp="1"/>
          </p:cNvSpPr>
          <p:nvPr>
            <p:ph type="dt" sz="half" idx="10"/>
          </p:nvPr>
        </p:nvSpPr>
        <p:spPr/>
        <p:txBody>
          <a:bodyPr/>
          <a:lstStyle/>
          <a:p>
            <a:fld id="{8852F03B-814F-4A2F-8ECF-2F12DD0261A2}" type="datetimeFigureOut">
              <a:rPr lang="en-IN" smtClean="0"/>
              <a:t>11-08-2026</a:t>
            </a:fld>
            <a:endParaRPr lang="en-IN"/>
          </a:p>
        </p:txBody>
      </p:sp>
      <p:sp>
        <p:nvSpPr>
          <p:cNvPr id="5" name="Footer Placeholder 4">
            <a:extLst>
              <a:ext uri="{FF2B5EF4-FFF2-40B4-BE49-F238E27FC236}">
                <a16:creationId xmlns:a16="http://schemas.microsoft.com/office/drawing/2014/main" id="{97123438-DAD3-E85A-DE75-05438D601A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C290FF-1366-D295-500A-901C5C6B0C86}"/>
              </a:ext>
            </a:extLst>
          </p:cNvPr>
          <p:cNvSpPr>
            <a:spLocks noGrp="1"/>
          </p:cNvSpPr>
          <p:nvPr>
            <p:ph type="sldNum" sz="quarter" idx="12"/>
          </p:nvPr>
        </p:nvSpPr>
        <p:spPr/>
        <p:txBody>
          <a:bodyPr/>
          <a:lstStyle/>
          <a:p>
            <a:fld id="{66868516-7FBD-4B5D-A99E-DE90F371625E}" type="slidenum">
              <a:rPr lang="en-IN" smtClean="0"/>
              <a:t>‹#›</a:t>
            </a:fld>
            <a:endParaRPr lang="en-IN"/>
          </a:p>
        </p:txBody>
      </p:sp>
    </p:spTree>
    <p:extLst>
      <p:ext uri="{BB962C8B-B14F-4D97-AF65-F5344CB8AC3E}">
        <p14:creationId xmlns:p14="http://schemas.microsoft.com/office/powerpoint/2010/main" val="2101582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wo Column Orange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11277600" cy="1156792"/>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394198"/>
            <a:ext cx="6376317" cy="182358"/>
          </a:xfrm>
        </p:spPr>
        <p:txBody>
          <a:bodyPr>
            <a:noAutofit/>
          </a:bodyPr>
          <a:lstStyle>
            <a:lvl1pPr algn="r">
              <a:defRPr sz="800"/>
            </a:lvl1pPr>
          </a:lstStyle>
          <a:p>
            <a:r>
              <a:rPr lang="en-US"/>
              <a:t>©2024 ExlService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11277598"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57200" y="3429000"/>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0">
            <a:extLst>
              <a:ext uri="{FF2B5EF4-FFF2-40B4-BE49-F238E27FC236}">
                <a16:creationId xmlns:a16="http://schemas.microsoft.com/office/drawing/2014/main" id="{AC721370-A066-1746-BA51-66EDC940D61F}"/>
              </a:ext>
            </a:extLst>
          </p:cNvPr>
          <p:cNvSpPr>
            <a:spLocks noGrp="1"/>
          </p:cNvSpPr>
          <p:nvPr>
            <p:ph type="body" sz="quarter" idx="16" hasCustomPrompt="1"/>
          </p:nvPr>
        </p:nvSpPr>
        <p:spPr>
          <a:xfrm>
            <a:off x="457200"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a:t>Click to edit Master subtitle style</a:t>
            </a:r>
          </a:p>
        </p:txBody>
      </p:sp>
      <p:sp>
        <p:nvSpPr>
          <p:cNvPr id="18" name="Text Placeholder 10">
            <a:extLst>
              <a:ext uri="{FF2B5EF4-FFF2-40B4-BE49-F238E27FC236}">
                <a16:creationId xmlns:a16="http://schemas.microsoft.com/office/drawing/2014/main" id="{17DBF118-A9A3-6B4A-8D6F-DCD3478E9D94}"/>
              </a:ext>
            </a:extLst>
          </p:cNvPr>
          <p:cNvSpPr>
            <a:spLocks noGrp="1"/>
          </p:cNvSpPr>
          <p:nvPr>
            <p:ph type="body" sz="quarter" idx="17" hasCustomPrompt="1"/>
          </p:nvPr>
        </p:nvSpPr>
        <p:spPr>
          <a:xfrm>
            <a:off x="5689600"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a:t>Click to edit Master subtitle style</a:t>
            </a:r>
          </a:p>
        </p:txBody>
      </p:sp>
      <p:sp>
        <p:nvSpPr>
          <p:cNvPr id="12" name="Text Placeholder 10">
            <a:extLst>
              <a:ext uri="{FF2B5EF4-FFF2-40B4-BE49-F238E27FC236}">
                <a16:creationId xmlns:a16="http://schemas.microsoft.com/office/drawing/2014/main" id="{8F18C260-6B13-674E-A152-F60D988656D0}"/>
              </a:ext>
            </a:extLst>
          </p:cNvPr>
          <p:cNvSpPr>
            <a:spLocks noGrp="1"/>
          </p:cNvSpPr>
          <p:nvPr>
            <p:ph type="body" sz="quarter" idx="18"/>
          </p:nvPr>
        </p:nvSpPr>
        <p:spPr>
          <a:xfrm>
            <a:off x="5678556" y="3429000"/>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811947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AAD305-D114-AE91-CF4F-2DF503F749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8BD188-7D2F-F3EB-686F-BB983986E5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4CF958-9F69-0B96-27AF-F575EA1326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52F03B-814F-4A2F-8ECF-2F12DD0261A2}" type="datetimeFigureOut">
              <a:rPr lang="en-IN" smtClean="0"/>
              <a:t>11-08-2026</a:t>
            </a:fld>
            <a:endParaRPr lang="en-IN"/>
          </a:p>
        </p:txBody>
      </p:sp>
      <p:sp>
        <p:nvSpPr>
          <p:cNvPr id="5" name="Footer Placeholder 4">
            <a:extLst>
              <a:ext uri="{FF2B5EF4-FFF2-40B4-BE49-F238E27FC236}">
                <a16:creationId xmlns:a16="http://schemas.microsoft.com/office/drawing/2014/main" id="{7D90C1CD-1F13-F516-06AA-5FF8C63C1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F10EE46-C993-F1FB-9CA3-E2EBC04E4D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868516-7FBD-4B5D-A99E-DE90F371625E}" type="slidenum">
              <a:rPr lang="en-IN" smtClean="0"/>
              <a:t>‹#›</a:t>
            </a:fld>
            <a:endParaRPr lang="en-IN"/>
          </a:p>
        </p:txBody>
      </p:sp>
    </p:spTree>
    <p:extLst>
      <p:ext uri="{BB962C8B-B14F-4D97-AF65-F5344CB8AC3E}">
        <p14:creationId xmlns:p14="http://schemas.microsoft.com/office/powerpoint/2010/main" val="1345573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79F47-4E76-3BA2-24EC-2B6CBC3E7511}"/>
              </a:ext>
            </a:extLst>
          </p:cNvPr>
          <p:cNvSpPr>
            <a:spLocks noGrp="1"/>
          </p:cNvSpPr>
          <p:nvPr>
            <p:ph type="ctrTitle"/>
          </p:nvPr>
        </p:nvSpPr>
        <p:spPr>
          <a:xfrm>
            <a:off x="2018598" y="1529542"/>
            <a:ext cx="8154804" cy="2323883"/>
          </a:xfrm>
        </p:spPr>
        <p:txBody>
          <a:bodyPr anchor="b">
            <a:normAutofit fontScale="90000"/>
          </a:bodyPr>
          <a:lstStyle/>
          <a:p>
            <a:r>
              <a:rPr lang="en-US"/>
              <a:t>Emerging Markets –</a:t>
            </a:r>
            <a:br>
              <a:rPr lang="en-US"/>
            </a:br>
            <a:r>
              <a:rPr lang="en-US"/>
              <a:t>Multi </a:t>
            </a:r>
            <a:r>
              <a:rPr lang="en-US" dirty="0"/>
              <a:t>Agent Cyber Rating Tool Solution</a:t>
            </a:r>
          </a:p>
        </p:txBody>
      </p:sp>
      <p:sp>
        <p:nvSpPr>
          <p:cNvPr id="3" name="Subtitle 2">
            <a:extLst>
              <a:ext uri="{FF2B5EF4-FFF2-40B4-BE49-F238E27FC236}">
                <a16:creationId xmlns:a16="http://schemas.microsoft.com/office/drawing/2014/main" id="{62ED3F42-5225-F7A0-EF5C-6B6D7B8BC434}"/>
              </a:ext>
            </a:extLst>
          </p:cNvPr>
          <p:cNvSpPr>
            <a:spLocks noGrp="1"/>
          </p:cNvSpPr>
          <p:nvPr>
            <p:ph type="subTitle" idx="1"/>
          </p:nvPr>
        </p:nvSpPr>
        <p:spPr>
          <a:xfrm>
            <a:off x="3110715" y="4053504"/>
            <a:ext cx="5970570" cy="1072678"/>
          </a:xfrm>
        </p:spPr>
        <p:txBody>
          <a:bodyPr anchor="t">
            <a:normAutofit/>
          </a:bodyPr>
          <a:lstStyle/>
          <a:p>
            <a:r>
              <a:rPr lang="en-US"/>
              <a:t>Strategic steps to mitigate cyber threats early</a:t>
            </a:r>
          </a:p>
        </p:txBody>
      </p:sp>
    </p:spTree>
    <p:extLst>
      <p:ext uri="{BB962C8B-B14F-4D97-AF65-F5344CB8AC3E}">
        <p14:creationId xmlns:p14="http://schemas.microsoft.com/office/powerpoint/2010/main" val="3192113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lide Number Placeholder 3">
            <a:extLst>
              <a:ext uri="{FF2B5EF4-FFF2-40B4-BE49-F238E27FC236}">
                <a16:creationId xmlns:a16="http://schemas.microsoft.com/office/drawing/2014/main" id="{3F6A83B9-2016-44A2-AD89-5B88E781256B}"/>
              </a:ext>
            </a:extLst>
          </p:cNvPr>
          <p:cNvSpPr>
            <a:spLocks noGrp="1"/>
          </p:cNvSpPr>
          <p:nvPr>
            <p:ph type="sldNum" sz="quarter" idx="12"/>
          </p:nvPr>
        </p:nvSpPr>
        <p:spPr>
          <a:xfrm>
            <a:off x="10477638" y="6394198"/>
            <a:ext cx="481556" cy="182358"/>
          </a:xfrm>
        </p:spPr>
        <p:txBody>
          <a:bodyPr/>
          <a:lstStyle/>
          <a:p>
            <a:fld id="{CCA08CA8-4222-D24F-ACDB-33341C247B6F}" type="slidenum">
              <a:rPr lang="en-US" smtClean="0"/>
              <a:pPr/>
              <a:t>2</a:t>
            </a:fld>
            <a:endParaRPr lang="en-US"/>
          </a:p>
        </p:txBody>
      </p:sp>
      <p:sp>
        <p:nvSpPr>
          <p:cNvPr id="12" name="TextBox 11"/>
          <p:cNvSpPr txBox="1"/>
          <p:nvPr/>
        </p:nvSpPr>
        <p:spPr>
          <a:xfrm>
            <a:off x="134272" y="217110"/>
            <a:ext cx="9050670" cy="584775"/>
          </a:xfrm>
          <a:prstGeom prst="rect">
            <a:avLst/>
          </a:prstGeom>
          <a:noFill/>
        </p:spPr>
        <p:txBody>
          <a:bodyPr wrap="square" rtlCol="0">
            <a:spAutoFit/>
          </a:bodyPr>
          <a:lstStyle/>
          <a:p>
            <a:r>
              <a:rPr lang="en-US" sz="3200" b="1"/>
              <a:t>Solution Overview</a:t>
            </a:r>
          </a:p>
        </p:txBody>
      </p:sp>
      <p:graphicFrame>
        <p:nvGraphicFramePr>
          <p:cNvPr id="6" name="Table 4">
            <a:extLst>
              <a:ext uri="{FF2B5EF4-FFF2-40B4-BE49-F238E27FC236}">
                <a16:creationId xmlns:a16="http://schemas.microsoft.com/office/drawing/2014/main" id="{45A4E303-87E0-4068-8DEF-BA948EDBD0F6}"/>
              </a:ext>
            </a:extLst>
          </p:cNvPr>
          <p:cNvGraphicFramePr>
            <a:graphicFrameLocks noGrp="1"/>
          </p:cNvGraphicFramePr>
          <p:nvPr>
            <p:extLst>
              <p:ext uri="{D42A27DB-BD31-4B8C-83A1-F6EECF244321}">
                <p14:modId xmlns:p14="http://schemas.microsoft.com/office/powerpoint/2010/main" val="1461377723"/>
              </p:ext>
            </p:extLst>
          </p:nvPr>
        </p:nvGraphicFramePr>
        <p:xfrm>
          <a:off x="304800" y="713804"/>
          <a:ext cx="11321767" cy="5726199"/>
        </p:xfrm>
        <a:graphic>
          <a:graphicData uri="http://schemas.openxmlformats.org/drawingml/2006/table">
            <a:tbl>
              <a:tblPr firstRow="1" bandRow="1">
                <a:tableStyleId>{5C22544A-7EE6-4342-B048-85BDC9FD1C3A}</a:tableStyleId>
              </a:tblPr>
              <a:tblGrid>
                <a:gridCol w="1671639">
                  <a:extLst>
                    <a:ext uri="{9D8B030D-6E8A-4147-A177-3AD203B41FA5}">
                      <a16:colId xmlns:a16="http://schemas.microsoft.com/office/drawing/2014/main" val="3524320523"/>
                    </a:ext>
                  </a:extLst>
                </a:gridCol>
                <a:gridCol w="1671639">
                  <a:extLst>
                    <a:ext uri="{9D8B030D-6E8A-4147-A177-3AD203B41FA5}">
                      <a16:colId xmlns:a16="http://schemas.microsoft.com/office/drawing/2014/main" val="1376781767"/>
                    </a:ext>
                  </a:extLst>
                </a:gridCol>
                <a:gridCol w="557213">
                  <a:extLst>
                    <a:ext uri="{9D8B030D-6E8A-4147-A177-3AD203B41FA5}">
                      <a16:colId xmlns:a16="http://schemas.microsoft.com/office/drawing/2014/main" val="1704850159"/>
                    </a:ext>
                  </a:extLst>
                </a:gridCol>
                <a:gridCol w="1114426">
                  <a:extLst>
                    <a:ext uri="{9D8B030D-6E8A-4147-A177-3AD203B41FA5}">
                      <a16:colId xmlns:a16="http://schemas.microsoft.com/office/drawing/2014/main" val="1215674182"/>
                    </a:ext>
                  </a:extLst>
                </a:gridCol>
                <a:gridCol w="2228853">
                  <a:extLst>
                    <a:ext uri="{9D8B030D-6E8A-4147-A177-3AD203B41FA5}">
                      <a16:colId xmlns:a16="http://schemas.microsoft.com/office/drawing/2014/main" val="137165328"/>
                    </a:ext>
                  </a:extLst>
                </a:gridCol>
                <a:gridCol w="557213">
                  <a:extLst>
                    <a:ext uri="{9D8B030D-6E8A-4147-A177-3AD203B41FA5}">
                      <a16:colId xmlns:a16="http://schemas.microsoft.com/office/drawing/2014/main" val="2056589568"/>
                    </a:ext>
                  </a:extLst>
                </a:gridCol>
                <a:gridCol w="1297130">
                  <a:extLst>
                    <a:ext uri="{9D8B030D-6E8A-4147-A177-3AD203B41FA5}">
                      <a16:colId xmlns:a16="http://schemas.microsoft.com/office/drawing/2014/main" val="4008073182"/>
                    </a:ext>
                  </a:extLst>
                </a:gridCol>
                <a:gridCol w="2223654">
                  <a:extLst>
                    <a:ext uri="{9D8B030D-6E8A-4147-A177-3AD203B41FA5}">
                      <a16:colId xmlns:a16="http://schemas.microsoft.com/office/drawing/2014/main" val="2478292339"/>
                    </a:ext>
                  </a:extLst>
                </a:gridCol>
              </a:tblGrid>
              <a:tr h="231809">
                <a:tc rowSpan="2">
                  <a:txBody>
                    <a:bodyPr/>
                    <a:lstStyle/>
                    <a:p>
                      <a:r>
                        <a:rPr lang="en-US" sz="1000">
                          <a:solidFill>
                            <a:schemeClr val="tx2"/>
                          </a:solidFill>
                        </a:rPr>
                        <a:t>EC Sponsor: </a:t>
                      </a:r>
                    </a:p>
                  </a:txBody>
                  <a:tcPr anchor="ctr">
                    <a:lnL w="12700" cap="flat" cmpd="sng" algn="ctr">
                      <a:solidFill>
                        <a:schemeClr val="tx2"/>
                      </a:solid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r>
                        <a:rPr lang="en-US" sz="1000">
                          <a:solidFill>
                            <a:schemeClr val="tx2"/>
                          </a:solidFill>
                        </a:rPr>
                        <a:t>Sarat Varanasi</a:t>
                      </a:r>
                    </a:p>
                  </a:txBody>
                  <a:tcPr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endParaRPr lang="en-US" sz="1000">
                        <a:solidFill>
                          <a:schemeClr val="tx1"/>
                        </a:solidFill>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rowSpan="2">
                  <a:txBody>
                    <a:bodyPr/>
                    <a:lstStyle/>
                    <a:p>
                      <a:r>
                        <a:rPr lang="en-US" sz="1000">
                          <a:solidFill>
                            <a:schemeClr val="tx2"/>
                          </a:solidFill>
                        </a:rPr>
                        <a:t>Business Leaders:</a:t>
                      </a:r>
                    </a:p>
                  </a:txBody>
                  <a:tcPr anchor="ctr">
                    <a:lnL w="12700" cap="flat" cmpd="sng" algn="ctr">
                      <a:solidFill>
                        <a:schemeClr val="bg2">
                          <a:lumMod val="90000"/>
                        </a:schemeClr>
                      </a:solid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r>
                        <a:rPr lang="en-US" sz="1000">
                          <a:solidFill>
                            <a:schemeClr val="tx2"/>
                          </a:solidFill>
                        </a:rPr>
                        <a:t>Sarat Varanasi, Neha Dewan</a:t>
                      </a:r>
                    </a:p>
                  </a:txBody>
                  <a:tcPr anchor="ctr">
                    <a:lnL>
                      <a:noFill/>
                    </a:lnL>
                    <a:lnR w="12700" cap="flat" cmpd="sng" algn="ctr">
                      <a:solidFill>
                        <a:schemeClr val="bg2">
                          <a:lumMod val="90000"/>
                        </a:schemeClr>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rowSpan="2">
                  <a:txBody>
                    <a:bodyPr/>
                    <a:lstStyle/>
                    <a:p>
                      <a:endParaRPr lang="en-US" sz="1000">
                        <a:solidFill>
                          <a:schemeClr val="tx1"/>
                        </a:solidFill>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r>
                        <a:rPr lang="en-US" sz="1000">
                          <a:solidFill>
                            <a:schemeClr val="tx2"/>
                          </a:solidFill>
                        </a:rPr>
                        <a:t>Platform Owner:</a:t>
                      </a:r>
                    </a:p>
                  </a:txBody>
                  <a:tcPr anchor="ctr">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0">
                          <a:solidFill>
                            <a:schemeClr val="tx2"/>
                          </a:solidFill>
                        </a:rPr>
                        <a:t>Neha Dewan</a:t>
                      </a:r>
                    </a:p>
                  </a:txBody>
                  <a:tcPr anchor="ctr">
                    <a:lnL w="12700" cmpd="sng">
                      <a:noFill/>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1514339"/>
                  </a:ext>
                </a:extLst>
              </a:tr>
              <a:tr h="23180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000" b="1">
                          <a:solidFill>
                            <a:schemeClr val="tx2"/>
                          </a:solidFill>
                        </a:rPr>
                        <a:t>Solution Owner:</a:t>
                      </a:r>
                    </a:p>
                  </a:txBody>
                  <a:tcPr anchor="ctr">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0" b="1">
                          <a:solidFill>
                            <a:schemeClr val="tx2"/>
                          </a:solidFill>
                        </a:rPr>
                        <a:t>Archana Ahuja &amp; Biswajit Das</a:t>
                      </a:r>
                    </a:p>
                  </a:txBody>
                  <a:tcPr anchor="ctr">
                    <a:lnL w="12700" cmpd="sng">
                      <a:noFill/>
                    </a:lnL>
                    <a:lnR w="12700" cap="flat" cmpd="sng" algn="ctr">
                      <a:solidFill>
                        <a:schemeClr val="tx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55732198"/>
                  </a:ext>
                </a:extLst>
              </a:tr>
              <a:tr h="190527">
                <a:tc gridSpan="8">
                  <a:txBody>
                    <a:bodyPr/>
                    <a:lstStyle/>
                    <a:p>
                      <a:endParaRPr lang="en-US" sz="400" b="1"/>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000" i="1"/>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90360352"/>
                  </a:ext>
                </a:extLst>
              </a:tr>
              <a:tr h="463617">
                <a:tc>
                  <a:txBody>
                    <a:bodyPr/>
                    <a:lstStyle/>
                    <a:p>
                      <a:r>
                        <a:rPr lang="en-US" sz="1200" b="1" cap="all" baseline="0">
                          <a:solidFill>
                            <a:schemeClr val="bg1"/>
                          </a:solidFill>
                        </a:rPr>
                        <a:t>Summary</a:t>
                      </a:r>
                    </a:p>
                  </a:txBody>
                  <a:tcPr marL="45720" anchor="ctr">
                    <a:lnL w="12700" cap="flat" cmpd="sng" algn="ctr">
                      <a:solidFill>
                        <a:schemeClr val="tx2"/>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5071"/>
                    </a:solidFill>
                  </a:tcPr>
                </a:tc>
                <a:tc grid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solidFill>
                            <a:srgbClr val="00B0F0"/>
                          </a:solidFill>
                        </a:rPr>
                        <a:t>A Multi Agent Cyber Rating Modifier Tool Solution which provides faster Underwriting &amp; better Pricing solutions.</a:t>
                      </a:r>
                      <a:endParaRPr lang="en-US" sz="1100">
                        <a:solidFill>
                          <a:srgbClr val="00B0F0"/>
                        </a:solidFill>
                      </a:endParaRPr>
                    </a:p>
                    <a:p>
                      <a:r>
                        <a:rPr lang="en-US" sz="1100" i="1">
                          <a:solidFill>
                            <a:srgbClr val="00B0F0"/>
                          </a:solidFill>
                        </a:rPr>
                        <a:t>This solution provides the Underwriters/Insurers with an agentic AI–driven cyber risk assessment capability that rapidly synthesizes insights from diverse and complex data sources (internal &amp; external) &amp; research situations to evaluate an organization’s cyber risk posture and breach exposure. By automating research and evidence‑based risk analysis, it enables faster, more consistent cyber underwriting across large, mid‑market, and small accounts, supporting scalable decision‑making, informed pricing, and proactive risk management in an increasingly volatile cyber threat landscape.</a:t>
                      </a:r>
                    </a:p>
                  </a:txBody>
                  <a:tcPr anchor="ctr">
                    <a:lnL w="12700" cmpd="sng">
                      <a:noFill/>
                    </a:lnL>
                    <a:lnR w="12700" cap="flat" cmpd="sng" algn="ctr">
                      <a:solidFill>
                        <a:schemeClr val="tx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tc>
                <a:tc hMerge="1">
                  <a:txBody>
                    <a:bodyPr/>
                    <a:lstStyle/>
                    <a:p>
                      <a:endParaRPr lang="en-US"/>
                    </a:p>
                  </a:txBody>
                  <a:tcPr/>
                </a:tc>
                <a:extLst>
                  <a:ext uri="{0D108BD9-81ED-4DB2-BD59-A6C34878D82A}">
                    <a16:rowId xmlns:a16="http://schemas.microsoft.com/office/drawing/2014/main" val="4043693907"/>
                  </a:ext>
                </a:extLst>
              </a:tr>
              <a:tr h="190527">
                <a:tc gridSpan="8">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400" b="1">
                        <a:solidFill>
                          <a:srgbClr val="00B0F0"/>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sz="1000"/>
                    </a:p>
                  </a:txBody>
                  <a:tcPr anchor="ct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sz="1000"/>
                    </a:p>
                  </a:txBody>
                  <a:tcPr anchor="ct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46325207"/>
                  </a:ext>
                </a:extLst>
              </a:tr>
              <a:tr h="3927825">
                <a:tc>
                  <a:txBody>
                    <a:bodyPr/>
                    <a:lstStyle/>
                    <a:p>
                      <a:endParaRPr lang="en-US" sz="1200">
                        <a:solidFill>
                          <a:schemeClr val="bg1"/>
                        </a:solidFill>
                      </a:endParaRPr>
                    </a:p>
                    <a:p>
                      <a:pPr>
                        <a:buFontTx/>
                        <a:buNone/>
                      </a:pPr>
                      <a:r>
                        <a:rPr lang="en-US" sz="1200">
                          <a:solidFill>
                            <a:schemeClr val="bg1"/>
                          </a:solidFill>
                        </a:rPr>
                        <a:t>Description &amp; </a:t>
                      </a:r>
                      <a:br>
                        <a:rPr lang="en-US" sz="1200">
                          <a:solidFill>
                            <a:schemeClr val="bg1"/>
                          </a:solidFill>
                        </a:rPr>
                      </a:br>
                      <a:r>
                        <a:rPr lang="en-US" sz="1200">
                          <a:solidFill>
                            <a:schemeClr val="bg1"/>
                          </a:solidFill>
                        </a:rPr>
                        <a:t>  Capabilities</a:t>
                      </a:r>
                    </a:p>
                  </a:txBody>
                  <a:tcPr>
                    <a:lnL w="12700" cap="flat" cmpd="sng" algn="ctr">
                      <a:solidFill>
                        <a:schemeClr val="tx2"/>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B4E0B"/>
                    </a:solidFill>
                  </a:tcPr>
                </a:tc>
                <a:tc gridSpan="7">
                  <a:txBody>
                    <a:bodyPr/>
                    <a:lstStyle/>
                    <a:p>
                      <a:pPr marL="0" marR="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lang="en-US" sz="1100" i="1" kern="1200">
                          <a:solidFill>
                            <a:srgbClr val="00B0F0"/>
                          </a:solidFill>
                          <a:latin typeface="+mn-lt"/>
                          <a:ea typeface="+mn-ea"/>
                          <a:cs typeface="+mn-cs"/>
                        </a:rPr>
                        <a:t>This Cyber Rating Tool uses AI Agents to autonomous conduct research, plan and generate cyber risk assessment leveraging agentic web search and diverse data source to provide data-drive  insights to insurance carrier in real-time. The tool is designed to provide the clients with actionable insights into cyber risk exposure.</a:t>
                      </a:r>
                    </a:p>
                    <a:p>
                      <a:pPr marL="171450" marR="0" indent="-171450" algn="l" defTabSz="914400"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en-US" sz="1100" i="1" kern="1200">
                          <a:solidFill>
                            <a:srgbClr val="00B0F0"/>
                          </a:solidFill>
                          <a:latin typeface="+mn-lt"/>
                          <a:ea typeface="+mn-ea"/>
                          <a:cs typeface="+mn-cs"/>
                        </a:rPr>
                        <a:t>The Cyber Risk Rating Modifier uses a multi‑agentic AI architecture to deliver accurate, explainable cyber risk assessments by parallelizing specialized agents, ensuring full evidence lineage, and enabling governed, scalable execution through CI/CD and smart caching. Configuration‑driven modifiers, composable agents, and API‑ready deployment provide flexibility and seamless integration across underwriting ecosystems, while human‑in‑the‑loop controls, observability, and feedback mechanisms ensure transparency, oversight, and continuous improvement. This unique solution will provide real-time, actionable information to make this offering both more reliable and valuable for proactive risk management and underwriting for insurers.</a:t>
                      </a:r>
                    </a:p>
                    <a:p>
                      <a:pPr marL="171450" indent="-171450">
                        <a:spcBef>
                          <a:spcPts val="600"/>
                        </a:spcBef>
                        <a:buFont typeface="Wingdings" panose="05000000000000000000" pitchFamily="2" charset="2"/>
                        <a:buChar char="§"/>
                      </a:pPr>
                      <a:r>
                        <a:rPr lang="en-US" sz="1100" i="1" kern="1200">
                          <a:solidFill>
                            <a:srgbClr val="00B0F0"/>
                          </a:solidFill>
                          <a:latin typeface="+mn-lt"/>
                          <a:ea typeface="+mn-ea"/>
                          <a:cs typeface="+mn-cs"/>
                        </a:rPr>
                        <a:t>The POC for this tool is near completion for an existing client, LM.</a:t>
                      </a:r>
                      <a:endParaRPr lang="en-US" sz="1100" i="1" kern="1200" noProof="0">
                        <a:solidFill>
                          <a:srgbClr val="00B0F0"/>
                        </a:solidFill>
                        <a:latin typeface="+mn-lt"/>
                        <a:ea typeface="+mn-ea"/>
                        <a:cs typeface="+mn-cs"/>
                      </a:endParaRPr>
                    </a:p>
                    <a:p>
                      <a:pPr marL="171450" indent="-171450">
                        <a:spcBef>
                          <a:spcPts val="600"/>
                        </a:spcBef>
                        <a:buFont typeface="Wingdings" panose="05000000000000000000" pitchFamily="2" charset="2"/>
                        <a:buChar char="§"/>
                      </a:pPr>
                      <a:r>
                        <a:rPr lang="en-US" sz="1100" i="1" kern="1200">
                          <a:solidFill>
                            <a:srgbClr val="00B0F0"/>
                          </a:solidFill>
                          <a:latin typeface="+mn-lt"/>
                          <a:ea typeface="+mn-ea"/>
                          <a:cs typeface="+mn-cs"/>
                        </a:rPr>
                        <a:t>The solution will include multi–Agentic AI Capabilities such as complex account research, business rule eligibility, modifier rules eligibility, for Underwriters and Clients, Dynamic Risk Explanation, and Customized Policy Recommendations.</a:t>
                      </a:r>
                    </a:p>
                    <a:p>
                      <a:pPr marL="171450" indent="-171450">
                        <a:spcBef>
                          <a:spcPts val="600"/>
                        </a:spcBef>
                        <a:buFont typeface="Wingdings" panose="05000000000000000000" pitchFamily="2" charset="2"/>
                        <a:buChar char="§"/>
                      </a:pPr>
                      <a:r>
                        <a:rPr lang="en-US" sz="1100" i="1" kern="1200">
                          <a:solidFill>
                            <a:srgbClr val="00B0F0"/>
                          </a:solidFill>
                          <a:latin typeface="+mn-lt"/>
                          <a:ea typeface="+mn-ea"/>
                          <a:cs typeface="+mn-cs"/>
                        </a:rPr>
                        <a:t>Basis EXL’s 2025 study, the Global Cyber Insurance Market is expected to be US $80 Billion market share by 2030. </a:t>
                      </a:r>
                    </a:p>
                    <a:p>
                      <a:pPr marL="171450" indent="-171450">
                        <a:spcBef>
                          <a:spcPts val="600"/>
                        </a:spcBef>
                        <a:buFont typeface="Wingdings" panose="05000000000000000000" pitchFamily="2" charset="2"/>
                        <a:buChar char="§"/>
                      </a:pPr>
                      <a:r>
                        <a:rPr lang="en-US" sz="1100" i="1" kern="1200">
                          <a:solidFill>
                            <a:srgbClr val="00B0F0"/>
                          </a:solidFill>
                          <a:latin typeface="+mn-lt"/>
                          <a:ea typeface="+mn-ea"/>
                          <a:cs typeface="+mn-cs"/>
                        </a:rPr>
                        <a:t>Target Addressable Market Size: $40M; calculated as = $80 B (2030 MS) x 50% (North America MS) x 1% (Expected EXL MS)</a:t>
                      </a:r>
                    </a:p>
                    <a:p>
                      <a:pPr marL="171450" indent="-171450">
                        <a:spcBef>
                          <a:spcPts val="600"/>
                        </a:spcBef>
                        <a:buFont typeface="Wingdings" panose="05000000000000000000" pitchFamily="2" charset="2"/>
                        <a:buChar char="§"/>
                      </a:pPr>
                      <a:r>
                        <a:rPr lang="en-US" sz="1100" i="1" kern="1200">
                          <a:solidFill>
                            <a:srgbClr val="00B0F0"/>
                          </a:solidFill>
                          <a:latin typeface="+mn-lt"/>
                          <a:ea typeface="+mn-ea"/>
                          <a:cs typeface="+mn-cs"/>
                        </a:rPr>
                        <a:t>Other potential competitors and players offering similar solutions in the market are: </a:t>
                      </a:r>
                      <a:r>
                        <a:rPr lang="en-US" sz="1100" i="1" kern="1200">
                          <a:solidFill>
                            <a:srgbClr val="00B0F0"/>
                          </a:solidFill>
                          <a:highlight>
                            <a:srgbClr val="FFFF00"/>
                          </a:highlight>
                          <a:latin typeface="+mn-lt"/>
                          <a:ea typeface="+mn-ea"/>
                          <a:cs typeface="+mn-cs"/>
                        </a:rPr>
                        <a:t>TBA</a:t>
                      </a:r>
                    </a:p>
                  </a:txBody>
                  <a:tcPr>
                    <a:lnL w="12700" cmpd="sng">
                      <a:noFill/>
                    </a:lnL>
                    <a:lnR w="12700" cap="flat" cmpd="sng" algn="ctr">
                      <a:solidFill>
                        <a:schemeClr val="tx2"/>
                      </a:solidFill>
                      <a:prstDash val="solid"/>
                      <a:round/>
                      <a:headEnd type="none" w="med" len="med"/>
                      <a:tailEnd type="none" w="med" len="med"/>
                    </a:lnR>
                    <a:lnT w="12700" cmpd="sng">
                      <a:noFill/>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tc>
                <a:tc hMerge="1">
                  <a:txBody>
                    <a:bodyPr/>
                    <a:lstStyle/>
                    <a:p>
                      <a:endParaRPr lang="en-US"/>
                    </a:p>
                  </a:txBody>
                  <a:tcPr/>
                </a:tc>
                <a:extLst>
                  <a:ext uri="{0D108BD9-81ED-4DB2-BD59-A6C34878D82A}">
                    <a16:rowId xmlns:a16="http://schemas.microsoft.com/office/drawing/2014/main" val="1555838540"/>
                  </a:ext>
                </a:extLst>
              </a:tr>
            </a:tbl>
          </a:graphicData>
        </a:graphic>
      </p:graphicFrame>
      <p:sp>
        <p:nvSpPr>
          <p:cNvPr id="2" name="Footer Placeholder 7">
            <a:extLst>
              <a:ext uri="{FF2B5EF4-FFF2-40B4-BE49-F238E27FC236}">
                <a16:creationId xmlns:a16="http://schemas.microsoft.com/office/drawing/2014/main" id="{E462D3A2-4929-9C8D-C3D2-E35C13CC2C84}"/>
              </a:ext>
            </a:extLst>
          </p:cNvPr>
          <p:cNvSpPr>
            <a:spLocks noGrp="1"/>
          </p:cNvSpPr>
          <p:nvPr>
            <p:ph type="ftr" sz="quarter" idx="11"/>
          </p:nvPr>
        </p:nvSpPr>
        <p:spPr>
          <a:xfrm>
            <a:off x="3651050" y="6401460"/>
            <a:ext cx="6376317" cy="182358"/>
          </a:xfrm>
        </p:spPr>
        <p:txBody>
          <a:bodyPr/>
          <a:lstStyle/>
          <a:p>
            <a:r>
              <a:rPr lang="en-US"/>
              <a:t>©2025 </a:t>
            </a:r>
            <a:r>
              <a:rPr lang="en-US" err="1"/>
              <a:t>ExlService</a:t>
            </a:r>
            <a:r>
              <a:rPr lang="en-US"/>
              <a:t> Holdings, Inc. All rights reserved.</a:t>
            </a:r>
          </a:p>
        </p:txBody>
      </p:sp>
    </p:spTree>
    <p:extLst>
      <p:ext uri="{BB962C8B-B14F-4D97-AF65-F5344CB8AC3E}">
        <p14:creationId xmlns:p14="http://schemas.microsoft.com/office/powerpoint/2010/main" val="1913071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lide Number Placeholder 3">
            <a:extLst>
              <a:ext uri="{FF2B5EF4-FFF2-40B4-BE49-F238E27FC236}">
                <a16:creationId xmlns:a16="http://schemas.microsoft.com/office/drawing/2014/main" id="{3F6A83B9-2016-44A2-AD89-5B88E781256B}"/>
              </a:ext>
            </a:extLst>
          </p:cNvPr>
          <p:cNvSpPr>
            <a:spLocks noGrp="1"/>
          </p:cNvSpPr>
          <p:nvPr>
            <p:ph type="sldNum" sz="quarter" idx="12"/>
          </p:nvPr>
        </p:nvSpPr>
        <p:spPr>
          <a:xfrm>
            <a:off x="10477638" y="6394198"/>
            <a:ext cx="481556" cy="182358"/>
          </a:xfrm>
        </p:spPr>
        <p:txBody>
          <a:bodyPr/>
          <a:lstStyle/>
          <a:p>
            <a:fld id="{CCA08CA8-4222-D24F-ACDB-33341C247B6F}" type="slidenum">
              <a:rPr lang="en-US" smtClean="0"/>
              <a:pPr/>
              <a:t>3</a:t>
            </a:fld>
            <a:endParaRPr lang="en-US"/>
          </a:p>
        </p:txBody>
      </p:sp>
      <p:sp>
        <p:nvSpPr>
          <p:cNvPr id="12" name="TextBox 11"/>
          <p:cNvSpPr txBox="1"/>
          <p:nvPr/>
        </p:nvSpPr>
        <p:spPr>
          <a:xfrm>
            <a:off x="134272" y="217110"/>
            <a:ext cx="9050670" cy="584775"/>
          </a:xfrm>
          <a:prstGeom prst="rect">
            <a:avLst/>
          </a:prstGeom>
          <a:noFill/>
        </p:spPr>
        <p:txBody>
          <a:bodyPr wrap="square" lIns="91440" tIns="45720" rIns="91440" bIns="45720" rtlCol="0" anchor="t">
            <a:spAutoFit/>
          </a:bodyPr>
          <a:lstStyle/>
          <a:p>
            <a:r>
              <a:rPr lang="en-US" sz="3200" b="1"/>
              <a:t>Solution Roadmap </a:t>
            </a:r>
          </a:p>
        </p:txBody>
      </p:sp>
      <p:graphicFrame>
        <p:nvGraphicFramePr>
          <p:cNvPr id="6" name="Table 4">
            <a:extLst>
              <a:ext uri="{FF2B5EF4-FFF2-40B4-BE49-F238E27FC236}">
                <a16:creationId xmlns:a16="http://schemas.microsoft.com/office/drawing/2014/main" id="{CFE21BA0-8E09-4856-ABD7-60475D9C08B0}"/>
              </a:ext>
            </a:extLst>
          </p:cNvPr>
          <p:cNvGraphicFramePr>
            <a:graphicFrameLocks noGrp="1"/>
          </p:cNvGraphicFramePr>
          <p:nvPr>
            <p:extLst>
              <p:ext uri="{D42A27DB-BD31-4B8C-83A1-F6EECF244321}">
                <p14:modId xmlns:p14="http://schemas.microsoft.com/office/powerpoint/2010/main" val="2682362026"/>
              </p:ext>
            </p:extLst>
          </p:nvPr>
        </p:nvGraphicFramePr>
        <p:xfrm>
          <a:off x="304800" y="946200"/>
          <a:ext cx="11144256" cy="5363160"/>
        </p:xfrm>
        <a:graphic>
          <a:graphicData uri="http://schemas.openxmlformats.org/drawingml/2006/table">
            <a:tbl>
              <a:tblPr firstRow="1" bandRow="1">
                <a:tableStyleId>{5C22544A-7EE6-4342-B048-85BDC9FD1C3A}</a:tableStyleId>
              </a:tblPr>
              <a:tblGrid>
                <a:gridCol w="1671639">
                  <a:extLst>
                    <a:ext uri="{9D8B030D-6E8A-4147-A177-3AD203B41FA5}">
                      <a16:colId xmlns:a16="http://schemas.microsoft.com/office/drawing/2014/main" val="3524320523"/>
                    </a:ext>
                  </a:extLst>
                </a:gridCol>
                <a:gridCol w="557213">
                  <a:extLst>
                    <a:ext uri="{9D8B030D-6E8A-4147-A177-3AD203B41FA5}">
                      <a16:colId xmlns:a16="http://schemas.microsoft.com/office/drawing/2014/main" val="1376781767"/>
                    </a:ext>
                  </a:extLst>
                </a:gridCol>
                <a:gridCol w="615633">
                  <a:extLst>
                    <a:ext uri="{9D8B030D-6E8A-4147-A177-3AD203B41FA5}">
                      <a16:colId xmlns:a16="http://schemas.microsoft.com/office/drawing/2014/main" val="2707122747"/>
                    </a:ext>
                  </a:extLst>
                </a:gridCol>
                <a:gridCol w="604401">
                  <a:extLst>
                    <a:ext uri="{9D8B030D-6E8A-4147-A177-3AD203B41FA5}">
                      <a16:colId xmlns:a16="http://schemas.microsoft.com/office/drawing/2014/main" val="1328498006"/>
                    </a:ext>
                  </a:extLst>
                </a:gridCol>
                <a:gridCol w="569575">
                  <a:extLst>
                    <a:ext uri="{9D8B030D-6E8A-4147-A177-3AD203B41FA5}">
                      <a16:colId xmlns:a16="http://schemas.microsoft.com/office/drawing/2014/main" val="1704850159"/>
                    </a:ext>
                  </a:extLst>
                </a:gridCol>
                <a:gridCol w="557214">
                  <a:extLst>
                    <a:ext uri="{9D8B030D-6E8A-4147-A177-3AD203B41FA5}">
                      <a16:colId xmlns:a16="http://schemas.microsoft.com/office/drawing/2014/main" val="1215674182"/>
                    </a:ext>
                  </a:extLst>
                </a:gridCol>
                <a:gridCol w="557213">
                  <a:extLst>
                    <a:ext uri="{9D8B030D-6E8A-4147-A177-3AD203B41FA5}">
                      <a16:colId xmlns:a16="http://schemas.microsoft.com/office/drawing/2014/main" val="2841663714"/>
                    </a:ext>
                  </a:extLst>
                </a:gridCol>
                <a:gridCol w="557213">
                  <a:extLst>
                    <a:ext uri="{9D8B030D-6E8A-4147-A177-3AD203B41FA5}">
                      <a16:colId xmlns:a16="http://schemas.microsoft.com/office/drawing/2014/main" val="137165328"/>
                    </a:ext>
                  </a:extLst>
                </a:gridCol>
                <a:gridCol w="557213">
                  <a:extLst>
                    <a:ext uri="{9D8B030D-6E8A-4147-A177-3AD203B41FA5}">
                      <a16:colId xmlns:a16="http://schemas.microsoft.com/office/drawing/2014/main" val="3347429892"/>
                    </a:ext>
                  </a:extLst>
                </a:gridCol>
                <a:gridCol w="557214">
                  <a:extLst>
                    <a:ext uri="{9D8B030D-6E8A-4147-A177-3AD203B41FA5}">
                      <a16:colId xmlns:a16="http://schemas.microsoft.com/office/drawing/2014/main" val="2635118396"/>
                    </a:ext>
                  </a:extLst>
                </a:gridCol>
                <a:gridCol w="557213">
                  <a:extLst>
                    <a:ext uri="{9D8B030D-6E8A-4147-A177-3AD203B41FA5}">
                      <a16:colId xmlns:a16="http://schemas.microsoft.com/office/drawing/2014/main" val="1563173199"/>
                    </a:ext>
                  </a:extLst>
                </a:gridCol>
                <a:gridCol w="557213">
                  <a:extLst>
                    <a:ext uri="{9D8B030D-6E8A-4147-A177-3AD203B41FA5}">
                      <a16:colId xmlns:a16="http://schemas.microsoft.com/office/drawing/2014/main" val="2056589568"/>
                    </a:ext>
                  </a:extLst>
                </a:gridCol>
                <a:gridCol w="557213">
                  <a:extLst>
                    <a:ext uri="{9D8B030D-6E8A-4147-A177-3AD203B41FA5}">
                      <a16:colId xmlns:a16="http://schemas.microsoft.com/office/drawing/2014/main" val="4008073182"/>
                    </a:ext>
                  </a:extLst>
                </a:gridCol>
                <a:gridCol w="557214">
                  <a:extLst>
                    <a:ext uri="{9D8B030D-6E8A-4147-A177-3AD203B41FA5}">
                      <a16:colId xmlns:a16="http://schemas.microsoft.com/office/drawing/2014/main" val="3121695775"/>
                    </a:ext>
                  </a:extLst>
                </a:gridCol>
                <a:gridCol w="569575">
                  <a:extLst>
                    <a:ext uri="{9D8B030D-6E8A-4147-A177-3AD203B41FA5}">
                      <a16:colId xmlns:a16="http://schemas.microsoft.com/office/drawing/2014/main" val="2752733046"/>
                    </a:ext>
                  </a:extLst>
                </a:gridCol>
                <a:gridCol w="604401">
                  <a:extLst>
                    <a:ext uri="{9D8B030D-6E8A-4147-A177-3AD203B41FA5}">
                      <a16:colId xmlns:a16="http://schemas.microsoft.com/office/drawing/2014/main" val="3934713687"/>
                    </a:ext>
                  </a:extLst>
                </a:gridCol>
                <a:gridCol w="615633">
                  <a:extLst>
                    <a:ext uri="{9D8B030D-6E8A-4147-A177-3AD203B41FA5}">
                      <a16:colId xmlns:a16="http://schemas.microsoft.com/office/drawing/2014/main" val="3889933546"/>
                    </a:ext>
                  </a:extLst>
                </a:gridCol>
                <a:gridCol w="321266">
                  <a:extLst>
                    <a:ext uri="{9D8B030D-6E8A-4147-A177-3AD203B41FA5}">
                      <a16:colId xmlns:a16="http://schemas.microsoft.com/office/drawing/2014/main" val="4214976977"/>
                    </a:ext>
                  </a:extLst>
                </a:gridCol>
              </a:tblGrid>
              <a:tr h="412023">
                <a:tc>
                  <a:txBody>
                    <a:bodyPr/>
                    <a:lstStyle/>
                    <a:p>
                      <a:r>
                        <a:rPr lang="en-US" sz="1200" b="1" cap="all" baseline="0">
                          <a:solidFill>
                            <a:schemeClr val="bg1"/>
                          </a:solidFill>
                        </a:rPr>
                        <a:t>Development plan</a:t>
                      </a:r>
                    </a:p>
                  </a:txBody>
                  <a:tcPr marL="45720">
                    <a:lnL w="12700" cap="flat" cmpd="sng" algn="ctr">
                      <a:solidFill>
                        <a:schemeClr val="tx2"/>
                      </a:solid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00507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mpd="sng">
                      <a:noFill/>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000"/>
                    </a:p>
                  </a:txBody>
                  <a:tcPr>
                    <a:lnL w="12700" cmpd="sng">
                      <a:noFill/>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09454012"/>
                  </a:ext>
                </a:extLst>
              </a:tr>
              <a:tr h="4951137">
                <a:tc>
                  <a:txBody>
                    <a:bodyPr/>
                    <a:lstStyle/>
                    <a:p>
                      <a:r>
                        <a:rPr lang="en-US" sz="1200">
                          <a:solidFill>
                            <a:schemeClr val="bg1"/>
                          </a:solidFill>
                        </a:rPr>
                        <a:t>- Roadmap</a:t>
                      </a:r>
                    </a:p>
                  </a:txBody>
                  <a:tcPr>
                    <a:lnL w="12700" cap="flat" cmpd="sng" algn="ctr">
                      <a:solidFill>
                        <a:schemeClr val="tx2"/>
                      </a:solidFill>
                      <a:prstDash val="solid"/>
                      <a:round/>
                      <a:headEnd type="none" w="med" len="med"/>
                      <a:tailEnd type="none" w="med" len="med"/>
                    </a:lnL>
                    <a:lnR w="12700" cmpd="sng">
                      <a:noFill/>
                    </a:lnR>
                    <a:lnT w="12700" cmpd="sng">
                      <a:noFill/>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FB4E0B"/>
                    </a:solidFill>
                  </a:tcPr>
                </a:tc>
                <a:tc gridSpan="17">
                  <a:txBody>
                    <a:bodyPr/>
                    <a:lstStyle/>
                    <a:p>
                      <a:pPr marL="0" marR="0" lvl="0" indent="0" algn="l" rtl="0" eaLnBrk="1" fontAlgn="auto" latinLnBrk="0" hangingPunct="1">
                        <a:lnSpc>
                          <a:spcPct val="100000"/>
                        </a:lnSpc>
                        <a:spcBef>
                          <a:spcPts val="300"/>
                        </a:spcBef>
                        <a:spcAft>
                          <a:spcPts val="0"/>
                        </a:spcAft>
                        <a:buClrTx/>
                        <a:buSzTx/>
                        <a:buFont typeface="Wingdings" panose="05000000000000000000" pitchFamily="2" charset="2"/>
                        <a:buNone/>
                      </a:pPr>
                      <a:r>
                        <a:rPr lang="en-US" sz="1100" i="1" kern="1200">
                          <a:solidFill>
                            <a:srgbClr val="00B0F0"/>
                          </a:solidFill>
                          <a:latin typeface="+mn-lt"/>
                          <a:ea typeface="+mn-ea"/>
                          <a:cs typeface="+mn-cs"/>
                        </a:rPr>
                        <a:t>The Cyber risk rating tool is designed to provide EXL with actionable information into cyber risk and vulnerability management of a policy. There are </a:t>
                      </a:r>
                      <a:r>
                        <a:rPr lang="en-US" sz="1100" b="1" i="1" kern="1200">
                          <a:solidFill>
                            <a:srgbClr val="00B0F0"/>
                          </a:solidFill>
                          <a:latin typeface="+mn-lt"/>
                          <a:ea typeface="+mn-ea"/>
                          <a:cs typeface="+mn-cs"/>
                        </a:rPr>
                        <a:t>three</a:t>
                      </a:r>
                      <a:r>
                        <a:rPr lang="en-US" sz="1100" i="1" kern="1200" dirty="0">
                          <a:solidFill>
                            <a:srgbClr val="00B0F0"/>
                          </a:solidFill>
                          <a:latin typeface="+mn-lt"/>
                          <a:ea typeface="+mn-ea"/>
                          <a:cs typeface="+mn-cs"/>
                        </a:rPr>
                        <a:t> </a:t>
                      </a:r>
                      <a:r>
                        <a:rPr lang="en-US" sz="1100" i="1" kern="1200">
                          <a:solidFill>
                            <a:srgbClr val="00B0F0"/>
                          </a:solidFill>
                          <a:latin typeface="+mn-lt"/>
                          <a:ea typeface="+mn-ea"/>
                          <a:cs typeface="+mn-cs"/>
                        </a:rPr>
                        <a:t>developmental phases in 3-month cycle to this accelerator:</a:t>
                      </a:r>
                    </a:p>
                    <a:p>
                      <a:pPr marL="0" marR="0" lvl="0" indent="0" algn="l" defTabSz="914400" rtl="0" eaLnBrk="1" fontAlgn="auto" latinLnBrk="0" hangingPunct="1">
                        <a:lnSpc>
                          <a:spcPct val="100000"/>
                        </a:lnSpc>
                        <a:spcBef>
                          <a:spcPts val="300"/>
                        </a:spcBef>
                        <a:spcAft>
                          <a:spcPts val="0"/>
                        </a:spcAft>
                        <a:buClrTx/>
                        <a:buSzTx/>
                        <a:buFont typeface="Wingdings" panose="05000000000000000000" pitchFamily="2" charset="2"/>
                        <a:buNone/>
                        <a:tabLst/>
                        <a:defRPr/>
                      </a:pPr>
                      <a:endParaRPr lang="en-US" sz="1100" i="1" kern="1200">
                        <a:solidFill>
                          <a:srgbClr val="00B0F0"/>
                        </a:solidFill>
                        <a:latin typeface="+mn-lt"/>
                        <a:ea typeface="+mn-ea"/>
                        <a:cs typeface="+mn-cs"/>
                      </a:endParaRPr>
                    </a:p>
                    <a:p>
                      <a:pPr marL="628650" marR="0" lvl="1" indent="-17145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lang="en-US" sz="1100" b="1" i="1" kern="1200" dirty="0">
                          <a:solidFill>
                            <a:srgbClr val="00B0F0"/>
                          </a:solidFill>
                          <a:latin typeface="+mn-lt"/>
                          <a:ea typeface="+mn-ea"/>
                          <a:cs typeface="+mn-cs"/>
                        </a:rPr>
                        <a:t>Phase 1</a:t>
                      </a:r>
                      <a:r>
                        <a:rPr lang="en-US" sz="1100" i="1" kern="1200" dirty="0">
                          <a:solidFill>
                            <a:srgbClr val="00B0F0"/>
                          </a:solidFill>
                          <a:latin typeface="+mn-lt"/>
                          <a:ea typeface="+mn-ea"/>
                          <a:cs typeface="+mn-cs"/>
                        </a:rPr>
                        <a:t>: Foundation Setup: focuses on establishing key cyber risk foundations with data, use case, and architecture validation, Problem Definition/Hypothesis, KT Sessions w/existing POC tool owners, define Data sources, Success KPI metrics (LR lift, </a:t>
                      </a:r>
                      <a:r>
                        <a:rPr lang="en-US" sz="1100" i="1" kern="1200" dirty="0" err="1">
                          <a:solidFill>
                            <a:srgbClr val="00B0F0"/>
                          </a:solidFill>
                          <a:latin typeface="+mn-lt"/>
                          <a:ea typeface="+mn-ea"/>
                          <a:cs typeface="+mn-cs"/>
                        </a:rPr>
                        <a:t>etc</a:t>
                      </a:r>
                      <a:r>
                        <a:rPr lang="en-US" sz="1100" i="1" kern="1200" dirty="0">
                          <a:solidFill>
                            <a:srgbClr val="00B0F0"/>
                          </a:solidFill>
                          <a:latin typeface="+mn-lt"/>
                          <a:ea typeface="+mn-ea"/>
                          <a:cs typeface="+mn-cs"/>
                        </a:rPr>
                        <a:t>) &amp; output format (rating factor/modifier, or acceptance eligibility criteria), Tech Feasibility Check, Deliverable Format, resource alignment.</a:t>
                      </a:r>
                    </a:p>
                    <a:p>
                      <a:pPr marL="628650" marR="0" lvl="1" indent="-17145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endParaRPr lang="en-US" sz="1100" i="1" kern="1200">
                        <a:solidFill>
                          <a:srgbClr val="00B0F0"/>
                        </a:solidFill>
                        <a:latin typeface="+mn-lt"/>
                        <a:ea typeface="+mn-ea"/>
                        <a:cs typeface="+mn-cs"/>
                      </a:endParaRPr>
                    </a:p>
                    <a:p>
                      <a:pPr marL="628650" marR="0" lvl="1" indent="-17145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lang="en-US" sz="1100" b="1" i="1" kern="1200" dirty="0">
                          <a:solidFill>
                            <a:srgbClr val="00B0F0"/>
                          </a:solidFill>
                          <a:latin typeface="+mn-lt"/>
                          <a:ea typeface="+mn-ea"/>
                          <a:cs typeface="+mn-cs"/>
                        </a:rPr>
                        <a:t>Phase 2</a:t>
                      </a:r>
                      <a:r>
                        <a:rPr lang="en-US" sz="1100" i="1" kern="1200" dirty="0">
                          <a:solidFill>
                            <a:srgbClr val="00B0F0"/>
                          </a:solidFill>
                          <a:latin typeface="+mn-lt"/>
                          <a:ea typeface="+mn-ea"/>
                          <a:cs typeface="+mn-cs"/>
                        </a:rPr>
                        <a:t>: Decouple client logic, </a:t>
                      </a:r>
                      <a:r>
                        <a:rPr lang="en-US" sz="1100" i="1" kern="1200" dirty="0" err="1">
                          <a:solidFill>
                            <a:srgbClr val="00B0F0"/>
                          </a:solidFill>
                          <a:latin typeface="+mn-lt"/>
                          <a:ea typeface="+mn-ea"/>
                          <a:cs typeface="+mn-cs"/>
                        </a:rPr>
                        <a:t>Standardise</a:t>
                      </a:r>
                      <a:r>
                        <a:rPr lang="en-US" sz="1100" i="1" kern="1200" dirty="0">
                          <a:solidFill>
                            <a:srgbClr val="00B0F0"/>
                          </a:solidFill>
                          <a:latin typeface="+mn-lt"/>
                          <a:ea typeface="+mn-ea"/>
                          <a:cs typeface="+mn-cs"/>
                        </a:rPr>
                        <a:t> data &amp; APIs, Baseline model development with business logic, rules &amp; eligibility structured in a centralized format, base governance &amp; CI/CD, Cloud and performance optimization, GenAI‑led feature synthesis, Automated referral &amp; appetite logic, Portfolio‑level cyber insights and rating modifiers recommendations</a:t>
                      </a:r>
                    </a:p>
                    <a:p>
                      <a:pPr marL="628650" marR="0" lvl="1" indent="-17145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endParaRPr lang="en-US" sz="1100" i="1" kern="1200">
                        <a:solidFill>
                          <a:srgbClr val="00B0F0"/>
                        </a:solidFill>
                        <a:latin typeface="+mn-lt"/>
                        <a:ea typeface="+mn-ea"/>
                        <a:cs typeface="+mn-cs"/>
                      </a:endParaRPr>
                    </a:p>
                    <a:p>
                      <a:pPr marL="628650" marR="0" lvl="1" indent="-17145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lang="en-US" sz="1100" b="1" i="1" kern="1200">
                          <a:solidFill>
                            <a:srgbClr val="00B0F0"/>
                          </a:solidFill>
                          <a:latin typeface="+mn-lt"/>
                          <a:ea typeface="+mn-ea"/>
                          <a:cs typeface="+mn-cs"/>
                        </a:rPr>
                        <a:t>Phase 3</a:t>
                      </a:r>
                      <a:r>
                        <a:rPr lang="en-US" sz="1100" i="1" kern="1200">
                          <a:solidFill>
                            <a:srgbClr val="00B0F0"/>
                          </a:solidFill>
                          <a:latin typeface="+mn-lt"/>
                          <a:ea typeface="+mn-ea"/>
                          <a:cs typeface="+mn-cs"/>
                        </a:rPr>
                        <a:t>: Testing &amp; validation, Multi‑client configuration use case, versioning, CI/CD pipelines, feedback, support &amp; enhancements.</a:t>
                      </a:r>
                    </a:p>
                    <a:p>
                      <a:pPr marL="628650" marR="0" lvl="1" indent="-17145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endParaRPr lang="en-US" sz="1100" i="1" kern="1200">
                        <a:solidFill>
                          <a:srgbClr val="00B0F0"/>
                        </a:solidFill>
                        <a:latin typeface="+mn-lt"/>
                        <a:ea typeface="+mn-ea"/>
                        <a:cs typeface="+mn-cs"/>
                      </a:endParaRPr>
                    </a:p>
                    <a:p>
                      <a:pPr marL="628650" marR="0" lvl="1" indent="-17145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lang="en-US" sz="1100" b="1" i="1" kern="1200" dirty="0">
                          <a:solidFill>
                            <a:srgbClr val="00B0F0"/>
                          </a:solidFill>
                          <a:latin typeface="+mn-lt"/>
                          <a:ea typeface="+mn-ea"/>
                          <a:cs typeface="+mn-cs"/>
                        </a:rPr>
                        <a:t>Further details required from EXL</a:t>
                      </a:r>
                      <a:r>
                        <a:rPr lang="en-US" sz="1100" i="1" kern="1200" dirty="0">
                          <a:solidFill>
                            <a:srgbClr val="00B0F0"/>
                          </a:solidFill>
                          <a:latin typeface="+mn-lt"/>
                          <a:ea typeface="+mn-ea"/>
                          <a:cs typeface="+mn-cs"/>
                        </a:rPr>
                        <a:t>: Transformation benefit details from POC (TAT, FTE, Pricing effectiveness, business value to the client)</a:t>
                      </a:r>
                    </a:p>
                    <a:p>
                      <a:pPr marL="171450" marR="0" lvl="0" indent="-17145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endParaRPr lang="en-US" sz="1100" i="1" kern="1200" baseline="0">
                        <a:solidFill>
                          <a:schemeClr val="tx2"/>
                        </a:solidFill>
                        <a:latin typeface="+mn-lt"/>
                        <a:ea typeface="+mn-ea"/>
                        <a:cs typeface="+mn-cs"/>
                      </a:endParaRPr>
                    </a:p>
                    <a:p>
                      <a:pPr marL="171450" marR="0" lvl="0" indent="-171450" algn="l" defTabSz="914400"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en-US" sz="1100" i="1">
                          <a:solidFill>
                            <a:srgbClr val="00B0F0"/>
                          </a:solidFill>
                        </a:rPr>
                        <a:t>Internal collaboration on tool with LM team-members. The key modules will include “Agentic Cyber Rating Research System” &amp; “Cyber Risk Rating”. Rest of the infrastructure will get streamlines once the work is started in full scale (including skills, technology, infrastructure)</a:t>
                      </a:r>
                    </a:p>
                    <a:p>
                      <a:pPr marL="171450" marR="0" lvl="0" indent="-171450" algn="l" defTabSz="914400"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en-US" sz="1100" i="1" dirty="0">
                          <a:solidFill>
                            <a:srgbClr val="00B0F0"/>
                          </a:solidFill>
                        </a:rPr>
                        <a:t>The tool will be built on EXL’s internal platform/technology using the test data &amp; rater (from ML/AI Tools –  </a:t>
                      </a:r>
                      <a:r>
                        <a:rPr lang="en-US" sz="1100" i="1" dirty="0" err="1">
                          <a:solidFill>
                            <a:srgbClr val="00B0F0"/>
                          </a:solidFill>
                        </a:rPr>
                        <a:t>R,Pyhton</a:t>
                      </a:r>
                      <a:r>
                        <a:rPr lang="en-US" sz="1100" i="1" dirty="0">
                          <a:solidFill>
                            <a:srgbClr val="00B0F0"/>
                          </a:solidFill>
                        </a:rPr>
                        <a:t>, </a:t>
                      </a:r>
                      <a:r>
                        <a:rPr lang="en-US" sz="1100" i="1" dirty="0" err="1">
                          <a:solidFill>
                            <a:srgbClr val="00B0F0"/>
                          </a:solidFill>
                        </a:rPr>
                        <a:t>Langraph</a:t>
                      </a:r>
                      <a:r>
                        <a:rPr lang="en-US" sz="1100" i="1" dirty="0">
                          <a:solidFill>
                            <a:srgbClr val="00B0F0"/>
                          </a:solidFill>
                        </a:rPr>
                        <a:t> </a:t>
                      </a:r>
                      <a:r>
                        <a:rPr lang="en-US" sz="1100" i="1" dirty="0" err="1">
                          <a:solidFill>
                            <a:srgbClr val="00B0F0"/>
                          </a:solidFill>
                        </a:rPr>
                        <a:t>Langchain</a:t>
                      </a:r>
                      <a:r>
                        <a:rPr lang="en-US" sz="1100" i="1" dirty="0">
                          <a:solidFill>
                            <a:srgbClr val="00B0F0"/>
                          </a:solidFill>
                        </a:rPr>
                        <a:t> </a:t>
                      </a:r>
                      <a:r>
                        <a:rPr lang="en-US" sz="1100" i="1" dirty="0" err="1">
                          <a:solidFill>
                            <a:srgbClr val="00B0F0"/>
                          </a:solidFill>
                        </a:rPr>
                        <a:t>etc</a:t>
                      </a:r>
                      <a:r>
                        <a:rPr lang="en-US" sz="1100" i="1" dirty="0">
                          <a:solidFill>
                            <a:srgbClr val="00B0F0"/>
                          </a:solidFill>
                        </a:rPr>
                        <a:t>) building on insights for EXL clients for which KPI knowledge and design consultation will be provided by EXL.</a:t>
                      </a:r>
                    </a:p>
                    <a:p>
                      <a:pPr marL="171450" marR="0" lvl="0" indent="-171450" algn="l" defTabSz="914400"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en-US" sz="1100" i="1">
                          <a:solidFill>
                            <a:srgbClr val="00B0F0"/>
                          </a:solidFill>
                        </a:rPr>
                        <a:t>All the modules and components of the tool will be developed internally. EXL will use its synthetic data to make risk modifiers and other related metrics output for assessment of cyber risk.</a:t>
                      </a:r>
                    </a:p>
                    <a:p>
                      <a:pPr marL="171450" marR="0" lvl="0" indent="-171450" algn="l" defTabSz="914400"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en-US" sz="1100" i="1">
                          <a:solidFill>
                            <a:srgbClr val="00B0F0"/>
                          </a:solidFill>
                        </a:rPr>
                        <a:t>The market validation of the solution can be started by conducting initial consulting sessions with existing clients such as CNA, Hartford, Hiscox, Chubb, Zurich, AXA XL, to name a few </a:t>
                      </a:r>
                      <a:endParaRPr lang="en-US" sz="1100" i="1">
                        <a:solidFill>
                          <a:schemeClr val="tx2"/>
                        </a:solidFill>
                      </a:endParaRPr>
                    </a:p>
                  </a:txBody>
                  <a:tcPr>
                    <a:lnL w="12700" cmpd="sng">
                      <a:noFill/>
                    </a:lnL>
                    <a:lnR w="12700" cap="flat" cmpd="sng" algn="ctr">
                      <a:solidFill>
                        <a:schemeClr val="tx2"/>
                      </a:solidFill>
                      <a:prstDash val="solid"/>
                      <a:round/>
                      <a:headEnd type="none" w="med" len="med"/>
                      <a:tailEnd type="none" w="med" len="med"/>
                    </a:lnR>
                    <a:lnT w="12700" cmpd="sng">
                      <a:noFill/>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hMerge="1">
                  <a:txBody>
                    <a:bodyPr/>
                    <a:lstStyle/>
                    <a:p>
                      <a:pPr marL="171450" indent="-171450">
                        <a:buFont typeface="Wingdings" panose="05000000000000000000" pitchFamily="2" charset="2"/>
                        <a:buChar char="§"/>
                      </a:pPr>
                      <a:endParaRPr lang="en-US" sz="100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hMerge="1">
                  <a:txBody>
                    <a:bodyPr/>
                    <a:lstStyle/>
                    <a:p>
                      <a:pPr marL="171450" indent="-171450">
                        <a:buFont typeface="Wingdings" panose="05000000000000000000" pitchFamily="2" charset="2"/>
                        <a:buChar char="§"/>
                      </a:pPr>
                      <a:endParaRPr lang="en-US" sz="1000" i="1"/>
                    </a:p>
                  </a:txBody>
                  <a:tcPr marL="0" marR="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tc>
                <a:tc hMerge="1">
                  <a:txBody>
                    <a:bodyPr/>
                    <a:lstStyle/>
                    <a:p>
                      <a:endParaRPr lang="en-US" sz="1000"/>
                    </a:p>
                  </a:txBody>
                  <a:tcPr anchor="ctr"/>
                </a:tc>
                <a:extLst>
                  <a:ext uri="{0D108BD9-81ED-4DB2-BD59-A6C34878D82A}">
                    <a16:rowId xmlns:a16="http://schemas.microsoft.com/office/drawing/2014/main" val="3838682241"/>
                  </a:ext>
                </a:extLst>
              </a:tr>
            </a:tbl>
          </a:graphicData>
        </a:graphic>
      </p:graphicFrame>
    </p:spTree>
    <p:extLst>
      <p:ext uri="{BB962C8B-B14F-4D97-AF65-F5344CB8AC3E}">
        <p14:creationId xmlns:p14="http://schemas.microsoft.com/office/powerpoint/2010/main" val="969546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3F3D9A-104E-7616-B8D4-81348D716D03}"/>
              </a:ext>
            </a:extLst>
          </p:cNvPr>
          <p:cNvPicPr>
            <a:picLocks noChangeAspect="1"/>
          </p:cNvPicPr>
          <p:nvPr/>
        </p:nvPicPr>
        <p:blipFill>
          <a:blip r:embed="rId2"/>
          <a:stretch>
            <a:fillRect/>
          </a:stretch>
        </p:blipFill>
        <p:spPr>
          <a:xfrm>
            <a:off x="370472" y="787400"/>
            <a:ext cx="9429750" cy="5283200"/>
          </a:xfrm>
          <a:prstGeom prst="rect">
            <a:avLst/>
          </a:prstGeom>
        </p:spPr>
      </p:pic>
    </p:spTree>
    <p:extLst>
      <p:ext uri="{BB962C8B-B14F-4D97-AF65-F5344CB8AC3E}">
        <p14:creationId xmlns:p14="http://schemas.microsoft.com/office/powerpoint/2010/main" val="3154531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a069a30-f8af-4d65-b4a7-b92186a56167" xsi:nil="true"/>
    <TaxCatchAll xmlns="3ba55b54-a3f7-4b3a-9053-3dd46ab8d7b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FC12FB1F2E9314A91A08CCECF9BFDAA" ma:contentTypeVersion="10" ma:contentTypeDescription="Create a new document." ma:contentTypeScope="" ma:versionID="2c8e62afc044c6a2754e4c5f4ea94748">
  <xsd:schema xmlns:xsd="http://www.w3.org/2001/XMLSchema" xmlns:xs="http://www.w3.org/2001/XMLSchema" xmlns:p="http://schemas.microsoft.com/office/2006/metadata/properties" xmlns:ns2="aa069a30-f8af-4d65-b4a7-b92186a56167" xmlns:ns3="3ba55b54-a3f7-4b3a-9053-3dd46ab8d7b2" targetNamespace="http://schemas.microsoft.com/office/2006/metadata/properties" ma:root="true" ma:fieldsID="109d2aed1ab39be42447e287bb3c4832" ns2:_="" ns3:_="">
    <xsd:import namespace="aa069a30-f8af-4d65-b4a7-b92186a56167"/>
    <xsd:import namespace="3ba55b54-a3f7-4b3a-9053-3dd46ab8d7b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069a30-f8af-4d65-b4a7-b92186a561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displayName="Image Tags_0" ma:hidden="true" ma:internalName="lcf76f155ced4ddcb4097134ff3c332f">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ba55b54-a3f7-4b3a-9053-3dd46ab8d7b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4e889a0-20ea-4539-8286-c971b09a7de8}" ma:internalName="TaxCatchAll" ma:showField="CatchAllData" ma:web="3ba55b54-a3f7-4b3a-9053-3dd46ab8d7b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B4E1FD-06AB-4CE5-A207-4CC6E8B22593}">
  <ds:schemaRefs>
    <ds:schemaRef ds:uri="http://schemas.microsoft.com/sharepoint/v3/contenttype/forms"/>
  </ds:schemaRefs>
</ds:datastoreItem>
</file>

<file path=customXml/itemProps2.xml><?xml version="1.0" encoding="utf-8"?>
<ds:datastoreItem xmlns:ds="http://schemas.openxmlformats.org/officeDocument/2006/customXml" ds:itemID="{CA4195EF-2605-4517-8CF7-10719F7428C9}">
  <ds:schemaRefs>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http://purl.org/dc/dcmitype/"/>
    <ds:schemaRef ds:uri="aa069a30-f8af-4d65-b4a7-b92186a56167"/>
    <ds:schemaRef ds:uri="http://schemas.microsoft.com/office/2006/metadata/properties"/>
    <ds:schemaRef ds:uri="http://www.w3.org/XML/1998/namespace"/>
    <ds:schemaRef ds:uri="http://purl.org/dc/elements/1.1/"/>
    <ds:schemaRef ds:uri="3ba55b54-a3f7-4b3a-9053-3dd46ab8d7b2"/>
  </ds:schemaRefs>
</ds:datastoreItem>
</file>

<file path=customXml/itemProps3.xml><?xml version="1.0" encoding="utf-8"?>
<ds:datastoreItem xmlns:ds="http://schemas.openxmlformats.org/officeDocument/2006/customXml" ds:itemID="{8A3AC805-E613-4798-ADCE-A1EF02F294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069a30-f8af-4d65-b4a7-b92186a56167"/>
    <ds:schemaRef ds:uri="3ba55b54-a3f7-4b3a-9053-3dd46ab8d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19</TotalTime>
  <Words>880</Words>
  <Application>Microsoft Office PowerPoint</Application>
  <PresentationFormat>Widescreen</PresentationFormat>
  <Paragraphs>45</Paragraphs>
  <Slides>4</Slides>
  <Notes>1</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Emerging Markets – Multi Agent Cyber Rating Tool Solution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Archana Ahuja</dc:creator>
  <cp:lastModifiedBy>Archana Ahuja</cp:lastModifiedBy>
  <cp:revision>7</cp:revision>
  <dcterms:created xsi:type="dcterms:W3CDTF">2026-05-08T13:20:36Z</dcterms:created>
  <dcterms:modified xsi:type="dcterms:W3CDTF">2026-08-12T05:56:52Z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0x010100DFC12FB1F2E9314A91A08CCECF9BFDAA</vt:lpwstr>
  </property>
</Properties>
</file>